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55"/>
  </p:notesMasterIdLst>
  <p:sldIdLst>
    <p:sldId id="300" r:id="rId2"/>
    <p:sldId id="301" r:id="rId3"/>
    <p:sldId id="303" r:id="rId4"/>
    <p:sldId id="304" r:id="rId5"/>
    <p:sldId id="305" r:id="rId6"/>
    <p:sldId id="307" r:id="rId7"/>
    <p:sldId id="306" r:id="rId8"/>
    <p:sldId id="308" r:id="rId9"/>
    <p:sldId id="309" r:id="rId10"/>
    <p:sldId id="310" r:id="rId11"/>
    <p:sldId id="311" r:id="rId12"/>
    <p:sldId id="312" r:id="rId13"/>
    <p:sldId id="313" r:id="rId14"/>
    <p:sldId id="302" r:id="rId15"/>
    <p:sldId id="256"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9" r:id="rId44"/>
    <p:sldId id="290" r:id="rId45"/>
    <p:sldId id="291" r:id="rId46"/>
    <p:sldId id="293" r:id="rId47"/>
    <p:sldId id="292" r:id="rId48"/>
    <p:sldId id="294" r:id="rId49"/>
    <p:sldId id="295" r:id="rId50"/>
    <p:sldId id="296" r:id="rId51"/>
    <p:sldId id="297" r:id="rId52"/>
    <p:sldId id="298" r:id="rId53"/>
    <p:sldId id="288"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A2D64-266C-4406-94B6-D83B2DD44403}" type="datetimeFigureOut">
              <a:rPr lang="en-IN" smtClean="0"/>
              <a:t>25-08-2025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716B7-AD9B-4D5D-80EE-9160EF206D98}" type="slidenum">
              <a:rPr lang="en-IN" smtClean="0"/>
              <a:t>‹#›</a:t>
            </a:fld>
            <a:endParaRPr lang="en-IN"/>
          </a:p>
        </p:txBody>
      </p:sp>
    </p:spTree>
    <p:extLst>
      <p:ext uri="{BB962C8B-B14F-4D97-AF65-F5344CB8AC3E}">
        <p14:creationId xmlns:p14="http://schemas.microsoft.com/office/powerpoint/2010/main" val="1692121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20-500 Hz in EMG ! Filter cutoffs</a:t>
            </a:r>
            <a:endParaRPr lang="en-IN" dirty="0"/>
          </a:p>
        </p:txBody>
      </p:sp>
      <p:sp>
        <p:nvSpPr>
          <p:cNvPr id="4" name="Slide Number Placeholder 3"/>
          <p:cNvSpPr>
            <a:spLocks noGrp="1"/>
          </p:cNvSpPr>
          <p:nvPr>
            <p:ph type="sldNum" sz="quarter" idx="5"/>
          </p:nvPr>
        </p:nvSpPr>
        <p:spPr/>
        <p:txBody>
          <a:bodyPr/>
          <a:lstStyle/>
          <a:p>
            <a:fld id="{21A716B7-AD9B-4D5D-80EE-9160EF206D98}" type="slidenum">
              <a:rPr lang="en-IN" smtClean="0"/>
              <a:t>5</a:t>
            </a:fld>
            <a:endParaRPr lang="en-IN"/>
          </a:p>
        </p:txBody>
      </p:sp>
    </p:spTree>
    <p:extLst>
      <p:ext uri="{BB962C8B-B14F-4D97-AF65-F5344CB8AC3E}">
        <p14:creationId xmlns:p14="http://schemas.microsoft.com/office/powerpoint/2010/main" val="2389157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45E869-EC60-4773-81AF-AEB25918593E}" type="datetime1">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528631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6AD287-C83C-40C0-8B5C-FEECF95FC97B}" type="datetime1">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947317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32315B-28DF-4238-AD24-5C00217B6181}" type="datetime1">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78501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57DC43-5B4C-4035-BEB5-44EBB206B9F4}" type="datetime1">
              <a:rPr lang="en-IN" smtClean="0"/>
              <a:t>25-08-2025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3237049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439B8D-C91F-4DB0-8ECD-42304FCA37A5}" type="datetime1">
              <a:rPr lang="en-IN" smtClean="0"/>
              <a:t>25-08-2025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3645449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859A22-9AFD-4968-B56A-C83CE72CA479}" type="datetime1">
              <a:rPr lang="en-IN" smtClean="0"/>
              <a:t>25-08-2025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3955987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E34150-3C45-4A2A-8206-D5AD17DFCAB2}" type="datetime1">
              <a:rPr lang="en-IN" smtClean="0"/>
              <a:t>25-08-2025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537450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B49E6B-F56A-4081-998A-35CB0703D1CD}" type="datetime1">
              <a:rPr lang="en-IN" smtClean="0"/>
              <a:t>25-08-2025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885801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2874F0-4A0F-4F92-9187-8B3A63219CB3}" type="datetime1">
              <a:rPr lang="en-IN" smtClean="0"/>
              <a:t>25-08-2025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1991818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CBE28E-1B72-4463-8CB3-45DA0B1628E8}" type="datetime1">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290815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5D3E42-6EBF-400B-BAE6-77ADDAB634BF}" type="datetime1">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2B932E-453C-43E9-9683-166E224458DF}" type="slidenum">
              <a:rPr lang="en-IN" smtClean="0"/>
              <a:t>‹#›</a:t>
            </a:fld>
            <a:endParaRPr lang="en-IN"/>
          </a:p>
        </p:txBody>
      </p:sp>
    </p:spTree>
    <p:extLst>
      <p:ext uri="{BB962C8B-B14F-4D97-AF65-F5344CB8AC3E}">
        <p14:creationId xmlns:p14="http://schemas.microsoft.com/office/powerpoint/2010/main" val="249404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0B22F6-85C6-446F-A6EF-D2DC96F9E97A}" type="datetime1">
              <a:rPr lang="en-IN" smtClean="0"/>
              <a:t>25-08-2025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2B932E-453C-43E9-9683-166E224458DF}" type="slidenum">
              <a:rPr lang="en-IN" smtClean="0"/>
              <a:t>‹#›</a:t>
            </a:fld>
            <a:endParaRPr lang="en-IN"/>
          </a:p>
        </p:txBody>
      </p:sp>
    </p:spTree>
    <p:extLst>
      <p:ext uri="{BB962C8B-B14F-4D97-AF65-F5344CB8AC3E}">
        <p14:creationId xmlns:p14="http://schemas.microsoft.com/office/powerpoint/2010/main" val="9249655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arduino.cc/en/softwar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randomnerdtutorials.com/esp-now-esp32-arduino-id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arduino.cc/en/software/"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KushagraIsTaken/TinyML-ESPNow-WangBioelectronicLab-NTHU/tree/mai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colab.research.google.com/drive/1MUY4l75NXSAmEGvUpXHn_NcQhquOgCge?usp=sharin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github.com/KushagraIsTaken/TinyML-ESPNow-WangBioelectronicLab-NTHU/tree/main/Example/ESP32_InferenceLogic"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mailto:kush4409@gmail.com" TargetMode="External"/><Relationship Id="rId2" Type="http://schemas.openxmlformats.org/officeDocument/2006/relationships/hyperlink" Target="https://linktr.ee/kush4409" TargetMode="External"/><Relationship Id="rId1" Type="http://schemas.openxmlformats.org/officeDocument/2006/relationships/slideLayout" Target="../slideLayouts/slideLayout2.xml"/><Relationship Id="rId6" Type="http://schemas.openxmlformats.org/officeDocument/2006/relationships/hyperlink" Target="wa.me/918780226117" TargetMode="External"/><Relationship Id="rId5" Type="http://schemas.openxmlformats.org/officeDocument/2006/relationships/hyperlink" Target="https://www.linkedin.com/in/kushagra-agrawal-51a3121ab" TargetMode="External"/><Relationship Id="rId4" Type="http://schemas.openxmlformats.org/officeDocument/2006/relationships/hyperlink" Target="mailto:kushagra.agrawal@ieee.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1556-F210-09E4-AD83-D73EC7FDD38C}"/>
              </a:ext>
            </a:extLst>
          </p:cNvPr>
          <p:cNvSpPr>
            <a:spLocks noGrp="1"/>
          </p:cNvSpPr>
          <p:nvPr>
            <p:ph type="ctrTitle"/>
          </p:nvPr>
        </p:nvSpPr>
        <p:spPr/>
        <p:txBody>
          <a:bodyPr/>
          <a:lstStyle/>
          <a:p>
            <a:r>
              <a:rPr lang="en-US" dirty="0"/>
              <a:t>Weekly Progress Report</a:t>
            </a:r>
            <a:br>
              <a:rPr lang="en-US" dirty="0"/>
            </a:br>
            <a:r>
              <a:rPr lang="en-US" sz="4000" dirty="0"/>
              <a:t>18-22 August 2025</a:t>
            </a:r>
            <a:endParaRPr lang="en-IN" dirty="0"/>
          </a:p>
        </p:txBody>
      </p:sp>
      <p:sp>
        <p:nvSpPr>
          <p:cNvPr id="3" name="Subtitle 2">
            <a:extLst>
              <a:ext uri="{FF2B5EF4-FFF2-40B4-BE49-F238E27FC236}">
                <a16:creationId xmlns:a16="http://schemas.microsoft.com/office/drawing/2014/main" id="{1768667A-470D-A1D9-381C-9A7D38504449}"/>
              </a:ext>
            </a:extLst>
          </p:cNvPr>
          <p:cNvSpPr>
            <a:spLocks noGrp="1"/>
          </p:cNvSpPr>
          <p:nvPr>
            <p:ph type="subTitle" idx="1"/>
          </p:nvPr>
        </p:nvSpPr>
        <p:spPr/>
        <p:txBody>
          <a:bodyPr/>
          <a:lstStyle/>
          <a:p>
            <a:r>
              <a:rPr lang="en-US" dirty="0"/>
              <a:t>Kushagra Agrawal</a:t>
            </a:r>
            <a:endParaRPr lang="en-IN" dirty="0"/>
          </a:p>
        </p:txBody>
      </p:sp>
      <p:sp>
        <p:nvSpPr>
          <p:cNvPr id="4" name="Slide Number Placeholder 3">
            <a:extLst>
              <a:ext uri="{FF2B5EF4-FFF2-40B4-BE49-F238E27FC236}">
                <a16:creationId xmlns:a16="http://schemas.microsoft.com/office/drawing/2014/main" id="{4ED414AE-4EDB-8A97-BDD2-C2E6B62E28A4}"/>
              </a:ext>
            </a:extLst>
          </p:cNvPr>
          <p:cNvSpPr>
            <a:spLocks noGrp="1"/>
          </p:cNvSpPr>
          <p:nvPr>
            <p:ph type="sldNum" sz="quarter" idx="12"/>
          </p:nvPr>
        </p:nvSpPr>
        <p:spPr/>
        <p:txBody>
          <a:bodyPr/>
          <a:lstStyle/>
          <a:p>
            <a:fld id="{592B932E-453C-43E9-9683-166E224458DF}" type="slidenum">
              <a:rPr lang="en-IN" smtClean="0"/>
              <a:t>1</a:t>
            </a:fld>
            <a:endParaRPr lang="en-IN"/>
          </a:p>
        </p:txBody>
      </p:sp>
    </p:spTree>
    <p:extLst>
      <p:ext uri="{BB962C8B-B14F-4D97-AF65-F5344CB8AC3E}">
        <p14:creationId xmlns:p14="http://schemas.microsoft.com/office/powerpoint/2010/main" val="41691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0641A-AFE5-A3D1-D0F7-E44E9C9B4E87}"/>
              </a:ext>
            </a:extLst>
          </p:cNvPr>
          <p:cNvSpPr>
            <a:spLocks noGrp="1"/>
          </p:cNvSpPr>
          <p:nvPr>
            <p:ph type="title"/>
          </p:nvPr>
        </p:nvSpPr>
        <p:spPr/>
        <p:txBody>
          <a:bodyPr/>
          <a:lstStyle/>
          <a:p>
            <a:r>
              <a:rPr lang="en-US" dirty="0"/>
              <a:t>MATLAB + DAQ Data Acquisition</a:t>
            </a:r>
            <a:endParaRPr lang="en-IN" dirty="0"/>
          </a:p>
        </p:txBody>
      </p:sp>
      <p:sp>
        <p:nvSpPr>
          <p:cNvPr id="3" name="Content Placeholder 2">
            <a:extLst>
              <a:ext uri="{FF2B5EF4-FFF2-40B4-BE49-F238E27FC236}">
                <a16:creationId xmlns:a16="http://schemas.microsoft.com/office/drawing/2014/main" id="{DC7B4121-4F7B-E245-80ED-3821F2651E68}"/>
              </a:ext>
            </a:extLst>
          </p:cNvPr>
          <p:cNvSpPr>
            <a:spLocks noGrp="1"/>
          </p:cNvSpPr>
          <p:nvPr>
            <p:ph idx="1"/>
          </p:nvPr>
        </p:nvSpPr>
        <p:spPr/>
        <p:txBody>
          <a:bodyPr>
            <a:normAutofit lnSpcReduction="10000"/>
          </a:bodyPr>
          <a:lstStyle/>
          <a:p>
            <a:r>
              <a:rPr lang="en-IN" b="1" dirty="0"/>
              <a:t>Components for EMG Data Acquisition</a:t>
            </a:r>
          </a:p>
          <a:p>
            <a:r>
              <a:rPr lang="en-IN" b="1" dirty="0"/>
              <a:t>1. EMG Sensor</a:t>
            </a:r>
            <a:endParaRPr lang="en-IN" dirty="0"/>
          </a:p>
          <a:p>
            <a:pPr lvl="1"/>
            <a:r>
              <a:rPr lang="en-IN" b="1" dirty="0"/>
              <a:t>Function</a:t>
            </a:r>
            <a:r>
              <a:rPr lang="en-IN" dirty="0"/>
              <a:t>: Measures electrical activity from muscles.</a:t>
            </a:r>
          </a:p>
          <a:p>
            <a:pPr lvl="1"/>
            <a:r>
              <a:rPr lang="en-IN" b="1" dirty="0"/>
              <a:t>Placement</a:t>
            </a:r>
            <a:r>
              <a:rPr lang="en-IN" dirty="0"/>
              <a:t>: Electrodes on muscle belly, along muscle, and reference on a neutral area (backside of hand in our case).</a:t>
            </a:r>
          </a:p>
          <a:p>
            <a:pPr lvl="1"/>
            <a:r>
              <a:rPr lang="en-IN" b="1" dirty="0"/>
              <a:t>Output</a:t>
            </a:r>
            <a:r>
              <a:rPr lang="en-IN" dirty="0"/>
              <a:t>: Analog voltage signal.</a:t>
            </a:r>
          </a:p>
          <a:p>
            <a:r>
              <a:rPr lang="en-IN" b="1" dirty="0"/>
              <a:t>2. NI DAQ USB-6001 (or NI </a:t>
            </a:r>
            <a:r>
              <a:rPr lang="en-IN" b="1" dirty="0" err="1"/>
              <a:t>MyDAQ</a:t>
            </a:r>
            <a:r>
              <a:rPr lang="en-IN" b="1" dirty="0"/>
              <a:t>)</a:t>
            </a:r>
            <a:endParaRPr lang="en-IN" dirty="0"/>
          </a:p>
          <a:p>
            <a:pPr lvl="1"/>
            <a:r>
              <a:rPr lang="en-IN" b="1" dirty="0"/>
              <a:t>Function</a:t>
            </a:r>
            <a:r>
              <a:rPr lang="en-IN" dirty="0"/>
              <a:t>: Analog-to-Digital Converter (ADC).</a:t>
            </a:r>
          </a:p>
          <a:p>
            <a:pPr lvl="1"/>
            <a:r>
              <a:rPr lang="en-IN" b="1" dirty="0"/>
              <a:t>Connection</a:t>
            </a:r>
            <a:r>
              <a:rPr lang="en-IN" dirty="0"/>
              <a:t>: Receives </a:t>
            </a:r>
            <a:r>
              <a:rPr lang="en-IN" dirty="0" err="1"/>
              <a:t>analog</a:t>
            </a:r>
            <a:r>
              <a:rPr lang="en-IN" dirty="0"/>
              <a:t> signal from the circuit, connects to PC via USB.</a:t>
            </a:r>
          </a:p>
          <a:p>
            <a:pPr lvl="1"/>
            <a:r>
              <a:rPr lang="en-IN" b="1" dirty="0"/>
              <a:t>Role</a:t>
            </a:r>
            <a:r>
              <a:rPr lang="en-IN" dirty="0"/>
              <a:t>: Converts continuous </a:t>
            </a:r>
            <a:r>
              <a:rPr lang="en-IN" dirty="0" err="1"/>
              <a:t>analog</a:t>
            </a:r>
            <a:r>
              <a:rPr lang="en-IN" dirty="0"/>
              <a:t> signal into discrete digital data.</a:t>
            </a:r>
          </a:p>
          <a:p>
            <a:endParaRPr lang="en-IN" dirty="0"/>
          </a:p>
        </p:txBody>
      </p:sp>
      <p:sp>
        <p:nvSpPr>
          <p:cNvPr id="4" name="Slide Number Placeholder 3">
            <a:extLst>
              <a:ext uri="{FF2B5EF4-FFF2-40B4-BE49-F238E27FC236}">
                <a16:creationId xmlns:a16="http://schemas.microsoft.com/office/drawing/2014/main" id="{9AF94339-925D-0A73-406A-2F861CAD5243}"/>
              </a:ext>
            </a:extLst>
          </p:cNvPr>
          <p:cNvSpPr>
            <a:spLocks noGrp="1"/>
          </p:cNvSpPr>
          <p:nvPr>
            <p:ph type="sldNum" sz="quarter" idx="12"/>
          </p:nvPr>
        </p:nvSpPr>
        <p:spPr/>
        <p:txBody>
          <a:bodyPr/>
          <a:lstStyle/>
          <a:p>
            <a:fld id="{592B932E-453C-43E9-9683-166E224458DF}" type="slidenum">
              <a:rPr lang="en-IN" smtClean="0"/>
              <a:t>2</a:t>
            </a:fld>
            <a:endParaRPr lang="en-IN"/>
          </a:p>
        </p:txBody>
      </p:sp>
    </p:spTree>
    <p:extLst>
      <p:ext uri="{BB962C8B-B14F-4D97-AF65-F5344CB8AC3E}">
        <p14:creationId xmlns:p14="http://schemas.microsoft.com/office/powerpoint/2010/main" val="2609648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4E146-81D8-F15B-33C5-699EEA724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8FB4E-8DD0-BDD9-009D-0E6EB18181C3}"/>
              </a:ext>
            </a:extLst>
          </p:cNvPr>
          <p:cNvSpPr>
            <a:spLocks noGrp="1"/>
          </p:cNvSpPr>
          <p:nvPr>
            <p:ph type="title"/>
          </p:nvPr>
        </p:nvSpPr>
        <p:spPr/>
        <p:txBody>
          <a:bodyPr/>
          <a:lstStyle/>
          <a:p>
            <a:r>
              <a:rPr lang="en-US" dirty="0"/>
              <a:t>MATLAB + DAQ Data Acquisition</a:t>
            </a:r>
            <a:endParaRPr lang="en-IN" dirty="0"/>
          </a:p>
        </p:txBody>
      </p:sp>
      <p:sp>
        <p:nvSpPr>
          <p:cNvPr id="4" name="Slide Number Placeholder 3">
            <a:extLst>
              <a:ext uri="{FF2B5EF4-FFF2-40B4-BE49-F238E27FC236}">
                <a16:creationId xmlns:a16="http://schemas.microsoft.com/office/drawing/2014/main" id="{3B9A7A95-86F0-FB31-CC0F-C55ED0685B2F}"/>
              </a:ext>
            </a:extLst>
          </p:cNvPr>
          <p:cNvSpPr>
            <a:spLocks noGrp="1"/>
          </p:cNvSpPr>
          <p:nvPr>
            <p:ph type="sldNum" sz="quarter" idx="12"/>
          </p:nvPr>
        </p:nvSpPr>
        <p:spPr/>
        <p:txBody>
          <a:bodyPr/>
          <a:lstStyle/>
          <a:p>
            <a:fld id="{592B932E-453C-43E9-9683-166E224458DF}" type="slidenum">
              <a:rPr lang="en-IN" smtClean="0"/>
              <a:t>3</a:t>
            </a:fld>
            <a:endParaRPr lang="en-IN"/>
          </a:p>
        </p:txBody>
      </p:sp>
      <p:sp>
        <p:nvSpPr>
          <p:cNvPr id="6" name="Content Placeholder 5">
            <a:extLst>
              <a:ext uri="{FF2B5EF4-FFF2-40B4-BE49-F238E27FC236}">
                <a16:creationId xmlns:a16="http://schemas.microsoft.com/office/drawing/2014/main" id="{33D89C60-0289-4131-AFBA-53376C761456}"/>
              </a:ext>
            </a:extLst>
          </p:cNvPr>
          <p:cNvSpPr>
            <a:spLocks noGrp="1"/>
          </p:cNvSpPr>
          <p:nvPr>
            <p:ph idx="1"/>
          </p:nvPr>
        </p:nvSpPr>
        <p:spPr/>
        <p:txBody>
          <a:bodyPr/>
          <a:lstStyle/>
          <a:p>
            <a:r>
              <a:rPr lang="en-US" dirty="0"/>
              <a:t>Software Requirements :</a:t>
            </a:r>
          </a:p>
          <a:p>
            <a:pPr lvl="1"/>
            <a:r>
              <a:rPr lang="en-US" dirty="0"/>
              <a:t>MATLAB</a:t>
            </a:r>
          </a:p>
          <a:p>
            <a:pPr lvl="1"/>
            <a:r>
              <a:rPr lang="en-US" dirty="0"/>
              <a:t>MATLAB Data Acquisition Toolbox</a:t>
            </a:r>
          </a:p>
          <a:p>
            <a:pPr lvl="1"/>
            <a:r>
              <a:rPr lang="en-US" dirty="0"/>
              <a:t>NI USB Drivers</a:t>
            </a:r>
          </a:p>
        </p:txBody>
      </p:sp>
    </p:spTree>
    <p:extLst>
      <p:ext uri="{BB962C8B-B14F-4D97-AF65-F5344CB8AC3E}">
        <p14:creationId xmlns:p14="http://schemas.microsoft.com/office/powerpoint/2010/main" val="234088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35DD1-EECC-4EF8-862A-C99F1E5A170B}"/>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E1657166-1E7A-ABDB-2DC9-0E2998359FCA}"/>
              </a:ext>
            </a:extLst>
          </p:cNvPr>
          <p:cNvSpPr>
            <a:spLocks noGrp="1"/>
          </p:cNvSpPr>
          <p:nvPr>
            <p:ph idx="1"/>
          </p:nvPr>
        </p:nvSpPr>
        <p:spPr/>
        <p:txBody>
          <a:bodyPr/>
          <a:lstStyle/>
          <a:p>
            <a:r>
              <a:rPr lang="en-US" dirty="0"/>
              <a:t>Key Parameters :</a:t>
            </a:r>
          </a:p>
          <a:p>
            <a:r>
              <a:rPr lang="en-IN" dirty="0"/>
              <a:t>Setting Up the Collection Environment</a:t>
            </a:r>
          </a:p>
          <a:p>
            <a:pPr lvl="1"/>
            <a:r>
              <a:rPr lang="en-IN" dirty="0"/>
              <a:t>Gesture &amp; Timing:</a:t>
            </a:r>
          </a:p>
          <a:p>
            <a:pPr lvl="2"/>
            <a:r>
              <a:rPr lang="en-IN" dirty="0" err="1"/>
              <a:t>gestureNames</a:t>
            </a:r>
            <a:r>
              <a:rPr lang="en-IN" dirty="0"/>
              <a:t>: {'Rest', 'Fist', 'Open Hand', 'Pinch', 'Wave’}</a:t>
            </a:r>
          </a:p>
          <a:p>
            <a:pPr lvl="2"/>
            <a:r>
              <a:rPr lang="en-IN" dirty="0" err="1"/>
              <a:t>numRepetitions</a:t>
            </a:r>
            <a:r>
              <a:rPr lang="en-IN" dirty="0"/>
              <a:t>: 5 per gesture</a:t>
            </a:r>
          </a:p>
          <a:p>
            <a:pPr lvl="2"/>
            <a:r>
              <a:rPr lang="en-IN" dirty="0" err="1"/>
              <a:t>gestureDuration</a:t>
            </a:r>
            <a:r>
              <a:rPr lang="en-IN" dirty="0"/>
              <a:t>: 3 seconds</a:t>
            </a:r>
          </a:p>
          <a:p>
            <a:pPr lvl="2"/>
            <a:r>
              <a:rPr lang="en-IN" dirty="0" err="1"/>
              <a:t>restDuration</a:t>
            </a:r>
            <a:r>
              <a:rPr lang="en-IN" dirty="0"/>
              <a:t>: 2 seconds</a:t>
            </a:r>
          </a:p>
          <a:p>
            <a:pPr lvl="1"/>
            <a:r>
              <a:rPr lang="en-IN" dirty="0"/>
              <a:t>DAQ Settings:</a:t>
            </a:r>
          </a:p>
          <a:p>
            <a:pPr lvl="2"/>
            <a:r>
              <a:rPr lang="en-IN" dirty="0" err="1"/>
              <a:t>deviceID</a:t>
            </a:r>
            <a:r>
              <a:rPr lang="en-IN" dirty="0"/>
              <a:t>: 'Dev1’</a:t>
            </a:r>
          </a:p>
          <a:p>
            <a:pPr lvl="2"/>
            <a:r>
              <a:rPr lang="en-IN" dirty="0" err="1"/>
              <a:t>channelID</a:t>
            </a:r>
            <a:r>
              <a:rPr lang="en-IN" dirty="0"/>
              <a:t>: 'ai0’</a:t>
            </a:r>
          </a:p>
          <a:p>
            <a:pPr lvl="2"/>
            <a:r>
              <a:rPr lang="en-IN" dirty="0" err="1"/>
              <a:t>sampleRate</a:t>
            </a:r>
            <a:r>
              <a:rPr lang="en-IN" dirty="0"/>
              <a:t>: 1000 Hz</a:t>
            </a:r>
          </a:p>
          <a:p>
            <a:pPr lvl="2"/>
            <a:endParaRPr lang="en-IN" dirty="0"/>
          </a:p>
        </p:txBody>
      </p:sp>
      <p:sp>
        <p:nvSpPr>
          <p:cNvPr id="4" name="Slide Number Placeholder 3">
            <a:extLst>
              <a:ext uri="{FF2B5EF4-FFF2-40B4-BE49-F238E27FC236}">
                <a16:creationId xmlns:a16="http://schemas.microsoft.com/office/drawing/2014/main" id="{C5B4F798-C799-8D7C-6D19-49F2ACDBD628}"/>
              </a:ext>
            </a:extLst>
          </p:cNvPr>
          <p:cNvSpPr>
            <a:spLocks noGrp="1"/>
          </p:cNvSpPr>
          <p:nvPr>
            <p:ph type="sldNum" sz="quarter" idx="12"/>
          </p:nvPr>
        </p:nvSpPr>
        <p:spPr/>
        <p:txBody>
          <a:bodyPr/>
          <a:lstStyle/>
          <a:p>
            <a:fld id="{592B932E-453C-43E9-9683-166E224458DF}" type="slidenum">
              <a:rPr lang="en-IN" smtClean="0"/>
              <a:t>4</a:t>
            </a:fld>
            <a:endParaRPr lang="en-IN" dirty="0"/>
          </a:p>
        </p:txBody>
      </p:sp>
    </p:spTree>
    <p:extLst>
      <p:ext uri="{BB962C8B-B14F-4D97-AF65-F5344CB8AC3E}">
        <p14:creationId xmlns:p14="http://schemas.microsoft.com/office/powerpoint/2010/main" val="3522491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BA8A7-DF83-1467-6E8B-B0568DD89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298A0-7DE6-BD28-C571-18B088780E3B}"/>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5EB21ADA-E2EB-6F00-3981-F705A718158D}"/>
              </a:ext>
            </a:extLst>
          </p:cNvPr>
          <p:cNvSpPr>
            <a:spLocks noGrp="1"/>
          </p:cNvSpPr>
          <p:nvPr>
            <p:ph idx="1"/>
          </p:nvPr>
        </p:nvSpPr>
        <p:spPr/>
        <p:txBody>
          <a:bodyPr/>
          <a:lstStyle/>
          <a:p>
            <a:r>
              <a:rPr lang="en-US" dirty="0"/>
              <a:t>Key Parameters :</a:t>
            </a:r>
          </a:p>
          <a:p>
            <a:r>
              <a:rPr lang="en-IN" dirty="0"/>
              <a:t>Setting Up the Collection Environment</a:t>
            </a:r>
          </a:p>
          <a:p>
            <a:pPr lvl="1"/>
            <a:r>
              <a:rPr lang="en-US" dirty="0"/>
              <a:t>Filter Cutoffs:</a:t>
            </a:r>
          </a:p>
          <a:p>
            <a:pPr lvl="2"/>
            <a:r>
              <a:rPr lang="en-US" dirty="0" err="1"/>
              <a:t>highpassCutoff</a:t>
            </a:r>
            <a:r>
              <a:rPr lang="en-US" dirty="0"/>
              <a:t>: 20 Hz</a:t>
            </a:r>
          </a:p>
          <a:p>
            <a:pPr lvl="2"/>
            <a:r>
              <a:rPr lang="en-US" dirty="0" err="1"/>
              <a:t>notchFreq</a:t>
            </a:r>
            <a:r>
              <a:rPr lang="en-US" dirty="0"/>
              <a:t>: 60 Hz</a:t>
            </a:r>
          </a:p>
          <a:p>
            <a:pPr lvl="2"/>
            <a:r>
              <a:rPr lang="en-US" dirty="0" err="1"/>
              <a:t>envelopeCutoff</a:t>
            </a:r>
            <a:r>
              <a:rPr lang="en-US" dirty="0"/>
              <a:t>: 5 Hz</a:t>
            </a:r>
          </a:p>
          <a:p>
            <a:pPr lvl="1"/>
            <a:r>
              <a:rPr lang="en-US" dirty="0"/>
              <a:t>Feature Extraction Windows:</a:t>
            </a:r>
          </a:p>
          <a:p>
            <a:pPr lvl="2"/>
            <a:r>
              <a:rPr lang="en-US" dirty="0" err="1"/>
              <a:t>windowSize</a:t>
            </a:r>
            <a:r>
              <a:rPr lang="en-US" dirty="0"/>
              <a:t>: 0.2 seconds</a:t>
            </a:r>
          </a:p>
          <a:p>
            <a:pPr lvl="2"/>
            <a:r>
              <a:rPr lang="en-US" dirty="0" err="1"/>
              <a:t>windowOverlap</a:t>
            </a:r>
            <a:r>
              <a:rPr lang="en-US" dirty="0"/>
              <a:t>: 0.1 seconds</a:t>
            </a:r>
            <a:endParaRPr lang="en-IN" dirty="0"/>
          </a:p>
        </p:txBody>
      </p:sp>
      <p:sp>
        <p:nvSpPr>
          <p:cNvPr id="4" name="Slide Number Placeholder 3">
            <a:extLst>
              <a:ext uri="{FF2B5EF4-FFF2-40B4-BE49-F238E27FC236}">
                <a16:creationId xmlns:a16="http://schemas.microsoft.com/office/drawing/2014/main" id="{A1D47546-6323-86A2-4512-1A4CE31FC356}"/>
              </a:ext>
            </a:extLst>
          </p:cNvPr>
          <p:cNvSpPr>
            <a:spLocks noGrp="1"/>
          </p:cNvSpPr>
          <p:nvPr>
            <p:ph type="sldNum" sz="quarter" idx="12"/>
          </p:nvPr>
        </p:nvSpPr>
        <p:spPr/>
        <p:txBody>
          <a:bodyPr/>
          <a:lstStyle/>
          <a:p>
            <a:fld id="{592B932E-453C-43E9-9683-166E224458DF}" type="slidenum">
              <a:rPr lang="en-IN" smtClean="0"/>
              <a:t>5</a:t>
            </a:fld>
            <a:endParaRPr lang="en-IN" dirty="0"/>
          </a:p>
        </p:txBody>
      </p:sp>
    </p:spTree>
    <p:extLst>
      <p:ext uri="{BB962C8B-B14F-4D97-AF65-F5344CB8AC3E}">
        <p14:creationId xmlns:p14="http://schemas.microsoft.com/office/powerpoint/2010/main" val="25055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9320-FBA3-4338-7455-26291F803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DA4EC-8A3A-DD99-4264-85F719456542}"/>
              </a:ext>
            </a:extLst>
          </p:cNvPr>
          <p:cNvSpPr>
            <a:spLocks noGrp="1"/>
          </p:cNvSpPr>
          <p:nvPr>
            <p:ph type="title"/>
          </p:nvPr>
        </p:nvSpPr>
        <p:spPr>
          <a:xfrm>
            <a:off x="2975610" y="0"/>
            <a:ext cx="10515600" cy="1325563"/>
          </a:xfrm>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B42C2F58-8A23-3EB5-A9D0-1BCDB4F7E98B}"/>
              </a:ext>
            </a:extLst>
          </p:cNvPr>
          <p:cNvSpPr>
            <a:spLocks noGrp="1"/>
          </p:cNvSpPr>
          <p:nvPr>
            <p:ph idx="1"/>
          </p:nvPr>
        </p:nvSpPr>
        <p:spPr>
          <a:xfrm>
            <a:off x="6858000" y="2751455"/>
            <a:ext cx="4747260" cy="4351338"/>
          </a:xfrm>
        </p:spPr>
        <p:txBody>
          <a:bodyPr/>
          <a:lstStyle/>
          <a:p>
            <a:pPr marL="0" indent="0">
              <a:buNone/>
            </a:pPr>
            <a:r>
              <a:rPr lang="en-US" dirty="0"/>
              <a:t>This part of the code sets the parameters as discussed in the previous slides</a:t>
            </a:r>
            <a:endParaRPr lang="en-IN" dirty="0"/>
          </a:p>
        </p:txBody>
      </p:sp>
      <p:sp>
        <p:nvSpPr>
          <p:cNvPr id="4" name="Slide Number Placeholder 3">
            <a:extLst>
              <a:ext uri="{FF2B5EF4-FFF2-40B4-BE49-F238E27FC236}">
                <a16:creationId xmlns:a16="http://schemas.microsoft.com/office/drawing/2014/main" id="{F1288BFE-3424-7DFB-CC95-79354735D8B1}"/>
              </a:ext>
            </a:extLst>
          </p:cNvPr>
          <p:cNvSpPr>
            <a:spLocks noGrp="1"/>
          </p:cNvSpPr>
          <p:nvPr>
            <p:ph type="sldNum" sz="quarter" idx="12"/>
          </p:nvPr>
        </p:nvSpPr>
        <p:spPr/>
        <p:txBody>
          <a:bodyPr/>
          <a:lstStyle/>
          <a:p>
            <a:fld id="{592B932E-453C-43E9-9683-166E224458DF}" type="slidenum">
              <a:rPr lang="en-IN" smtClean="0"/>
              <a:t>6</a:t>
            </a:fld>
            <a:endParaRPr lang="en-IN"/>
          </a:p>
        </p:txBody>
      </p:sp>
      <p:sp>
        <p:nvSpPr>
          <p:cNvPr id="7" name="TextBox 6">
            <a:extLst>
              <a:ext uri="{FF2B5EF4-FFF2-40B4-BE49-F238E27FC236}">
                <a16:creationId xmlns:a16="http://schemas.microsoft.com/office/drawing/2014/main" id="{E84CFCF4-D209-278E-301B-D2FD38E8C96C}"/>
              </a:ext>
            </a:extLst>
          </p:cNvPr>
          <p:cNvSpPr txBox="1"/>
          <p:nvPr/>
        </p:nvSpPr>
        <p:spPr>
          <a:xfrm>
            <a:off x="508636" y="981551"/>
            <a:ext cx="6097904" cy="5909310"/>
          </a:xfrm>
          <a:prstGeom prst="rect">
            <a:avLst/>
          </a:prstGeom>
          <a:noFill/>
        </p:spPr>
        <p:txBody>
          <a:bodyPr wrap="square">
            <a:spAutoFit/>
          </a:bodyPr>
          <a:lstStyle/>
          <a:p>
            <a:pPr>
              <a:buNone/>
            </a:pPr>
            <a:r>
              <a:rPr lang="en-IN" sz="1800" b="0" i="0" dirty="0">
                <a:effectLst/>
                <a:latin typeface="Menlo"/>
              </a:rPr>
              <a:t>config = struct();</a:t>
            </a:r>
          </a:p>
          <a:p>
            <a:pPr>
              <a:buNone/>
            </a:pPr>
            <a:r>
              <a:rPr lang="en-IN" sz="1800" b="0" i="0" dirty="0" err="1">
                <a:effectLst/>
                <a:latin typeface="Menlo"/>
              </a:rPr>
              <a:t>config.deviceID</a:t>
            </a:r>
            <a:r>
              <a:rPr lang="en-IN" sz="1800" b="0" i="0" dirty="0">
                <a:effectLst/>
                <a:latin typeface="Menlo"/>
              </a:rPr>
              <a:t> = </a:t>
            </a:r>
            <a:r>
              <a:rPr lang="en-IN" sz="1800" b="0" i="0" dirty="0">
                <a:solidFill>
                  <a:srgbClr val="A709F5"/>
                </a:solidFill>
                <a:effectLst/>
                <a:latin typeface="Menlo"/>
              </a:rPr>
              <a:t>'Dev1'</a:t>
            </a:r>
            <a:r>
              <a:rPr lang="en-IN" sz="1800" b="0" i="0" dirty="0">
                <a:effectLst/>
                <a:latin typeface="Menlo"/>
              </a:rPr>
              <a:t>; </a:t>
            </a:r>
            <a:r>
              <a:rPr lang="en-IN" sz="1800" b="0" i="0" dirty="0">
                <a:solidFill>
                  <a:srgbClr val="008013"/>
                </a:solidFill>
                <a:effectLst/>
                <a:latin typeface="Menlo"/>
              </a:rPr>
              <a:t>% NI DAQ device ID</a:t>
            </a:r>
            <a:endParaRPr lang="en-IN" sz="1800" b="0" i="0" dirty="0">
              <a:effectLst/>
              <a:latin typeface="Menlo"/>
            </a:endParaRPr>
          </a:p>
          <a:p>
            <a:pPr>
              <a:buNone/>
            </a:pPr>
            <a:r>
              <a:rPr lang="en-IN" sz="1800" b="0" i="0" dirty="0" err="1">
                <a:effectLst/>
                <a:latin typeface="Menlo"/>
              </a:rPr>
              <a:t>config.channelID</a:t>
            </a:r>
            <a:r>
              <a:rPr lang="en-IN" sz="1800" b="0" i="0" dirty="0">
                <a:effectLst/>
                <a:latin typeface="Menlo"/>
              </a:rPr>
              <a:t> = </a:t>
            </a:r>
            <a:r>
              <a:rPr lang="en-IN" sz="1800" b="0" i="0" dirty="0">
                <a:solidFill>
                  <a:srgbClr val="A709F5"/>
                </a:solidFill>
                <a:effectLst/>
                <a:latin typeface="Menlo"/>
              </a:rPr>
              <a:t>'ai0'</a:t>
            </a:r>
            <a:r>
              <a:rPr lang="en-IN" sz="1800" b="0" i="0" dirty="0">
                <a:effectLst/>
                <a:latin typeface="Menlo"/>
              </a:rPr>
              <a:t>; </a:t>
            </a:r>
            <a:r>
              <a:rPr lang="en-IN" sz="1800" b="0" i="0" dirty="0">
                <a:solidFill>
                  <a:srgbClr val="008013"/>
                </a:solidFill>
                <a:effectLst/>
                <a:latin typeface="Menlo"/>
              </a:rPr>
              <a:t>% Analog input channel</a:t>
            </a:r>
            <a:endParaRPr lang="en-IN" sz="1800" b="0" i="0" dirty="0">
              <a:effectLst/>
              <a:latin typeface="Menlo"/>
            </a:endParaRPr>
          </a:p>
          <a:p>
            <a:pPr>
              <a:buNone/>
            </a:pPr>
            <a:r>
              <a:rPr lang="en-IN" sz="1800" b="0" i="0" dirty="0" err="1">
                <a:effectLst/>
                <a:latin typeface="Menlo"/>
              </a:rPr>
              <a:t>config.sampleRate</a:t>
            </a:r>
            <a:r>
              <a:rPr lang="en-IN" sz="1800" b="0" i="0" dirty="0">
                <a:effectLst/>
                <a:latin typeface="Menlo"/>
              </a:rPr>
              <a:t> = 1000; </a:t>
            </a:r>
            <a:r>
              <a:rPr lang="en-IN" sz="1800" b="0" i="0" dirty="0">
                <a:solidFill>
                  <a:srgbClr val="008013"/>
                </a:solidFill>
                <a:effectLst/>
                <a:latin typeface="Menlo"/>
              </a:rPr>
              <a:t>% Hz - sampling frequency</a:t>
            </a:r>
            <a:endParaRPr lang="en-IN" sz="1800" b="0" i="0" dirty="0">
              <a:effectLst/>
              <a:latin typeface="Menlo"/>
            </a:endParaRPr>
          </a:p>
          <a:p>
            <a:pPr>
              <a:buNone/>
            </a:pPr>
            <a:r>
              <a:rPr lang="en-IN" sz="1800" b="0" i="0" dirty="0" err="1">
                <a:effectLst/>
                <a:latin typeface="Menlo"/>
              </a:rPr>
              <a:t>config.gestureNames</a:t>
            </a:r>
            <a:r>
              <a:rPr lang="en-IN" sz="1800" b="0" i="0" dirty="0">
                <a:effectLst/>
                <a:latin typeface="Menlo"/>
              </a:rPr>
              <a:t> = {</a:t>
            </a:r>
            <a:r>
              <a:rPr lang="en-IN" sz="1800" b="0" i="0" dirty="0">
                <a:solidFill>
                  <a:srgbClr val="A709F5"/>
                </a:solidFill>
                <a:effectLst/>
                <a:latin typeface="Menlo"/>
              </a:rPr>
              <a:t>'Rest'</a:t>
            </a:r>
            <a:r>
              <a:rPr lang="en-IN" sz="1800" b="0" i="0" dirty="0">
                <a:effectLst/>
                <a:latin typeface="Menlo"/>
              </a:rPr>
              <a:t>, </a:t>
            </a:r>
            <a:r>
              <a:rPr lang="en-IN" sz="1800" b="0" i="0" dirty="0">
                <a:solidFill>
                  <a:srgbClr val="A709F5"/>
                </a:solidFill>
                <a:effectLst/>
                <a:latin typeface="Menlo"/>
              </a:rPr>
              <a:t>'Fist'</a:t>
            </a:r>
            <a:r>
              <a:rPr lang="en-IN" sz="1800" b="0" i="0" dirty="0">
                <a:effectLst/>
                <a:latin typeface="Menlo"/>
              </a:rPr>
              <a:t>, </a:t>
            </a:r>
            <a:r>
              <a:rPr lang="en-IN" sz="1800" b="0" i="0" dirty="0">
                <a:solidFill>
                  <a:srgbClr val="A709F5"/>
                </a:solidFill>
                <a:effectLst/>
                <a:latin typeface="Menlo"/>
              </a:rPr>
              <a:t>'Open Hand'</a:t>
            </a:r>
            <a:r>
              <a:rPr lang="en-IN" sz="1800" b="0" i="0" dirty="0">
                <a:effectLst/>
                <a:latin typeface="Menlo"/>
              </a:rPr>
              <a:t>, </a:t>
            </a:r>
            <a:r>
              <a:rPr lang="en-IN" sz="1800" b="0" i="0" dirty="0">
                <a:solidFill>
                  <a:srgbClr val="A709F5"/>
                </a:solidFill>
                <a:effectLst/>
                <a:latin typeface="Menlo"/>
              </a:rPr>
              <a:t>'Pinch'</a:t>
            </a:r>
            <a:r>
              <a:rPr lang="en-IN" sz="1800" b="0" i="0" dirty="0">
                <a:effectLst/>
                <a:latin typeface="Menlo"/>
              </a:rPr>
              <a:t>, </a:t>
            </a:r>
            <a:r>
              <a:rPr lang="en-IN" sz="1800" b="0" i="0" dirty="0">
                <a:solidFill>
                  <a:srgbClr val="A709F5"/>
                </a:solidFill>
                <a:effectLst/>
                <a:latin typeface="Menlo"/>
              </a:rPr>
              <a:t>'Wave'</a:t>
            </a:r>
            <a:r>
              <a:rPr lang="en-IN" sz="1800" b="0" i="0" dirty="0">
                <a:effectLst/>
                <a:latin typeface="Menlo"/>
              </a:rPr>
              <a:t>};</a:t>
            </a:r>
          </a:p>
          <a:p>
            <a:pPr>
              <a:buNone/>
            </a:pPr>
            <a:r>
              <a:rPr lang="en-IN" sz="1800" b="0" i="0" dirty="0" err="1">
                <a:effectLst/>
                <a:latin typeface="Menlo"/>
              </a:rPr>
              <a:t>config.numRepetitions</a:t>
            </a:r>
            <a:r>
              <a:rPr lang="en-IN" sz="1800" b="0" i="0" dirty="0">
                <a:effectLst/>
                <a:latin typeface="Menlo"/>
              </a:rPr>
              <a:t> = 5; </a:t>
            </a:r>
            <a:r>
              <a:rPr lang="en-IN" sz="1800" b="0" i="0" dirty="0">
                <a:solidFill>
                  <a:srgbClr val="008013"/>
                </a:solidFill>
                <a:effectLst/>
                <a:latin typeface="Menlo"/>
              </a:rPr>
              <a:t>% Repetitions per gesture</a:t>
            </a:r>
            <a:endParaRPr lang="en-IN" sz="1800" b="0" i="0" dirty="0">
              <a:effectLst/>
              <a:latin typeface="Menlo"/>
            </a:endParaRPr>
          </a:p>
          <a:p>
            <a:pPr>
              <a:buNone/>
            </a:pPr>
            <a:r>
              <a:rPr lang="en-IN" sz="1800" b="0" i="0" dirty="0" err="1">
                <a:effectLst/>
                <a:latin typeface="Menlo"/>
              </a:rPr>
              <a:t>config.gestureDuration</a:t>
            </a:r>
            <a:r>
              <a:rPr lang="en-IN" sz="1800" b="0" i="0" dirty="0">
                <a:effectLst/>
                <a:latin typeface="Menlo"/>
              </a:rPr>
              <a:t> = 3; </a:t>
            </a:r>
            <a:r>
              <a:rPr lang="en-IN" sz="1800" b="0" i="0" dirty="0">
                <a:solidFill>
                  <a:srgbClr val="008013"/>
                </a:solidFill>
                <a:effectLst/>
                <a:latin typeface="Menlo"/>
              </a:rPr>
              <a:t>% seconds per gesture</a:t>
            </a:r>
            <a:endParaRPr lang="en-IN" sz="1800" b="0" i="0" dirty="0">
              <a:effectLst/>
              <a:latin typeface="Menlo"/>
            </a:endParaRPr>
          </a:p>
          <a:p>
            <a:pPr>
              <a:buNone/>
            </a:pPr>
            <a:r>
              <a:rPr lang="en-IN" sz="1800" b="0" i="0" dirty="0" err="1">
                <a:effectLst/>
                <a:latin typeface="Menlo"/>
              </a:rPr>
              <a:t>config.restDuration</a:t>
            </a:r>
            <a:r>
              <a:rPr lang="en-IN" sz="1800" b="0" i="0" dirty="0">
                <a:effectLst/>
                <a:latin typeface="Menlo"/>
              </a:rPr>
              <a:t> = 2; </a:t>
            </a:r>
            <a:r>
              <a:rPr lang="en-IN" sz="1800" b="0" i="0" dirty="0">
                <a:solidFill>
                  <a:srgbClr val="008013"/>
                </a:solidFill>
                <a:effectLst/>
                <a:latin typeface="Menlo"/>
              </a:rPr>
              <a:t>% seconds rest between gestures</a:t>
            </a:r>
            <a:endParaRPr lang="en-IN" sz="1800" b="0" i="0" dirty="0">
              <a:effectLst/>
              <a:latin typeface="Menlo"/>
            </a:endParaRPr>
          </a:p>
          <a:p>
            <a:pPr>
              <a:buNone/>
            </a:pPr>
            <a:r>
              <a:rPr lang="en-IN" sz="1800" b="0" i="0" dirty="0" err="1">
                <a:effectLst/>
                <a:latin typeface="Menlo"/>
              </a:rPr>
              <a:t>config.windowSize</a:t>
            </a:r>
            <a:r>
              <a:rPr lang="en-IN" sz="1800" b="0" i="0" dirty="0">
                <a:effectLst/>
                <a:latin typeface="Menlo"/>
              </a:rPr>
              <a:t> = 0.2; </a:t>
            </a:r>
            <a:r>
              <a:rPr lang="en-IN" sz="1800" b="0" i="0" dirty="0">
                <a:solidFill>
                  <a:srgbClr val="008013"/>
                </a:solidFill>
                <a:effectLst/>
                <a:latin typeface="Menlo"/>
              </a:rPr>
              <a:t>% seconds - feature extraction window</a:t>
            </a:r>
            <a:endParaRPr lang="en-IN" sz="1800" b="0" i="0" dirty="0">
              <a:effectLst/>
              <a:latin typeface="Menlo"/>
            </a:endParaRPr>
          </a:p>
          <a:p>
            <a:pPr>
              <a:buNone/>
            </a:pPr>
            <a:r>
              <a:rPr lang="en-IN" sz="1800" b="0" i="0" dirty="0" err="1">
                <a:effectLst/>
                <a:latin typeface="Menlo"/>
              </a:rPr>
              <a:t>config.windowOverlap</a:t>
            </a:r>
            <a:r>
              <a:rPr lang="en-IN" sz="1800" b="0" i="0" dirty="0">
                <a:effectLst/>
                <a:latin typeface="Menlo"/>
              </a:rPr>
              <a:t> = 0.1; </a:t>
            </a:r>
            <a:r>
              <a:rPr lang="en-IN" sz="1800" b="0" i="0" dirty="0">
                <a:solidFill>
                  <a:srgbClr val="008013"/>
                </a:solidFill>
                <a:effectLst/>
                <a:latin typeface="Menlo"/>
              </a:rPr>
              <a:t>% seconds - overlap between windows</a:t>
            </a:r>
            <a:endParaRPr lang="en-IN" sz="1800" b="0" i="0" dirty="0">
              <a:effectLst/>
              <a:latin typeface="Menlo"/>
            </a:endParaRPr>
          </a:p>
          <a:p>
            <a:pPr>
              <a:buNone/>
            </a:pPr>
            <a:endParaRPr lang="en-IN" sz="1800" b="0" i="0" dirty="0">
              <a:effectLst/>
              <a:latin typeface="Menlo"/>
            </a:endParaRPr>
          </a:p>
          <a:p>
            <a:pPr>
              <a:buNone/>
            </a:pPr>
            <a:r>
              <a:rPr lang="en-IN" sz="1800" b="0" i="0" dirty="0">
                <a:solidFill>
                  <a:srgbClr val="008013"/>
                </a:solidFill>
                <a:effectLst/>
                <a:latin typeface="Menlo"/>
              </a:rPr>
              <a:t>% Filter parameters</a:t>
            </a:r>
            <a:endParaRPr lang="en-IN" sz="1800" b="0" i="0" dirty="0">
              <a:effectLst/>
              <a:latin typeface="Menlo"/>
            </a:endParaRPr>
          </a:p>
          <a:p>
            <a:pPr>
              <a:buNone/>
            </a:pPr>
            <a:r>
              <a:rPr lang="en-IN" sz="1800" b="0" i="0" dirty="0" err="1">
                <a:effectLst/>
                <a:latin typeface="Menlo"/>
              </a:rPr>
              <a:t>config.highpassCutoff</a:t>
            </a:r>
            <a:r>
              <a:rPr lang="en-IN" sz="1800" b="0" i="0" dirty="0">
                <a:effectLst/>
                <a:latin typeface="Menlo"/>
              </a:rPr>
              <a:t> = 20; </a:t>
            </a:r>
            <a:r>
              <a:rPr lang="en-IN" sz="1800" b="0" i="0" dirty="0">
                <a:solidFill>
                  <a:srgbClr val="008013"/>
                </a:solidFill>
                <a:effectLst/>
                <a:latin typeface="Menlo"/>
              </a:rPr>
              <a:t>% Hz - remove baseline wander</a:t>
            </a:r>
            <a:endParaRPr lang="en-IN" sz="1800" b="0" i="0" dirty="0">
              <a:effectLst/>
              <a:latin typeface="Menlo"/>
            </a:endParaRPr>
          </a:p>
          <a:p>
            <a:pPr>
              <a:buNone/>
            </a:pPr>
            <a:r>
              <a:rPr lang="en-IN" sz="1800" b="0" i="0" dirty="0" err="1">
                <a:effectLst/>
                <a:latin typeface="Menlo"/>
              </a:rPr>
              <a:t>config.notchFreq</a:t>
            </a:r>
            <a:r>
              <a:rPr lang="en-IN" sz="1800" b="0" i="0" dirty="0">
                <a:effectLst/>
                <a:latin typeface="Menlo"/>
              </a:rPr>
              <a:t> = 60; </a:t>
            </a:r>
            <a:r>
              <a:rPr lang="en-IN" sz="1800" b="0" i="0" dirty="0">
                <a:solidFill>
                  <a:srgbClr val="008013"/>
                </a:solidFill>
                <a:effectLst/>
                <a:latin typeface="Menlo"/>
              </a:rPr>
              <a:t>% Hz - power line interference (50 or 60)</a:t>
            </a:r>
            <a:endParaRPr lang="en-IN" sz="1800" b="0" i="0" dirty="0">
              <a:effectLst/>
              <a:latin typeface="Menlo"/>
            </a:endParaRPr>
          </a:p>
          <a:p>
            <a:pPr>
              <a:buNone/>
            </a:pPr>
            <a:r>
              <a:rPr lang="en-IN" sz="1800" b="0" i="0" dirty="0" err="1">
                <a:effectLst/>
                <a:latin typeface="Menlo"/>
              </a:rPr>
              <a:t>config.notchBandwidth</a:t>
            </a:r>
            <a:r>
              <a:rPr lang="en-IN" sz="1800" b="0" i="0" dirty="0">
                <a:effectLst/>
                <a:latin typeface="Menlo"/>
              </a:rPr>
              <a:t> = 2; </a:t>
            </a:r>
            <a:r>
              <a:rPr lang="en-IN" sz="1800" b="0" i="0" dirty="0">
                <a:solidFill>
                  <a:srgbClr val="008013"/>
                </a:solidFill>
                <a:effectLst/>
                <a:latin typeface="Menlo"/>
              </a:rPr>
              <a:t>% Hz - notch filter bandwidth</a:t>
            </a:r>
            <a:endParaRPr lang="en-IN" sz="1800" b="0" i="0" dirty="0">
              <a:effectLst/>
              <a:latin typeface="Menlo"/>
            </a:endParaRPr>
          </a:p>
          <a:p>
            <a:pPr>
              <a:buNone/>
            </a:pPr>
            <a:r>
              <a:rPr lang="en-IN" sz="1800" b="0" i="0" dirty="0" err="1">
                <a:effectLst/>
                <a:latin typeface="Menlo"/>
              </a:rPr>
              <a:t>config.envelopeCutoff</a:t>
            </a:r>
            <a:r>
              <a:rPr lang="en-IN" sz="1800" b="0" i="0" dirty="0">
                <a:effectLst/>
                <a:latin typeface="Menlo"/>
              </a:rPr>
              <a:t> = 5; </a:t>
            </a:r>
            <a:r>
              <a:rPr lang="en-IN" sz="1800" b="0" i="0" dirty="0">
                <a:solidFill>
                  <a:srgbClr val="008013"/>
                </a:solidFill>
                <a:effectLst/>
                <a:latin typeface="Menlo"/>
              </a:rPr>
              <a:t>% Hz - envelope extraction</a:t>
            </a:r>
            <a:endParaRPr lang="en-IN" sz="1800" b="0" i="0" dirty="0">
              <a:effectLst/>
              <a:latin typeface="Menlo"/>
            </a:endParaRPr>
          </a:p>
          <a:p>
            <a:pPr>
              <a:buNone/>
            </a:pPr>
            <a:br>
              <a:rPr lang="en-IN" sz="1800" b="0" i="0" dirty="0">
                <a:effectLst/>
                <a:latin typeface="Menlo"/>
              </a:rPr>
            </a:br>
            <a:endParaRPr lang="en-IN" sz="1800" b="0" i="0" dirty="0">
              <a:effectLst/>
              <a:latin typeface="Menlo"/>
            </a:endParaRPr>
          </a:p>
        </p:txBody>
      </p:sp>
    </p:spTree>
    <p:extLst>
      <p:ext uri="{BB962C8B-B14F-4D97-AF65-F5344CB8AC3E}">
        <p14:creationId xmlns:p14="http://schemas.microsoft.com/office/powerpoint/2010/main" val="1898722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0E76-1AE1-9B6B-9A9F-15ECB70CFA14}"/>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FC6775D9-E835-AFC3-8EEC-49D1AD0DE78F}"/>
              </a:ext>
            </a:extLst>
          </p:cNvPr>
          <p:cNvSpPr>
            <a:spLocks noGrp="1"/>
          </p:cNvSpPr>
          <p:nvPr>
            <p:ph idx="1"/>
          </p:nvPr>
        </p:nvSpPr>
        <p:spPr>
          <a:xfrm>
            <a:off x="6858000" y="2751455"/>
            <a:ext cx="4747260" cy="4351338"/>
          </a:xfrm>
        </p:spPr>
        <p:txBody>
          <a:bodyPr/>
          <a:lstStyle/>
          <a:p>
            <a:pPr marL="0" indent="0">
              <a:buNone/>
            </a:pPr>
            <a:r>
              <a:rPr lang="en-US" dirty="0"/>
              <a:t>This part of the code initialized the session with DAQ and reserves the DAQ for utilization by MATLAB at that time</a:t>
            </a:r>
            <a:endParaRPr lang="en-IN" dirty="0"/>
          </a:p>
        </p:txBody>
      </p:sp>
      <p:sp>
        <p:nvSpPr>
          <p:cNvPr id="4" name="Slide Number Placeholder 3">
            <a:extLst>
              <a:ext uri="{FF2B5EF4-FFF2-40B4-BE49-F238E27FC236}">
                <a16:creationId xmlns:a16="http://schemas.microsoft.com/office/drawing/2014/main" id="{B609E60F-3BFB-4061-E78F-622AD22505D3}"/>
              </a:ext>
            </a:extLst>
          </p:cNvPr>
          <p:cNvSpPr>
            <a:spLocks noGrp="1"/>
          </p:cNvSpPr>
          <p:nvPr>
            <p:ph type="sldNum" sz="quarter" idx="12"/>
          </p:nvPr>
        </p:nvSpPr>
        <p:spPr/>
        <p:txBody>
          <a:bodyPr/>
          <a:lstStyle/>
          <a:p>
            <a:fld id="{592B932E-453C-43E9-9683-166E224458DF}" type="slidenum">
              <a:rPr lang="en-IN" smtClean="0"/>
              <a:t>7</a:t>
            </a:fld>
            <a:endParaRPr lang="en-IN"/>
          </a:p>
        </p:txBody>
      </p:sp>
      <p:sp>
        <p:nvSpPr>
          <p:cNvPr id="6" name="TextBox 5">
            <a:extLst>
              <a:ext uri="{FF2B5EF4-FFF2-40B4-BE49-F238E27FC236}">
                <a16:creationId xmlns:a16="http://schemas.microsoft.com/office/drawing/2014/main" id="{3F361E80-DFA8-E10B-6A01-8532EBC1A611}"/>
              </a:ext>
            </a:extLst>
          </p:cNvPr>
          <p:cNvSpPr txBox="1"/>
          <p:nvPr/>
        </p:nvSpPr>
        <p:spPr>
          <a:xfrm>
            <a:off x="454343" y="2431633"/>
            <a:ext cx="6152198" cy="3139321"/>
          </a:xfrm>
          <a:prstGeom prst="rect">
            <a:avLst/>
          </a:prstGeom>
          <a:noFill/>
        </p:spPr>
        <p:txBody>
          <a:bodyPr wrap="square">
            <a:spAutoFit/>
          </a:bodyPr>
          <a:lstStyle/>
          <a:p>
            <a:pPr>
              <a:buNone/>
            </a:pPr>
            <a:r>
              <a:rPr lang="en-IN" sz="1800" b="0" i="0" dirty="0">
                <a:solidFill>
                  <a:srgbClr val="0E00FF"/>
                </a:solidFill>
                <a:effectLst/>
                <a:latin typeface="Menlo"/>
              </a:rPr>
              <a:t>try</a:t>
            </a:r>
            <a:endParaRPr lang="en-IN" sz="1800" b="0" i="0" dirty="0">
              <a:effectLst/>
              <a:latin typeface="Menlo"/>
            </a:endParaRPr>
          </a:p>
          <a:p>
            <a:pPr>
              <a:buNone/>
            </a:pPr>
            <a:r>
              <a:rPr lang="en-IN" sz="1800" b="0" i="0" dirty="0" err="1">
                <a:effectLst/>
                <a:latin typeface="Menlo"/>
              </a:rPr>
              <a:t>dq</a:t>
            </a:r>
            <a:r>
              <a:rPr lang="en-IN" sz="1800" b="0" i="0" dirty="0">
                <a:effectLst/>
                <a:latin typeface="Menlo"/>
              </a:rPr>
              <a:t> = </a:t>
            </a:r>
            <a:r>
              <a:rPr lang="en-IN" sz="1800" b="0" i="0" dirty="0" err="1">
                <a:effectLst/>
                <a:latin typeface="Menlo"/>
              </a:rPr>
              <a:t>daq</a:t>
            </a:r>
            <a:r>
              <a:rPr lang="en-IN" sz="1800" b="0" i="0" dirty="0">
                <a:effectLst/>
                <a:latin typeface="Menlo"/>
              </a:rPr>
              <a:t>(</a:t>
            </a:r>
            <a:r>
              <a:rPr lang="en-IN" sz="1800" b="0" i="0" dirty="0">
                <a:solidFill>
                  <a:srgbClr val="A709F5"/>
                </a:solidFill>
                <a:effectLst/>
                <a:latin typeface="Menlo"/>
              </a:rPr>
              <a:t>"</a:t>
            </a:r>
            <a:r>
              <a:rPr lang="en-IN" sz="1800" b="0" i="0" dirty="0" err="1">
                <a:solidFill>
                  <a:srgbClr val="A709F5"/>
                </a:solidFill>
                <a:effectLst/>
                <a:latin typeface="Menlo"/>
              </a:rPr>
              <a:t>ni</a:t>
            </a:r>
            <a:r>
              <a:rPr lang="en-IN" sz="1800" b="0" i="0" dirty="0">
                <a:solidFill>
                  <a:srgbClr val="A709F5"/>
                </a:solidFill>
                <a:effectLst/>
                <a:latin typeface="Menlo"/>
              </a:rPr>
              <a:t>"</a:t>
            </a:r>
            <a:r>
              <a:rPr lang="en-IN" sz="1800" b="0" i="0" dirty="0">
                <a:effectLst/>
                <a:latin typeface="Menlo"/>
              </a:rPr>
              <a:t>);</a:t>
            </a:r>
          </a:p>
          <a:p>
            <a:pPr>
              <a:buNone/>
            </a:pPr>
            <a:r>
              <a:rPr lang="en-IN" sz="1800" b="0" i="0" dirty="0" err="1">
                <a:effectLst/>
                <a:latin typeface="Menlo"/>
              </a:rPr>
              <a:t>ch</a:t>
            </a:r>
            <a:r>
              <a:rPr lang="en-IN" sz="1800" b="0" i="0" dirty="0">
                <a:effectLst/>
                <a:latin typeface="Menlo"/>
              </a:rPr>
              <a:t> = </a:t>
            </a:r>
            <a:r>
              <a:rPr lang="en-IN" sz="1800" b="0" i="0" dirty="0" err="1">
                <a:effectLst/>
                <a:latin typeface="Menlo"/>
              </a:rPr>
              <a:t>addinput</a:t>
            </a:r>
            <a:r>
              <a:rPr lang="en-IN" sz="1800" b="0" i="0" dirty="0">
                <a:effectLst/>
                <a:latin typeface="Menlo"/>
              </a:rPr>
              <a:t>(</a:t>
            </a:r>
            <a:r>
              <a:rPr lang="en-IN" sz="1800" b="0" i="0" dirty="0" err="1">
                <a:effectLst/>
                <a:latin typeface="Menlo"/>
              </a:rPr>
              <a:t>dq</a:t>
            </a:r>
            <a:r>
              <a:rPr lang="en-IN" sz="1800" b="0" i="0" dirty="0">
                <a:effectLst/>
                <a:latin typeface="Menlo"/>
              </a:rPr>
              <a:t>, </a:t>
            </a:r>
            <a:r>
              <a:rPr lang="en-IN" sz="1800" b="0" i="0" dirty="0" err="1">
                <a:effectLst/>
                <a:latin typeface="Menlo"/>
              </a:rPr>
              <a:t>config.deviceID</a:t>
            </a:r>
            <a:r>
              <a:rPr lang="en-IN" sz="1800" b="0" i="0" dirty="0">
                <a:effectLst/>
                <a:latin typeface="Menlo"/>
              </a:rPr>
              <a:t>, </a:t>
            </a:r>
            <a:r>
              <a:rPr lang="en-IN" sz="1800" b="0" i="0" dirty="0" err="1">
                <a:effectLst/>
                <a:latin typeface="Menlo"/>
              </a:rPr>
              <a:t>config.channelID</a:t>
            </a:r>
            <a:r>
              <a:rPr lang="en-IN" sz="1800" b="0" i="0" dirty="0">
                <a:effectLst/>
                <a:latin typeface="Menlo"/>
              </a:rPr>
              <a:t>, </a:t>
            </a:r>
            <a:r>
              <a:rPr lang="en-IN" sz="1800" b="0" i="0" dirty="0">
                <a:solidFill>
                  <a:srgbClr val="A709F5"/>
                </a:solidFill>
                <a:effectLst/>
                <a:latin typeface="Menlo"/>
              </a:rPr>
              <a:t>"Voltage"</a:t>
            </a:r>
            <a:r>
              <a:rPr lang="en-IN" sz="1800" b="0" i="0" dirty="0">
                <a:effectLst/>
                <a:latin typeface="Menlo"/>
              </a:rPr>
              <a:t>);</a:t>
            </a:r>
          </a:p>
          <a:p>
            <a:pPr>
              <a:buNone/>
            </a:pPr>
            <a:r>
              <a:rPr lang="en-IN" sz="1800" b="0" i="0" dirty="0" err="1">
                <a:effectLst/>
                <a:latin typeface="Menlo"/>
              </a:rPr>
              <a:t>ch.Range</a:t>
            </a:r>
            <a:r>
              <a:rPr lang="en-IN" sz="1800" b="0" i="0" dirty="0">
                <a:effectLst/>
                <a:latin typeface="Menlo"/>
              </a:rPr>
              <a:t> = [-10, 10]; </a:t>
            </a:r>
            <a:r>
              <a:rPr lang="en-IN" sz="1800" b="0" i="0" dirty="0">
                <a:solidFill>
                  <a:srgbClr val="008013"/>
                </a:solidFill>
                <a:effectLst/>
                <a:latin typeface="Menlo"/>
              </a:rPr>
              <a:t>% Voltage range for USB-6001</a:t>
            </a:r>
            <a:endParaRPr lang="en-IN" sz="1800" b="0" i="0" dirty="0">
              <a:effectLst/>
              <a:latin typeface="Menlo"/>
            </a:endParaRPr>
          </a:p>
          <a:p>
            <a:pPr>
              <a:buNone/>
            </a:pPr>
            <a:r>
              <a:rPr lang="en-IN" sz="1800" b="0" i="0" dirty="0" err="1">
                <a:effectLst/>
                <a:latin typeface="Menlo"/>
              </a:rPr>
              <a:t>dq.Rate</a:t>
            </a:r>
            <a:r>
              <a:rPr lang="en-IN" sz="1800" b="0" i="0" dirty="0">
                <a:effectLst/>
                <a:latin typeface="Menlo"/>
              </a:rPr>
              <a:t> = </a:t>
            </a:r>
            <a:r>
              <a:rPr lang="en-IN" sz="1800" b="0" i="0" dirty="0" err="1">
                <a:effectLst/>
                <a:latin typeface="Menlo"/>
              </a:rPr>
              <a:t>config.sampleRate</a:t>
            </a:r>
            <a:r>
              <a:rPr lang="en-IN" sz="1800" b="0" i="0" dirty="0">
                <a:effectLst/>
                <a:latin typeface="Menlo"/>
              </a:rPr>
              <a:t>;</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 DAQ initialized successfully\n'</a:t>
            </a:r>
            <a:r>
              <a:rPr lang="en-IN" sz="1800" b="0" i="0" dirty="0">
                <a:effectLst/>
                <a:latin typeface="Menlo"/>
              </a:rPr>
              <a:t>);</a:t>
            </a:r>
          </a:p>
          <a:p>
            <a:pPr>
              <a:buNone/>
            </a:pPr>
            <a:r>
              <a:rPr lang="en-IN" sz="1800" b="0" i="0" dirty="0">
                <a:solidFill>
                  <a:srgbClr val="0E00FF"/>
                </a:solidFill>
                <a:effectLst/>
                <a:latin typeface="Menlo"/>
              </a:rPr>
              <a:t>catch </a:t>
            </a:r>
            <a:r>
              <a:rPr lang="en-IN" sz="1800" b="0" i="0" dirty="0">
                <a:effectLst/>
                <a:latin typeface="Menlo"/>
              </a:rPr>
              <a:t>ME</a:t>
            </a:r>
          </a:p>
          <a:p>
            <a:pPr>
              <a:buNone/>
            </a:pPr>
            <a:r>
              <a:rPr lang="en-IN" sz="1800" b="0" i="0" dirty="0">
                <a:effectLst/>
                <a:latin typeface="Menlo"/>
              </a:rPr>
              <a:t>error(</a:t>
            </a:r>
            <a:r>
              <a:rPr lang="en-IN" sz="1800" b="0" i="0" dirty="0">
                <a:solidFill>
                  <a:srgbClr val="A709F5"/>
                </a:solidFill>
                <a:effectLst/>
                <a:latin typeface="Menlo"/>
              </a:rPr>
              <a:t>'Failed to initialize DAQ: %s'</a:t>
            </a:r>
            <a:r>
              <a:rPr lang="en-IN" sz="1800" b="0" i="0" dirty="0">
                <a:effectLst/>
                <a:latin typeface="Menlo"/>
              </a:rPr>
              <a:t>, </a:t>
            </a:r>
            <a:r>
              <a:rPr lang="en-IN" sz="1800" b="0" i="0" dirty="0" err="1">
                <a:effectLst/>
                <a:latin typeface="Menlo"/>
              </a:rPr>
              <a:t>ME.message</a:t>
            </a:r>
            <a:r>
              <a:rPr lang="en-IN" sz="1800" b="0" i="0" dirty="0">
                <a:effectLst/>
                <a:latin typeface="Menlo"/>
              </a:rPr>
              <a:t>);</a:t>
            </a:r>
          </a:p>
          <a:p>
            <a:pPr>
              <a:buNone/>
            </a:pPr>
            <a:r>
              <a:rPr lang="en-IN" sz="1800" b="0" i="0" dirty="0">
                <a:solidFill>
                  <a:srgbClr val="0E00FF"/>
                </a:solidFill>
                <a:effectLst/>
                <a:latin typeface="Menlo"/>
              </a:rPr>
              <a:t>end</a:t>
            </a:r>
            <a:endParaRPr lang="en-IN" sz="1800" b="0" i="0" dirty="0">
              <a:effectLst/>
              <a:latin typeface="Menlo"/>
            </a:endParaRPr>
          </a:p>
          <a:p>
            <a:pPr>
              <a:buNone/>
            </a:pPr>
            <a:br>
              <a:rPr lang="en-IN" sz="1800" b="0" i="0" dirty="0">
                <a:effectLst/>
                <a:latin typeface="Menlo"/>
              </a:rPr>
            </a:br>
            <a:endParaRPr lang="en-IN" sz="1800" b="0" i="0" dirty="0">
              <a:effectLst/>
              <a:latin typeface="Menlo"/>
            </a:endParaRPr>
          </a:p>
        </p:txBody>
      </p:sp>
    </p:spTree>
    <p:extLst>
      <p:ext uri="{BB962C8B-B14F-4D97-AF65-F5344CB8AC3E}">
        <p14:creationId xmlns:p14="http://schemas.microsoft.com/office/powerpoint/2010/main" val="864134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C485-F96C-E943-55B4-3132BC282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6428E-44CA-7C9F-9C40-5C9D7AA93840}"/>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D391FCD6-E702-BB62-AFD5-9F725CEE2D42}"/>
              </a:ext>
            </a:extLst>
          </p:cNvPr>
          <p:cNvSpPr>
            <a:spLocks noGrp="1"/>
          </p:cNvSpPr>
          <p:nvPr>
            <p:ph idx="1"/>
          </p:nvPr>
        </p:nvSpPr>
        <p:spPr>
          <a:xfrm>
            <a:off x="6858000" y="2751455"/>
            <a:ext cx="4747260" cy="4351338"/>
          </a:xfrm>
        </p:spPr>
        <p:txBody>
          <a:bodyPr/>
          <a:lstStyle/>
          <a:p>
            <a:pPr marL="0" indent="0">
              <a:buNone/>
            </a:pPr>
            <a:r>
              <a:rPr lang="en-US" dirty="0"/>
              <a:t>This part of the code designs the filters required for the data acquisition as describes in slide 6. This is an internal function call to MATLAB Singal Processing Module</a:t>
            </a:r>
            <a:endParaRPr lang="en-IN" dirty="0"/>
          </a:p>
        </p:txBody>
      </p:sp>
      <p:sp>
        <p:nvSpPr>
          <p:cNvPr id="4" name="Slide Number Placeholder 3">
            <a:extLst>
              <a:ext uri="{FF2B5EF4-FFF2-40B4-BE49-F238E27FC236}">
                <a16:creationId xmlns:a16="http://schemas.microsoft.com/office/drawing/2014/main" id="{ED40F711-A152-EA09-BE89-BAC911CBD136}"/>
              </a:ext>
            </a:extLst>
          </p:cNvPr>
          <p:cNvSpPr>
            <a:spLocks noGrp="1"/>
          </p:cNvSpPr>
          <p:nvPr>
            <p:ph type="sldNum" sz="quarter" idx="12"/>
          </p:nvPr>
        </p:nvSpPr>
        <p:spPr/>
        <p:txBody>
          <a:bodyPr/>
          <a:lstStyle/>
          <a:p>
            <a:fld id="{592B932E-453C-43E9-9683-166E224458DF}" type="slidenum">
              <a:rPr lang="en-IN" smtClean="0"/>
              <a:t>8</a:t>
            </a:fld>
            <a:endParaRPr lang="en-IN"/>
          </a:p>
        </p:txBody>
      </p:sp>
      <p:sp>
        <p:nvSpPr>
          <p:cNvPr id="9" name="TextBox 8">
            <a:extLst>
              <a:ext uri="{FF2B5EF4-FFF2-40B4-BE49-F238E27FC236}">
                <a16:creationId xmlns:a16="http://schemas.microsoft.com/office/drawing/2014/main" id="{94A370D6-8B64-8A60-FD0A-3CE1FBE40046}"/>
              </a:ext>
            </a:extLst>
          </p:cNvPr>
          <p:cNvSpPr txBox="1"/>
          <p:nvPr/>
        </p:nvSpPr>
        <p:spPr>
          <a:xfrm>
            <a:off x="1745933" y="3244334"/>
            <a:ext cx="6097904" cy="369332"/>
          </a:xfrm>
          <a:prstGeom prst="rect">
            <a:avLst/>
          </a:prstGeom>
          <a:noFill/>
        </p:spPr>
        <p:txBody>
          <a:bodyPr wrap="square">
            <a:spAutoFit/>
          </a:bodyPr>
          <a:lstStyle/>
          <a:p>
            <a:pPr>
              <a:buNone/>
            </a:pPr>
            <a:r>
              <a:rPr lang="en-IN" sz="1800" b="0" i="0" dirty="0">
                <a:effectLst/>
                <a:latin typeface="Menlo"/>
              </a:rPr>
              <a:t>filters = </a:t>
            </a:r>
            <a:r>
              <a:rPr lang="en-IN" sz="1800" b="0" i="0" dirty="0" err="1">
                <a:effectLst/>
                <a:latin typeface="Menlo"/>
              </a:rPr>
              <a:t>designFilters</a:t>
            </a:r>
            <a:r>
              <a:rPr lang="en-IN" sz="1800" b="0" i="0" dirty="0">
                <a:effectLst/>
                <a:latin typeface="Menlo"/>
              </a:rPr>
              <a:t>(config);</a:t>
            </a:r>
          </a:p>
        </p:txBody>
      </p:sp>
    </p:spTree>
    <p:extLst>
      <p:ext uri="{BB962C8B-B14F-4D97-AF65-F5344CB8AC3E}">
        <p14:creationId xmlns:p14="http://schemas.microsoft.com/office/powerpoint/2010/main" val="3118534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1CEA0-9DC0-903D-261D-C8E06A415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26C15-C0F1-9F7D-5FA4-5D1D5074B31F}"/>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7539EC48-1F51-0799-79CC-EFF7DC873DB7}"/>
              </a:ext>
            </a:extLst>
          </p:cNvPr>
          <p:cNvSpPr>
            <a:spLocks noGrp="1"/>
          </p:cNvSpPr>
          <p:nvPr>
            <p:ph idx="1"/>
          </p:nvPr>
        </p:nvSpPr>
        <p:spPr>
          <a:xfrm>
            <a:off x="6858000" y="2751455"/>
            <a:ext cx="4747260" cy="4351338"/>
          </a:xfrm>
        </p:spPr>
        <p:txBody>
          <a:bodyPr/>
          <a:lstStyle/>
          <a:p>
            <a:pPr marL="0" indent="0">
              <a:buNone/>
            </a:pPr>
            <a:r>
              <a:rPr lang="en-US" dirty="0"/>
              <a:t>Defines array and data that needs to be captured and saved as a dataset</a:t>
            </a:r>
            <a:endParaRPr lang="en-IN" dirty="0"/>
          </a:p>
        </p:txBody>
      </p:sp>
      <p:sp>
        <p:nvSpPr>
          <p:cNvPr id="4" name="Slide Number Placeholder 3">
            <a:extLst>
              <a:ext uri="{FF2B5EF4-FFF2-40B4-BE49-F238E27FC236}">
                <a16:creationId xmlns:a16="http://schemas.microsoft.com/office/drawing/2014/main" id="{9F265A49-B01B-EA41-BD7A-2D9FF0E29AAC}"/>
              </a:ext>
            </a:extLst>
          </p:cNvPr>
          <p:cNvSpPr>
            <a:spLocks noGrp="1"/>
          </p:cNvSpPr>
          <p:nvPr>
            <p:ph type="sldNum" sz="quarter" idx="12"/>
          </p:nvPr>
        </p:nvSpPr>
        <p:spPr/>
        <p:txBody>
          <a:bodyPr/>
          <a:lstStyle/>
          <a:p>
            <a:fld id="{592B932E-453C-43E9-9683-166E224458DF}" type="slidenum">
              <a:rPr lang="en-IN" smtClean="0"/>
              <a:t>9</a:t>
            </a:fld>
            <a:endParaRPr lang="en-IN"/>
          </a:p>
        </p:txBody>
      </p:sp>
      <p:sp>
        <p:nvSpPr>
          <p:cNvPr id="6" name="TextBox 5">
            <a:extLst>
              <a:ext uri="{FF2B5EF4-FFF2-40B4-BE49-F238E27FC236}">
                <a16:creationId xmlns:a16="http://schemas.microsoft.com/office/drawing/2014/main" id="{A1F34C3A-5491-416B-5048-B748E5204D94}"/>
              </a:ext>
            </a:extLst>
          </p:cNvPr>
          <p:cNvSpPr txBox="1"/>
          <p:nvPr/>
        </p:nvSpPr>
        <p:spPr>
          <a:xfrm>
            <a:off x="1208723" y="2874913"/>
            <a:ext cx="6097904" cy="2308324"/>
          </a:xfrm>
          <a:prstGeom prst="rect">
            <a:avLst/>
          </a:prstGeom>
          <a:noFill/>
        </p:spPr>
        <p:txBody>
          <a:bodyPr wrap="square">
            <a:spAutoFit/>
          </a:bodyPr>
          <a:lstStyle/>
          <a:p>
            <a:pPr>
              <a:buNone/>
            </a:pPr>
            <a:r>
              <a:rPr lang="en-IN" sz="1800" b="0" i="0" dirty="0" err="1">
                <a:effectLst/>
                <a:latin typeface="Menlo"/>
              </a:rPr>
              <a:t>allFeatures</a:t>
            </a:r>
            <a:r>
              <a:rPr lang="en-IN" sz="1800" b="0" i="0" dirty="0">
                <a:effectLst/>
                <a:latin typeface="Menlo"/>
              </a:rPr>
              <a:t> = [];</a:t>
            </a:r>
          </a:p>
          <a:p>
            <a:pPr>
              <a:buNone/>
            </a:pPr>
            <a:r>
              <a:rPr lang="en-IN" sz="1800" b="0" i="0" dirty="0" err="1">
                <a:effectLst/>
                <a:latin typeface="Menlo"/>
              </a:rPr>
              <a:t>allLabels</a:t>
            </a:r>
            <a:r>
              <a:rPr lang="en-IN" sz="1800" b="0" i="0" dirty="0">
                <a:effectLst/>
                <a:latin typeface="Menlo"/>
              </a:rPr>
              <a:t> = [];</a:t>
            </a:r>
          </a:p>
          <a:p>
            <a:pPr>
              <a:buNone/>
            </a:pPr>
            <a:r>
              <a:rPr lang="en-IN" sz="1800" b="0" i="0" dirty="0" err="1">
                <a:effectLst/>
                <a:latin typeface="Menlo"/>
              </a:rPr>
              <a:t>acquisitionInfo</a:t>
            </a:r>
            <a:r>
              <a:rPr lang="en-IN" sz="1800" b="0" i="0" dirty="0">
                <a:effectLst/>
                <a:latin typeface="Menlo"/>
              </a:rPr>
              <a:t> = struct();</a:t>
            </a:r>
          </a:p>
          <a:p>
            <a:pPr>
              <a:buNone/>
            </a:pPr>
            <a:r>
              <a:rPr lang="en-IN" sz="1800" b="0" i="0" dirty="0" err="1">
                <a:effectLst/>
                <a:latin typeface="Menlo"/>
              </a:rPr>
              <a:t>acquisitionInfo.config</a:t>
            </a:r>
            <a:r>
              <a:rPr lang="en-IN" sz="1800" b="0" i="0" dirty="0">
                <a:effectLst/>
                <a:latin typeface="Menlo"/>
              </a:rPr>
              <a:t> = config;</a:t>
            </a:r>
          </a:p>
          <a:p>
            <a:pPr>
              <a:buNone/>
            </a:pPr>
            <a:r>
              <a:rPr lang="en-IN" sz="1800" b="0" i="0" dirty="0" err="1">
                <a:effectLst/>
                <a:latin typeface="Menlo"/>
              </a:rPr>
              <a:t>acquisitionInfo.timestamp</a:t>
            </a:r>
            <a:r>
              <a:rPr lang="en-IN" sz="1800" b="0" i="0" dirty="0">
                <a:effectLst/>
                <a:latin typeface="Menlo"/>
              </a:rPr>
              <a:t> = datetime(</a:t>
            </a:r>
            <a:r>
              <a:rPr lang="en-IN" sz="1800" b="0" i="0" dirty="0">
                <a:solidFill>
                  <a:srgbClr val="A709F5"/>
                </a:solidFill>
                <a:effectLst/>
                <a:latin typeface="Menlo"/>
              </a:rPr>
              <a:t>'now'</a:t>
            </a:r>
            <a:r>
              <a:rPr lang="en-IN" sz="1800" b="0" i="0" dirty="0">
                <a:effectLst/>
                <a:latin typeface="Menlo"/>
              </a:rPr>
              <a:t>);</a:t>
            </a:r>
          </a:p>
          <a:p>
            <a:pPr>
              <a:buNone/>
            </a:pPr>
            <a:r>
              <a:rPr lang="en-IN" sz="1800" b="0" i="0" dirty="0" err="1">
                <a:effectLst/>
                <a:latin typeface="Menlo"/>
              </a:rPr>
              <a:t>acquisitionInfo.filterInfo</a:t>
            </a:r>
            <a:r>
              <a:rPr lang="en-IN" sz="1800" b="0" i="0" dirty="0">
                <a:effectLst/>
                <a:latin typeface="Menlo"/>
              </a:rPr>
              <a:t> = filters.info;</a:t>
            </a:r>
          </a:p>
          <a:p>
            <a:pPr>
              <a:buNone/>
            </a:pPr>
            <a:br>
              <a:rPr lang="en-IN" sz="1800" b="0" i="0" dirty="0">
                <a:effectLst/>
                <a:latin typeface="Menlo"/>
              </a:rPr>
            </a:br>
            <a:endParaRPr lang="en-IN" sz="1800" b="0" i="0" dirty="0">
              <a:effectLst/>
              <a:latin typeface="Menlo"/>
            </a:endParaRPr>
          </a:p>
        </p:txBody>
      </p:sp>
    </p:spTree>
    <p:extLst>
      <p:ext uri="{BB962C8B-B14F-4D97-AF65-F5344CB8AC3E}">
        <p14:creationId xmlns:p14="http://schemas.microsoft.com/office/powerpoint/2010/main" val="305613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6416-0879-55C5-2A23-108C6C40B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7EA51-270B-6FA0-60AB-DEFF58D3E84A}"/>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35D025F0-3FBF-F1F5-73BC-3D117F8C8E0D}"/>
              </a:ext>
            </a:extLst>
          </p:cNvPr>
          <p:cNvSpPr>
            <a:spLocks noGrp="1"/>
          </p:cNvSpPr>
          <p:nvPr>
            <p:ph idx="1"/>
          </p:nvPr>
        </p:nvSpPr>
        <p:spPr>
          <a:xfrm>
            <a:off x="6858000" y="2751455"/>
            <a:ext cx="4747260" cy="4351338"/>
          </a:xfrm>
        </p:spPr>
        <p:txBody>
          <a:bodyPr/>
          <a:lstStyle/>
          <a:p>
            <a:pPr marL="0" indent="0">
              <a:buNone/>
            </a:pPr>
            <a:r>
              <a:rPr lang="en-US" dirty="0"/>
              <a:t>Main Data Collection Loop – It has print statements too. So that we know when to collect the data and when not to collect the data. When to do which gesture</a:t>
            </a:r>
            <a:endParaRPr lang="en-IN" dirty="0"/>
          </a:p>
        </p:txBody>
      </p:sp>
      <p:sp>
        <p:nvSpPr>
          <p:cNvPr id="4" name="Slide Number Placeholder 3">
            <a:extLst>
              <a:ext uri="{FF2B5EF4-FFF2-40B4-BE49-F238E27FC236}">
                <a16:creationId xmlns:a16="http://schemas.microsoft.com/office/drawing/2014/main" id="{4083B1F3-5FD4-1782-A9D3-A6E0FB0B33A9}"/>
              </a:ext>
            </a:extLst>
          </p:cNvPr>
          <p:cNvSpPr>
            <a:spLocks noGrp="1"/>
          </p:cNvSpPr>
          <p:nvPr>
            <p:ph type="sldNum" sz="quarter" idx="12"/>
          </p:nvPr>
        </p:nvSpPr>
        <p:spPr/>
        <p:txBody>
          <a:bodyPr/>
          <a:lstStyle/>
          <a:p>
            <a:fld id="{592B932E-453C-43E9-9683-166E224458DF}" type="slidenum">
              <a:rPr lang="en-IN" smtClean="0"/>
              <a:t>10</a:t>
            </a:fld>
            <a:endParaRPr lang="en-IN"/>
          </a:p>
        </p:txBody>
      </p:sp>
      <p:sp>
        <p:nvSpPr>
          <p:cNvPr id="7" name="TextBox 6">
            <a:extLst>
              <a:ext uri="{FF2B5EF4-FFF2-40B4-BE49-F238E27FC236}">
                <a16:creationId xmlns:a16="http://schemas.microsoft.com/office/drawing/2014/main" id="{5B33A911-564D-F057-A6B8-65EE28D7ACE4}"/>
              </a:ext>
            </a:extLst>
          </p:cNvPr>
          <p:cNvSpPr txBox="1"/>
          <p:nvPr/>
        </p:nvSpPr>
        <p:spPr>
          <a:xfrm>
            <a:off x="1017271" y="1381552"/>
            <a:ext cx="5269230" cy="5339923"/>
          </a:xfrm>
          <a:prstGeom prst="rect">
            <a:avLst/>
          </a:prstGeom>
          <a:noFill/>
        </p:spPr>
        <p:txBody>
          <a:bodyPr wrap="square">
            <a:spAutoFit/>
          </a:bodyPr>
          <a:lstStyle/>
          <a:p>
            <a:pPr>
              <a:buNone/>
            </a:pPr>
            <a:r>
              <a:rPr lang="en-IN" sz="1100" b="0" i="0" dirty="0">
                <a:solidFill>
                  <a:srgbClr val="008013"/>
                </a:solidFill>
                <a:effectLst/>
                <a:latin typeface="Menlo"/>
              </a:rPr>
              <a:t>%% Main Data Collection Loop</a:t>
            </a:r>
            <a:endParaRPr lang="en-IN" sz="1100" b="0" i="0" dirty="0">
              <a:effectLst/>
              <a:latin typeface="Menlo"/>
            </a:endParaRP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'\n=== Starting Data Collection ===\n'</a:t>
            </a:r>
            <a:r>
              <a:rPr lang="en-IN" sz="1100" b="0" i="0" dirty="0">
                <a:effectLst/>
                <a:latin typeface="Menlo"/>
              </a:rPr>
              <a:t>);</a:t>
            </a: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'Total gestures: %d, Repetitions each: %d\n'</a:t>
            </a:r>
            <a:r>
              <a:rPr lang="en-IN" sz="1100" b="0" i="0" dirty="0">
                <a:effectLst/>
                <a:latin typeface="Menlo"/>
              </a:rPr>
              <a:t>, </a:t>
            </a:r>
            <a:r>
              <a:rPr lang="en-IN" sz="1100" b="0" i="0" dirty="0">
                <a:solidFill>
                  <a:srgbClr val="0E00FF"/>
                </a:solidFill>
                <a:effectLst/>
                <a:latin typeface="Menlo"/>
              </a:rPr>
              <a:t>...</a:t>
            </a:r>
            <a:endParaRPr lang="en-IN" sz="1100" b="0" i="0" dirty="0">
              <a:effectLst/>
              <a:latin typeface="Menlo"/>
            </a:endParaRPr>
          </a:p>
          <a:p>
            <a:pPr>
              <a:buNone/>
            </a:pPr>
            <a:r>
              <a:rPr lang="en-IN" sz="1100" b="0" i="0" dirty="0">
                <a:effectLst/>
                <a:latin typeface="Menlo"/>
              </a:rPr>
              <a:t>length(</a:t>
            </a:r>
            <a:r>
              <a:rPr lang="en-IN" sz="1100" b="0" i="0" dirty="0" err="1">
                <a:effectLst/>
                <a:latin typeface="Menlo"/>
              </a:rPr>
              <a:t>config.gestureNames</a:t>
            </a:r>
            <a:r>
              <a:rPr lang="en-IN" sz="1100" b="0" i="0" dirty="0">
                <a:effectLst/>
                <a:latin typeface="Menlo"/>
              </a:rPr>
              <a:t>), </a:t>
            </a:r>
            <a:r>
              <a:rPr lang="en-IN" sz="1100" b="0" i="0" dirty="0" err="1">
                <a:effectLst/>
                <a:latin typeface="Menlo"/>
              </a:rPr>
              <a:t>config.numRepetitions</a:t>
            </a:r>
            <a:r>
              <a:rPr lang="en-IN" sz="1100" b="0" i="0" dirty="0">
                <a:effectLst/>
                <a:latin typeface="Menlo"/>
              </a:rPr>
              <a:t>);</a:t>
            </a:r>
          </a:p>
          <a:p>
            <a:pPr>
              <a:buNone/>
            </a:pPr>
            <a:endParaRPr lang="en-IN" sz="1100" b="0" i="0" dirty="0">
              <a:effectLst/>
              <a:latin typeface="Menlo"/>
            </a:endParaRPr>
          </a:p>
          <a:p>
            <a:pPr>
              <a:buNone/>
            </a:pPr>
            <a:r>
              <a:rPr lang="en-IN" sz="1100" b="0" i="0" dirty="0" err="1">
                <a:effectLst/>
                <a:latin typeface="Menlo"/>
              </a:rPr>
              <a:t>gestureCount</a:t>
            </a:r>
            <a:r>
              <a:rPr lang="en-IN" sz="1100" b="0" i="0" dirty="0">
                <a:effectLst/>
                <a:latin typeface="Menlo"/>
              </a:rPr>
              <a:t> = 0;</a:t>
            </a:r>
          </a:p>
          <a:p>
            <a:pPr>
              <a:buNone/>
            </a:pPr>
            <a:r>
              <a:rPr lang="en-IN" sz="1100" b="0" i="0" dirty="0" err="1">
                <a:effectLst/>
                <a:latin typeface="Menlo"/>
              </a:rPr>
              <a:t>totalGestures</a:t>
            </a:r>
            <a:r>
              <a:rPr lang="en-IN" sz="1100" b="0" i="0" dirty="0">
                <a:effectLst/>
                <a:latin typeface="Menlo"/>
              </a:rPr>
              <a:t> = length(</a:t>
            </a:r>
            <a:r>
              <a:rPr lang="en-IN" sz="1100" b="0" i="0" dirty="0" err="1">
                <a:effectLst/>
                <a:latin typeface="Menlo"/>
              </a:rPr>
              <a:t>config.gestureNames</a:t>
            </a:r>
            <a:r>
              <a:rPr lang="en-IN" sz="1100" b="0" i="0" dirty="0">
                <a:effectLst/>
                <a:latin typeface="Menlo"/>
              </a:rPr>
              <a:t>) * </a:t>
            </a:r>
            <a:r>
              <a:rPr lang="en-IN" sz="1100" b="0" i="0" dirty="0" err="1">
                <a:effectLst/>
                <a:latin typeface="Menlo"/>
              </a:rPr>
              <a:t>config.numRepetitions</a:t>
            </a:r>
            <a:r>
              <a:rPr lang="en-IN" sz="1100" b="0" i="0" dirty="0">
                <a:effectLst/>
                <a:latin typeface="Menlo"/>
              </a:rPr>
              <a:t>;</a:t>
            </a:r>
          </a:p>
          <a:p>
            <a:pPr>
              <a:buNone/>
            </a:pPr>
            <a:br>
              <a:rPr lang="en-IN" sz="1100" b="0" i="0" dirty="0">
                <a:effectLst/>
                <a:latin typeface="Menlo"/>
              </a:rPr>
            </a:br>
            <a:r>
              <a:rPr lang="en-IN" sz="1100" b="0" i="0" dirty="0">
                <a:solidFill>
                  <a:srgbClr val="0E00FF"/>
                </a:solidFill>
                <a:effectLst/>
                <a:latin typeface="Menlo"/>
              </a:rPr>
              <a:t>for </a:t>
            </a:r>
            <a:r>
              <a:rPr lang="en-IN" sz="1100" b="0" i="0" dirty="0" err="1">
                <a:effectLst/>
                <a:latin typeface="Menlo"/>
              </a:rPr>
              <a:t>gestureIdx</a:t>
            </a:r>
            <a:r>
              <a:rPr lang="en-IN" sz="1100" b="0" i="0" dirty="0">
                <a:effectLst/>
                <a:latin typeface="Menlo"/>
              </a:rPr>
              <a:t> = 1:length(</a:t>
            </a:r>
            <a:r>
              <a:rPr lang="en-IN" sz="1100" b="0" i="0" dirty="0" err="1">
                <a:effectLst/>
                <a:latin typeface="Menlo"/>
              </a:rPr>
              <a:t>config.gestureNames</a:t>
            </a:r>
            <a:r>
              <a:rPr lang="en-IN" sz="1100" b="0" i="0" dirty="0">
                <a:effectLst/>
                <a:latin typeface="Menlo"/>
              </a:rPr>
              <a:t>)</a:t>
            </a:r>
          </a:p>
          <a:p>
            <a:pPr>
              <a:buNone/>
            </a:pPr>
            <a:r>
              <a:rPr lang="en-IN" sz="1100" b="0" i="0" dirty="0" err="1">
                <a:effectLst/>
                <a:latin typeface="Menlo"/>
              </a:rPr>
              <a:t>gestureName</a:t>
            </a:r>
            <a:r>
              <a:rPr lang="en-IN" sz="1100" b="0" i="0" dirty="0">
                <a:effectLst/>
                <a:latin typeface="Menlo"/>
              </a:rPr>
              <a:t> = </a:t>
            </a:r>
            <a:r>
              <a:rPr lang="en-IN" sz="1100" b="0" i="0" dirty="0" err="1">
                <a:effectLst/>
                <a:latin typeface="Menlo"/>
              </a:rPr>
              <a:t>config.gestureNames</a:t>
            </a:r>
            <a:r>
              <a:rPr lang="en-IN" sz="1100" b="0" i="0" dirty="0">
                <a:effectLst/>
                <a:latin typeface="Menlo"/>
              </a:rPr>
              <a:t>{</a:t>
            </a:r>
            <a:r>
              <a:rPr lang="en-IN" sz="1100" b="0" i="0" dirty="0" err="1">
                <a:effectLst/>
                <a:latin typeface="Menlo"/>
              </a:rPr>
              <a:t>gestureIdx</a:t>
            </a:r>
            <a:r>
              <a:rPr lang="en-IN" sz="1100" b="0" i="0" dirty="0">
                <a:effectLst/>
                <a:latin typeface="Menlo"/>
              </a:rPr>
              <a:t>};</a:t>
            </a:r>
          </a:p>
          <a:p>
            <a:pPr>
              <a:buNone/>
            </a:pPr>
            <a:r>
              <a:rPr lang="en-IN" sz="1100" b="0" i="0" dirty="0">
                <a:solidFill>
                  <a:srgbClr val="0E00FF"/>
                </a:solidFill>
                <a:effectLst/>
                <a:latin typeface="Menlo"/>
              </a:rPr>
              <a:t>for </a:t>
            </a:r>
            <a:r>
              <a:rPr lang="en-IN" sz="1100" b="0" i="0" dirty="0">
                <a:effectLst/>
                <a:latin typeface="Menlo"/>
              </a:rPr>
              <a:t>rep = 1:config.numRepetitions</a:t>
            </a:r>
          </a:p>
          <a:p>
            <a:pPr>
              <a:buNone/>
            </a:pPr>
            <a:r>
              <a:rPr lang="en-IN" sz="1100" b="0" i="0" dirty="0" err="1">
                <a:effectLst/>
                <a:latin typeface="Menlo"/>
              </a:rPr>
              <a:t>gestureCount</a:t>
            </a:r>
            <a:r>
              <a:rPr lang="en-IN" sz="1100" b="0" i="0" dirty="0">
                <a:effectLst/>
                <a:latin typeface="Menlo"/>
              </a:rPr>
              <a:t> = </a:t>
            </a:r>
            <a:r>
              <a:rPr lang="en-IN" sz="1100" b="0" i="0" dirty="0" err="1">
                <a:effectLst/>
                <a:latin typeface="Menlo"/>
              </a:rPr>
              <a:t>gestureCount</a:t>
            </a:r>
            <a:r>
              <a:rPr lang="en-IN" sz="1100" b="0" i="0" dirty="0">
                <a:effectLst/>
                <a:latin typeface="Menlo"/>
              </a:rPr>
              <a:t> + 1;</a:t>
            </a: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'\n--- Gesture %d/%d: %s (Rep %d) ---\n'</a:t>
            </a:r>
            <a:r>
              <a:rPr lang="en-IN" sz="1100" b="0" i="0" dirty="0">
                <a:effectLst/>
                <a:latin typeface="Menlo"/>
              </a:rPr>
              <a:t>, </a:t>
            </a:r>
            <a:r>
              <a:rPr lang="en-IN" sz="1100" b="0" i="0" dirty="0">
                <a:solidFill>
                  <a:srgbClr val="0E00FF"/>
                </a:solidFill>
                <a:effectLst/>
                <a:latin typeface="Menlo"/>
              </a:rPr>
              <a:t>...</a:t>
            </a:r>
            <a:endParaRPr lang="en-IN" sz="1100" b="0" i="0" dirty="0">
              <a:effectLst/>
              <a:latin typeface="Menlo"/>
            </a:endParaRPr>
          </a:p>
          <a:p>
            <a:pPr>
              <a:buNone/>
            </a:pPr>
            <a:r>
              <a:rPr lang="en-IN" sz="1100" b="0" i="0" dirty="0" err="1">
                <a:effectLst/>
                <a:latin typeface="Menlo"/>
              </a:rPr>
              <a:t>gestureCount</a:t>
            </a:r>
            <a:r>
              <a:rPr lang="en-IN" sz="1100" b="0" i="0" dirty="0">
                <a:effectLst/>
                <a:latin typeface="Menlo"/>
              </a:rPr>
              <a:t>, </a:t>
            </a:r>
            <a:r>
              <a:rPr lang="en-IN" sz="1100" b="0" i="0" dirty="0" err="1">
                <a:effectLst/>
                <a:latin typeface="Menlo"/>
              </a:rPr>
              <a:t>totalGestures</a:t>
            </a:r>
            <a:r>
              <a:rPr lang="en-IN" sz="1100" b="0" i="0" dirty="0">
                <a:effectLst/>
                <a:latin typeface="Menlo"/>
              </a:rPr>
              <a:t>, </a:t>
            </a:r>
            <a:r>
              <a:rPr lang="en-IN" sz="1100" b="0" i="0" dirty="0" err="1">
                <a:effectLst/>
                <a:latin typeface="Menlo"/>
              </a:rPr>
              <a:t>gestureName</a:t>
            </a:r>
            <a:r>
              <a:rPr lang="en-IN" sz="1100" b="0" i="0" dirty="0">
                <a:effectLst/>
                <a:latin typeface="Menlo"/>
              </a:rPr>
              <a:t>, rep);</a:t>
            </a:r>
          </a:p>
          <a:p>
            <a:pPr>
              <a:buNone/>
            </a:pPr>
            <a:r>
              <a:rPr lang="en-IN" sz="1100" b="0" i="0" dirty="0">
                <a:solidFill>
                  <a:srgbClr val="008013"/>
                </a:solidFill>
                <a:effectLst/>
                <a:latin typeface="Menlo"/>
              </a:rPr>
              <a:t>% Rest period with countdown</a:t>
            </a:r>
            <a:endParaRPr lang="en-IN" sz="1100" b="0" i="0" dirty="0">
              <a:effectLst/>
              <a:latin typeface="Menlo"/>
            </a:endParaRP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'Rest period... '</a:t>
            </a:r>
            <a:r>
              <a:rPr lang="en-IN" sz="1100" b="0" i="0" dirty="0">
                <a:effectLst/>
                <a:latin typeface="Menlo"/>
              </a:rPr>
              <a:t>);</a:t>
            </a:r>
          </a:p>
          <a:p>
            <a:pPr>
              <a:buNone/>
            </a:pPr>
            <a:r>
              <a:rPr lang="en-IN" sz="1100" b="0" i="0" dirty="0">
                <a:solidFill>
                  <a:srgbClr val="0E00FF"/>
                </a:solidFill>
                <a:effectLst/>
                <a:latin typeface="Menlo"/>
              </a:rPr>
              <a:t>for </a:t>
            </a:r>
            <a:r>
              <a:rPr lang="en-IN" sz="1100" b="0" i="0" dirty="0" err="1">
                <a:effectLst/>
                <a:latin typeface="Menlo"/>
              </a:rPr>
              <a:t>i</a:t>
            </a:r>
            <a:r>
              <a:rPr lang="en-IN" sz="1100" b="0" i="0" dirty="0">
                <a:effectLst/>
                <a:latin typeface="Menlo"/>
              </a:rPr>
              <a:t> = </a:t>
            </a:r>
            <a:r>
              <a:rPr lang="en-IN" sz="1100" b="0" i="0" dirty="0" err="1">
                <a:effectLst/>
                <a:latin typeface="Menlo"/>
              </a:rPr>
              <a:t>config.restDuration</a:t>
            </a:r>
            <a:r>
              <a:rPr lang="en-IN" sz="1100" b="0" i="0" dirty="0">
                <a:effectLst/>
                <a:latin typeface="Menlo"/>
              </a:rPr>
              <a:t>:-1:1</a:t>
            </a: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'%d '</a:t>
            </a:r>
            <a:r>
              <a:rPr lang="en-IN" sz="1100" b="0" i="0" dirty="0">
                <a:effectLst/>
                <a:latin typeface="Menlo"/>
              </a:rPr>
              <a:t>, </a:t>
            </a:r>
            <a:r>
              <a:rPr lang="en-IN" sz="1100" b="0" i="0" dirty="0" err="1">
                <a:effectLst/>
                <a:latin typeface="Menlo"/>
              </a:rPr>
              <a:t>i</a:t>
            </a:r>
            <a:r>
              <a:rPr lang="en-IN" sz="1100" b="0" i="0" dirty="0">
                <a:effectLst/>
                <a:latin typeface="Menlo"/>
              </a:rPr>
              <a:t>);</a:t>
            </a:r>
          </a:p>
          <a:p>
            <a:pPr>
              <a:buNone/>
            </a:pPr>
            <a:r>
              <a:rPr lang="en-IN" sz="1100" b="0" i="0" dirty="0">
                <a:effectLst/>
                <a:latin typeface="Menlo"/>
              </a:rPr>
              <a:t>pause(1);</a:t>
            </a:r>
          </a:p>
          <a:p>
            <a:pPr>
              <a:buNone/>
            </a:pPr>
            <a:r>
              <a:rPr lang="en-IN" sz="1100" b="0" i="0" dirty="0">
                <a:solidFill>
                  <a:srgbClr val="0E00FF"/>
                </a:solidFill>
                <a:effectLst/>
                <a:latin typeface="Menlo"/>
              </a:rPr>
              <a:t>end</a:t>
            </a:r>
            <a:endParaRPr lang="en-IN" sz="1100" b="0" i="0" dirty="0">
              <a:effectLst/>
              <a:latin typeface="Menlo"/>
            </a:endParaRP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'\n'</a:t>
            </a:r>
            <a:r>
              <a:rPr lang="en-IN" sz="1100" b="0" i="0" dirty="0">
                <a:effectLst/>
                <a:latin typeface="Menlo"/>
              </a:rPr>
              <a:t>);</a:t>
            </a:r>
          </a:p>
          <a:p>
            <a:pPr>
              <a:buNone/>
            </a:pPr>
            <a:r>
              <a:rPr lang="en-IN" sz="1100" b="0" i="0" dirty="0">
                <a:solidFill>
                  <a:srgbClr val="008013"/>
                </a:solidFill>
                <a:effectLst/>
                <a:latin typeface="Menlo"/>
              </a:rPr>
              <a:t>% Gesture acquisition</a:t>
            </a:r>
            <a:endParaRPr lang="en-IN" sz="1100" b="0" i="0" dirty="0">
              <a:effectLst/>
              <a:latin typeface="Menlo"/>
            </a:endParaRP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'Perform gesture: %s\n'</a:t>
            </a:r>
            <a:r>
              <a:rPr lang="en-IN" sz="1100" b="0" i="0" dirty="0">
                <a:effectLst/>
                <a:latin typeface="Menlo"/>
              </a:rPr>
              <a:t>, </a:t>
            </a:r>
            <a:r>
              <a:rPr lang="en-IN" sz="1100" b="0" i="0" dirty="0" err="1">
                <a:effectLst/>
                <a:latin typeface="Menlo"/>
              </a:rPr>
              <a:t>gestureName</a:t>
            </a:r>
            <a:r>
              <a:rPr lang="en-IN" sz="1100" b="0" i="0" dirty="0">
                <a:effectLst/>
                <a:latin typeface="Menlo"/>
              </a:rPr>
              <a:t>);</a:t>
            </a:r>
          </a:p>
          <a:p>
            <a:pPr>
              <a:buNone/>
            </a:pPr>
            <a:r>
              <a:rPr lang="en-IN" sz="1100" b="0" i="0" dirty="0">
                <a:effectLst/>
                <a:latin typeface="Menlo"/>
              </a:rPr>
              <a:t>[</a:t>
            </a:r>
            <a:r>
              <a:rPr lang="en-IN" sz="1100" b="0" i="0" dirty="0" err="1">
                <a:effectLst/>
                <a:latin typeface="Menlo"/>
              </a:rPr>
              <a:t>rawData</a:t>
            </a:r>
            <a:r>
              <a:rPr lang="en-IN" sz="1100" b="0" i="0" dirty="0">
                <a:effectLst/>
                <a:latin typeface="Menlo"/>
              </a:rPr>
              <a:t>, features, labels] = </a:t>
            </a:r>
            <a:r>
              <a:rPr lang="en-IN" sz="1100" b="0" i="0" dirty="0" err="1">
                <a:effectLst/>
                <a:latin typeface="Menlo"/>
              </a:rPr>
              <a:t>acquireGesture</a:t>
            </a:r>
            <a:r>
              <a:rPr lang="en-IN" sz="1100" b="0" i="0" dirty="0">
                <a:effectLst/>
                <a:latin typeface="Menlo"/>
              </a:rPr>
              <a:t>(</a:t>
            </a:r>
            <a:r>
              <a:rPr lang="en-IN" sz="1100" b="0" i="0" dirty="0" err="1">
                <a:effectLst/>
                <a:latin typeface="Menlo"/>
              </a:rPr>
              <a:t>dq</a:t>
            </a:r>
            <a:r>
              <a:rPr lang="en-IN" sz="1100" b="0" i="0" dirty="0">
                <a:effectLst/>
                <a:latin typeface="Menlo"/>
              </a:rPr>
              <a:t>, config, filters, </a:t>
            </a:r>
            <a:r>
              <a:rPr lang="en-IN" sz="1100" b="0" i="0" dirty="0">
                <a:solidFill>
                  <a:srgbClr val="0E00FF"/>
                </a:solidFill>
                <a:effectLst/>
                <a:latin typeface="Menlo"/>
              </a:rPr>
              <a:t>...</a:t>
            </a:r>
            <a:endParaRPr lang="en-IN" sz="1100" b="0" i="0" dirty="0">
              <a:effectLst/>
              <a:latin typeface="Menlo"/>
            </a:endParaRPr>
          </a:p>
          <a:p>
            <a:pPr>
              <a:buNone/>
            </a:pPr>
            <a:r>
              <a:rPr lang="en-IN" sz="1100" b="0" i="0" dirty="0" err="1">
                <a:effectLst/>
                <a:latin typeface="Menlo"/>
              </a:rPr>
              <a:t>gestureName</a:t>
            </a:r>
            <a:r>
              <a:rPr lang="en-IN" sz="1100" b="0" i="0" dirty="0">
                <a:effectLst/>
                <a:latin typeface="Menlo"/>
              </a:rPr>
              <a:t>, </a:t>
            </a:r>
            <a:r>
              <a:rPr lang="en-IN" sz="1100" b="0" i="0" dirty="0" err="1">
                <a:effectLst/>
                <a:latin typeface="Menlo"/>
              </a:rPr>
              <a:t>gestureIdx</a:t>
            </a:r>
            <a:r>
              <a:rPr lang="en-IN" sz="1100" b="0" i="0" dirty="0">
                <a:effectLst/>
                <a:latin typeface="Menlo"/>
              </a:rPr>
              <a:t>);</a:t>
            </a:r>
          </a:p>
          <a:p>
            <a:pPr>
              <a:buNone/>
            </a:pPr>
            <a:r>
              <a:rPr lang="en-IN" sz="1100" b="0" i="0" dirty="0">
                <a:solidFill>
                  <a:srgbClr val="008013"/>
                </a:solidFill>
                <a:effectLst/>
                <a:latin typeface="Menlo"/>
              </a:rPr>
              <a:t>% Store data</a:t>
            </a:r>
            <a:endParaRPr lang="en-IN" sz="1100" b="0" i="0" dirty="0">
              <a:effectLst/>
              <a:latin typeface="Menlo"/>
            </a:endParaRPr>
          </a:p>
          <a:p>
            <a:pPr>
              <a:buNone/>
            </a:pPr>
            <a:r>
              <a:rPr lang="en-IN" sz="1100" b="0" i="0" dirty="0" err="1">
                <a:effectLst/>
                <a:latin typeface="Menlo"/>
              </a:rPr>
              <a:t>allFeatures</a:t>
            </a:r>
            <a:r>
              <a:rPr lang="en-IN" sz="1100" b="0" i="0" dirty="0">
                <a:effectLst/>
                <a:latin typeface="Menlo"/>
              </a:rPr>
              <a:t> = [</a:t>
            </a:r>
            <a:r>
              <a:rPr lang="en-IN" sz="1100" b="0" i="0" dirty="0" err="1">
                <a:effectLst/>
                <a:latin typeface="Menlo"/>
              </a:rPr>
              <a:t>allFeatures</a:t>
            </a:r>
            <a:r>
              <a:rPr lang="en-IN" sz="1100" b="0" i="0" dirty="0">
                <a:effectLst/>
                <a:latin typeface="Menlo"/>
              </a:rPr>
              <a:t>; features];</a:t>
            </a:r>
          </a:p>
          <a:p>
            <a:pPr>
              <a:buNone/>
            </a:pPr>
            <a:r>
              <a:rPr lang="en-IN" sz="1100" b="0" i="0" dirty="0" err="1">
                <a:effectLst/>
                <a:latin typeface="Menlo"/>
              </a:rPr>
              <a:t>allLabels</a:t>
            </a:r>
            <a:r>
              <a:rPr lang="en-IN" sz="1100" b="0" i="0" dirty="0">
                <a:effectLst/>
                <a:latin typeface="Menlo"/>
              </a:rPr>
              <a:t> = [</a:t>
            </a:r>
            <a:r>
              <a:rPr lang="en-IN" sz="1100" b="0" i="0" dirty="0" err="1">
                <a:effectLst/>
                <a:latin typeface="Menlo"/>
              </a:rPr>
              <a:t>allLabels</a:t>
            </a:r>
            <a:r>
              <a:rPr lang="en-IN" sz="1100" b="0" i="0" dirty="0">
                <a:effectLst/>
                <a:latin typeface="Menlo"/>
              </a:rPr>
              <a:t>; labels];</a:t>
            </a:r>
          </a:p>
          <a:p>
            <a:pPr>
              <a:buNone/>
            </a:pPr>
            <a:r>
              <a:rPr lang="en-IN" sz="1100" b="0" i="0" dirty="0" err="1">
                <a:effectLst/>
                <a:latin typeface="Menlo"/>
              </a:rPr>
              <a:t>fprintf</a:t>
            </a:r>
            <a:r>
              <a:rPr lang="en-IN" sz="1100" b="0" i="0" dirty="0">
                <a:effectLst/>
                <a:latin typeface="Menlo"/>
              </a:rPr>
              <a:t>(</a:t>
            </a:r>
            <a:r>
              <a:rPr lang="en-IN" sz="1100" b="0" i="0" dirty="0">
                <a:solidFill>
                  <a:srgbClr val="A709F5"/>
                </a:solidFill>
                <a:effectLst/>
                <a:latin typeface="Menlo"/>
              </a:rPr>
              <a:t>'✓ Collected %d feature windows\n'</a:t>
            </a:r>
            <a:r>
              <a:rPr lang="en-IN" sz="1100" b="0" i="0" dirty="0">
                <a:effectLst/>
                <a:latin typeface="Menlo"/>
              </a:rPr>
              <a:t>, size(features, 1));</a:t>
            </a:r>
          </a:p>
          <a:p>
            <a:pPr>
              <a:buNone/>
            </a:pPr>
            <a:r>
              <a:rPr lang="en-IN" sz="1100" b="0" i="0" dirty="0">
                <a:solidFill>
                  <a:srgbClr val="0E00FF"/>
                </a:solidFill>
                <a:effectLst/>
                <a:latin typeface="Menlo"/>
              </a:rPr>
              <a:t>end</a:t>
            </a:r>
            <a:endParaRPr lang="en-IN" sz="1100" b="0" i="0" dirty="0">
              <a:effectLst/>
              <a:latin typeface="Menlo"/>
            </a:endParaRPr>
          </a:p>
          <a:p>
            <a:pPr>
              <a:buNone/>
            </a:pPr>
            <a:r>
              <a:rPr lang="en-IN" sz="1100" b="0" i="0" dirty="0">
                <a:solidFill>
                  <a:srgbClr val="0E00FF"/>
                </a:solidFill>
                <a:effectLst/>
                <a:latin typeface="Menlo"/>
              </a:rPr>
              <a:t>end</a:t>
            </a:r>
            <a:endParaRPr lang="en-IN" sz="1100" b="0" i="0" dirty="0">
              <a:effectLst/>
              <a:latin typeface="Menlo"/>
            </a:endParaRPr>
          </a:p>
        </p:txBody>
      </p:sp>
    </p:spTree>
    <p:extLst>
      <p:ext uri="{BB962C8B-B14F-4D97-AF65-F5344CB8AC3E}">
        <p14:creationId xmlns:p14="http://schemas.microsoft.com/office/powerpoint/2010/main" val="18488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243A-A7F3-D67E-7EA4-6C5F39FF7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71938-9DEE-1290-9503-8A02BA56CC57}"/>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E925F9B6-5F0F-7F8A-B88C-84713A266CAB}"/>
              </a:ext>
            </a:extLst>
          </p:cNvPr>
          <p:cNvSpPr>
            <a:spLocks noGrp="1"/>
          </p:cNvSpPr>
          <p:nvPr>
            <p:ph idx="1"/>
          </p:nvPr>
        </p:nvSpPr>
        <p:spPr>
          <a:xfrm>
            <a:off x="6858000" y="3690144"/>
            <a:ext cx="4747260" cy="1031875"/>
          </a:xfrm>
        </p:spPr>
        <p:txBody>
          <a:bodyPr/>
          <a:lstStyle/>
          <a:p>
            <a:pPr marL="0" indent="0">
              <a:buNone/>
            </a:pPr>
            <a:r>
              <a:rPr lang="en-US" dirty="0"/>
              <a:t>Dataset Saving Logic for further model training</a:t>
            </a:r>
            <a:endParaRPr lang="en-IN" dirty="0"/>
          </a:p>
        </p:txBody>
      </p:sp>
      <p:sp>
        <p:nvSpPr>
          <p:cNvPr id="4" name="Slide Number Placeholder 3">
            <a:extLst>
              <a:ext uri="{FF2B5EF4-FFF2-40B4-BE49-F238E27FC236}">
                <a16:creationId xmlns:a16="http://schemas.microsoft.com/office/drawing/2014/main" id="{9AAF9ADE-2646-29A2-DD72-0C2F74D820D5}"/>
              </a:ext>
            </a:extLst>
          </p:cNvPr>
          <p:cNvSpPr>
            <a:spLocks noGrp="1"/>
          </p:cNvSpPr>
          <p:nvPr>
            <p:ph type="sldNum" sz="quarter" idx="12"/>
          </p:nvPr>
        </p:nvSpPr>
        <p:spPr/>
        <p:txBody>
          <a:bodyPr/>
          <a:lstStyle/>
          <a:p>
            <a:fld id="{592B932E-453C-43E9-9683-166E224458DF}" type="slidenum">
              <a:rPr lang="en-IN" smtClean="0"/>
              <a:t>11</a:t>
            </a:fld>
            <a:endParaRPr lang="en-IN"/>
          </a:p>
        </p:txBody>
      </p:sp>
      <p:sp>
        <p:nvSpPr>
          <p:cNvPr id="6" name="TextBox 5">
            <a:extLst>
              <a:ext uri="{FF2B5EF4-FFF2-40B4-BE49-F238E27FC236}">
                <a16:creationId xmlns:a16="http://schemas.microsoft.com/office/drawing/2014/main" id="{A60D4FB7-11D0-E102-002D-2198ED58DC9B}"/>
              </a:ext>
            </a:extLst>
          </p:cNvPr>
          <p:cNvSpPr txBox="1"/>
          <p:nvPr/>
        </p:nvSpPr>
        <p:spPr>
          <a:xfrm>
            <a:off x="586740" y="1366163"/>
            <a:ext cx="6097904" cy="5355312"/>
          </a:xfrm>
          <a:prstGeom prst="rect">
            <a:avLst/>
          </a:prstGeom>
          <a:noFill/>
        </p:spPr>
        <p:txBody>
          <a:bodyPr wrap="square">
            <a:spAutoFit/>
          </a:bodyPr>
          <a:lstStyle/>
          <a:p>
            <a:pPr>
              <a:buNone/>
            </a:pPr>
            <a:r>
              <a:rPr lang="en-IN" sz="1800" b="0" i="0" dirty="0">
                <a:solidFill>
                  <a:srgbClr val="008013"/>
                </a:solidFill>
                <a:effectLst/>
                <a:latin typeface="Menlo"/>
              </a:rPr>
              <a:t>%% Save Dataset</a:t>
            </a:r>
            <a:endParaRPr lang="en-IN" sz="1800" b="0" i="0" dirty="0">
              <a:effectLst/>
              <a:latin typeface="Menlo"/>
            </a:endParaRPr>
          </a:p>
          <a:p>
            <a:pPr>
              <a:buNone/>
            </a:pPr>
            <a:r>
              <a:rPr lang="en-IN" sz="1800" b="0" i="0" dirty="0">
                <a:effectLst/>
                <a:latin typeface="Menlo"/>
              </a:rPr>
              <a:t>timestamp = </a:t>
            </a:r>
            <a:r>
              <a:rPr lang="en-IN" sz="1800" b="0" i="0" dirty="0" err="1">
                <a:effectLst/>
                <a:latin typeface="Menlo"/>
              </a:rPr>
              <a:t>datestr</a:t>
            </a:r>
            <a:r>
              <a:rPr lang="en-IN" sz="1800" b="0" i="0" dirty="0">
                <a:effectLst/>
                <a:latin typeface="Menlo"/>
              </a:rPr>
              <a:t>(now, </a:t>
            </a:r>
            <a:r>
              <a:rPr lang="en-IN" sz="1800" b="0" i="0" dirty="0">
                <a:solidFill>
                  <a:srgbClr val="A709F5"/>
                </a:solidFill>
                <a:effectLst/>
                <a:latin typeface="Menlo"/>
              </a:rPr>
              <a:t>'</a:t>
            </a:r>
            <a:r>
              <a:rPr lang="en-IN" sz="1800" b="0" i="0" dirty="0" err="1">
                <a:solidFill>
                  <a:srgbClr val="A709F5"/>
                </a:solidFill>
                <a:effectLst/>
                <a:latin typeface="Menlo"/>
              </a:rPr>
              <a:t>yyyymmdd_HHMMSS</a:t>
            </a:r>
            <a:r>
              <a:rPr lang="en-IN" sz="1800" b="0" i="0" dirty="0">
                <a:solidFill>
                  <a:srgbClr val="A709F5"/>
                </a:solidFill>
                <a:effectLst/>
                <a:latin typeface="Menlo"/>
              </a:rPr>
              <a:t>'</a:t>
            </a:r>
            <a:r>
              <a:rPr lang="en-IN" sz="1800" b="0" i="0" dirty="0">
                <a:effectLst/>
                <a:latin typeface="Menlo"/>
              </a:rPr>
              <a:t>);</a:t>
            </a:r>
          </a:p>
          <a:p>
            <a:pPr>
              <a:buNone/>
            </a:pPr>
            <a:r>
              <a:rPr lang="en-IN" sz="1800" b="0" i="0" dirty="0">
                <a:effectLst/>
                <a:latin typeface="Menlo"/>
              </a:rPr>
              <a:t>filename = </a:t>
            </a:r>
            <a:r>
              <a:rPr lang="en-IN" sz="1800" b="0" i="0" dirty="0" err="1">
                <a:effectLst/>
                <a:latin typeface="Menlo"/>
              </a:rPr>
              <a:t>sprintf</a:t>
            </a:r>
            <a:r>
              <a:rPr lang="en-IN" sz="1800" b="0" i="0" dirty="0">
                <a:effectLst/>
                <a:latin typeface="Menlo"/>
              </a:rPr>
              <a:t>(</a:t>
            </a:r>
            <a:r>
              <a:rPr lang="en-IN" sz="1800" b="0" i="0" dirty="0">
                <a:solidFill>
                  <a:srgbClr val="A709F5"/>
                </a:solidFill>
                <a:effectLst/>
                <a:latin typeface="Menlo"/>
              </a:rPr>
              <a:t>'EMG_Dataset_%</a:t>
            </a:r>
            <a:r>
              <a:rPr lang="en-IN" sz="1800" b="0" i="0" dirty="0" err="1">
                <a:solidFill>
                  <a:srgbClr val="A709F5"/>
                </a:solidFill>
                <a:effectLst/>
                <a:latin typeface="Menlo"/>
              </a:rPr>
              <a:t>s.mat</a:t>
            </a:r>
            <a:r>
              <a:rPr lang="en-IN" sz="1800" b="0" i="0" dirty="0">
                <a:solidFill>
                  <a:srgbClr val="A709F5"/>
                </a:solidFill>
                <a:effectLst/>
                <a:latin typeface="Menlo"/>
              </a:rPr>
              <a:t>'</a:t>
            </a:r>
            <a:r>
              <a:rPr lang="en-IN" sz="1800" b="0" i="0" dirty="0">
                <a:effectLst/>
                <a:latin typeface="Menlo"/>
              </a:rPr>
              <a:t>, timestamp);</a:t>
            </a:r>
          </a:p>
          <a:p>
            <a:pPr>
              <a:buNone/>
            </a:pPr>
            <a:br>
              <a:rPr lang="en-IN" sz="1800" b="0" i="0" dirty="0">
                <a:effectLst/>
                <a:latin typeface="Menlo"/>
              </a:rPr>
            </a:br>
            <a:endParaRPr lang="en-IN" sz="1800" b="0" i="0" dirty="0">
              <a:effectLst/>
              <a:latin typeface="Menlo"/>
            </a:endParaRPr>
          </a:p>
          <a:p>
            <a:pPr>
              <a:buNone/>
            </a:pPr>
            <a:r>
              <a:rPr lang="en-IN" sz="1800" b="0" i="0" dirty="0">
                <a:solidFill>
                  <a:srgbClr val="008013"/>
                </a:solidFill>
                <a:effectLst/>
                <a:latin typeface="Menlo"/>
              </a:rPr>
              <a:t>% Prepare final dataset structure</a:t>
            </a:r>
            <a:endParaRPr lang="en-IN" sz="1800" b="0" i="0" dirty="0">
              <a:effectLst/>
              <a:latin typeface="Menlo"/>
            </a:endParaRPr>
          </a:p>
          <a:p>
            <a:pPr>
              <a:buNone/>
            </a:pPr>
            <a:r>
              <a:rPr lang="en-IN" sz="1800" b="0" i="0" dirty="0">
                <a:effectLst/>
                <a:latin typeface="Menlo"/>
              </a:rPr>
              <a:t>dataset = struct();</a:t>
            </a:r>
          </a:p>
          <a:p>
            <a:pPr>
              <a:buNone/>
            </a:pPr>
            <a:r>
              <a:rPr lang="en-IN" sz="1800" b="0" i="0" dirty="0" err="1">
                <a:effectLst/>
                <a:latin typeface="Menlo"/>
              </a:rPr>
              <a:t>dataset.X</a:t>
            </a:r>
            <a:r>
              <a:rPr lang="en-IN" sz="1800" b="0" i="0" dirty="0">
                <a:effectLst/>
                <a:latin typeface="Menlo"/>
              </a:rPr>
              <a:t> = </a:t>
            </a:r>
            <a:r>
              <a:rPr lang="en-IN" sz="1800" b="0" i="0" dirty="0" err="1">
                <a:effectLst/>
                <a:latin typeface="Menlo"/>
              </a:rPr>
              <a:t>allFeatures</a:t>
            </a:r>
            <a:r>
              <a:rPr lang="en-IN" sz="1800" b="0" i="0" dirty="0">
                <a:effectLst/>
                <a:latin typeface="Menlo"/>
              </a:rPr>
              <a:t>; </a:t>
            </a:r>
            <a:r>
              <a:rPr lang="en-IN" sz="1800" b="0" i="0" dirty="0">
                <a:solidFill>
                  <a:srgbClr val="008013"/>
                </a:solidFill>
                <a:effectLst/>
                <a:latin typeface="Menlo"/>
              </a:rPr>
              <a:t>% Feature matrix (N x features)</a:t>
            </a:r>
            <a:endParaRPr lang="en-IN" sz="1800" b="0" i="0" dirty="0">
              <a:effectLst/>
              <a:latin typeface="Menlo"/>
            </a:endParaRPr>
          </a:p>
          <a:p>
            <a:pPr>
              <a:buNone/>
            </a:pPr>
            <a:r>
              <a:rPr lang="en-IN" sz="1800" b="0" i="0" dirty="0" err="1">
                <a:effectLst/>
                <a:latin typeface="Menlo"/>
              </a:rPr>
              <a:t>dataset.Y</a:t>
            </a:r>
            <a:r>
              <a:rPr lang="en-IN" sz="1800" b="0" i="0" dirty="0">
                <a:effectLst/>
                <a:latin typeface="Menlo"/>
              </a:rPr>
              <a:t> = </a:t>
            </a:r>
            <a:r>
              <a:rPr lang="en-IN" sz="1800" b="0" i="0" dirty="0" err="1">
                <a:effectLst/>
                <a:latin typeface="Menlo"/>
              </a:rPr>
              <a:t>allLabels</a:t>
            </a:r>
            <a:r>
              <a:rPr lang="en-IN" sz="1800" b="0" i="0" dirty="0">
                <a:effectLst/>
                <a:latin typeface="Menlo"/>
              </a:rPr>
              <a:t>; </a:t>
            </a:r>
            <a:r>
              <a:rPr lang="en-IN" sz="1800" b="0" i="0" dirty="0">
                <a:solidFill>
                  <a:srgbClr val="008013"/>
                </a:solidFill>
                <a:effectLst/>
                <a:latin typeface="Menlo"/>
              </a:rPr>
              <a:t>% Labels (N x 1)</a:t>
            </a:r>
            <a:endParaRPr lang="en-IN" sz="1800" b="0" i="0" dirty="0">
              <a:effectLst/>
              <a:latin typeface="Menlo"/>
            </a:endParaRPr>
          </a:p>
          <a:p>
            <a:pPr>
              <a:buNone/>
            </a:pPr>
            <a:r>
              <a:rPr lang="en-IN" sz="1800" b="0" i="0" dirty="0" err="1">
                <a:effectLst/>
                <a:latin typeface="Menlo"/>
              </a:rPr>
              <a:t>dataset.gestureNames</a:t>
            </a:r>
            <a:r>
              <a:rPr lang="en-IN" sz="1800" b="0" i="0" dirty="0">
                <a:effectLst/>
                <a:latin typeface="Menlo"/>
              </a:rPr>
              <a:t> = </a:t>
            </a:r>
            <a:r>
              <a:rPr lang="en-IN" sz="1800" b="0" i="0" dirty="0" err="1">
                <a:effectLst/>
                <a:latin typeface="Menlo"/>
              </a:rPr>
              <a:t>config.gestureNames</a:t>
            </a:r>
            <a:r>
              <a:rPr lang="en-IN" sz="1800" b="0" i="0" dirty="0">
                <a:effectLst/>
                <a:latin typeface="Menlo"/>
              </a:rPr>
              <a:t>; </a:t>
            </a:r>
            <a:r>
              <a:rPr lang="en-IN" sz="1800" b="0" i="0" dirty="0">
                <a:solidFill>
                  <a:srgbClr val="008013"/>
                </a:solidFill>
                <a:effectLst/>
                <a:latin typeface="Menlo"/>
              </a:rPr>
              <a:t>% Gesture name mapping</a:t>
            </a:r>
            <a:endParaRPr lang="en-IN" sz="1800" b="0" i="0" dirty="0">
              <a:effectLst/>
              <a:latin typeface="Menlo"/>
            </a:endParaRPr>
          </a:p>
          <a:p>
            <a:pPr>
              <a:buNone/>
            </a:pPr>
            <a:r>
              <a:rPr lang="en-IN" sz="1800" b="0" i="0" dirty="0" err="1">
                <a:effectLst/>
                <a:latin typeface="Menlo"/>
              </a:rPr>
              <a:t>dataset.featureNames</a:t>
            </a:r>
            <a:r>
              <a:rPr lang="en-IN" sz="1800" b="0" i="0" dirty="0">
                <a:effectLst/>
                <a:latin typeface="Menlo"/>
              </a:rPr>
              <a:t> = {</a:t>
            </a:r>
            <a:r>
              <a:rPr lang="en-IN" sz="1800" b="0" i="0" dirty="0">
                <a:solidFill>
                  <a:srgbClr val="A709F5"/>
                </a:solidFill>
                <a:effectLst/>
                <a:latin typeface="Menlo"/>
              </a:rPr>
              <a:t>'MAV'</a:t>
            </a:r>
            <a:r>
              <a:rPr lang="en-IN" sz="1800" b="0" i="0" dirty="0">
                <a:effectLst/>
                <a:latin typeface="Menlo"/>
              </a:rPr>
              <a:t>, </a:t>
            </a:r>
            <a:r>
              <a:rPr lang="en-IN" sz="1800" b="0" i="0" dirty="0">
                <a:solidFill>
                  <a:srgbClr val="A709F5"/>
                </a:solidFill>
                <a:effectLst/>
                <a:latin typeface="Menlo"/>
              </a:rPr>
              <a:t>'RMS'</a:t>
            </a:r>
            <a:r>
              <a:rPr lang="en-IN" sz="1800" b="0" i="0" dirty="0">
                <a:effectLst/>
                <a:latin typeface="Menlo"/>
              </a:rPr>
              <a:t>}; </a:t>
            </a:r>
            <a:r>
              <a:rPr lang="en-IN" sz="1800" b="0" i="0" dirty="0">
                <a:solidFill>
                  <a:srgbClr val="008013"/>
                </a:solidFill>
                <a:effectLst/>
                <a:latin typeface="Menlo"/>
              </a:rPr>
              <a:t>% Feature names</a:t>
            </a:r>
            <a:endParaRPr lang="en-IN" sz="1800" b="0" i="0" dirty="0">
              <a:effectLst/>
              <a:latin typeface="Menlo"/>
            </a:endParaRPr>
          </a:p>
          <a:p>
            <a:pPr>
              <a:buNone/>
            </a:pPr>
            <a:r>
              <a:rPr lang="en-IN" sz="1800" b="0" i="0" dirty="0" err="1">
                <a:effectLst/>
                <a:latin typeface="Menlo"/>
              </a:rPr>
              <a:t>dataset.acquisitionInfo</a:t>
            </a:r>
            <a:r>
              <a:rPr lang="en-IN" sz="1800" b="0" i="0" dirty="0">
                <a:effectLst/>
                <a:latin typeface="Menlo"/>
              </a:rPr>
              <a:t> = </a:t>
            </a:r>
            <a:r>
              <a:rPr lang="en-IN" sz="1800" b="0" i="0" dirty="0" err="1">
                <a:effectLst/>
                <a:latin typeface="Menlo"/>
              </a:rPr>
              <a:t>acquisitionInfo</a:t>
            </a:r>
            <a:r>
              <a:rPr lang="en-IN" sz="1800" b="0" i="0" dirty="0">
                <a:effectLst/>
                <a:latin typeface="Menlo"/>
              </a:rPr>
              <a:t>; </a:t>
            </a:r>
            <a:r>
              <a:rPr lang="en-IN" sz="1800" b="0" i="0" dirty="0">
                <a:solidFill>
                  <a:srgbClr val="008013"/>
                </a:solidFill>
                <a:effectLst/>
                <a:latin typeface="Menlo"/>
              </a:rPr>
              <a:t>% All metadata</a:t>
            </a:r>
            <a:endParaRPr lang="en-IN" sz="1800" b="0" i="0" dirty="0">
              <a:effectLst/>
              <a:latin typeface="Menlo"/>
            </a:endParaRPr>
          </a:p>
          <a:p>
            <a:pPr>
              <a:buNone/>
            </a:pPr>
            <a:br>
              <a:rPr lang="en-IN" sz="1800" b="0" i="0" dirty="0">
                <a:effectLst/>
                <a:latin typeface="Menlo"/>
              </a:rPr>
            </a:br>
            <a:endParaRPr lang="en-IN" sz="1800" b="0" i="0" dirty="0">
              <a:effectLst/>
              <a:latin typeface="Menlo"/>
            </a:endParaRPr>
          </a:p>
          <a:p>
            <a:pPr>
              <a:buNone/>
            </a:pPr>
            <a:r>
              <a:rPr lang="en-IN" sz="1800" b="0" i="0" dirty="0">
                <a:effectLst/>
                <a:latin typeface="Menlo"/>
              </a:rPr>
              <a:t>save(filename, </a:t>
            </a:r>
            <a:r>
              <a:rPr lang="en-IN" sz="1800" b="0" i="0" dirty="0">
                <a:solidFill>
                  <a:srgbClr val="A709F5"/>
                </a:solidFill>
                <a:effectLst/>
                <a:latin typeface="Menlo"/>
              </a:rPr>
              <a:t>'dataset'</a:t>
            </a:r>
            <a:r>
              <a:rPr lang="en-IN" sz="1800" b="0" i="0" dirty="0">
                <a:effectLst/>
                <a:latin typeface="Menlo"/>
              </a:rPr>
              <a:t>);</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'\n✓ Dataset saved as: %s\n'</a:t>
            </a:r>
            <a:r>
              <a:rPr lang="en-IN" sz="1800" b="0" i="0" dirty="0">
                <a:effectLst/>
                <a:latin typeface="Menlo"/>
              </a:rPr>
              <a:t>, filename);</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'Total samples collected: %d\n'</a:t>
            </a:r>
            <a:r>
              <a:rPr lang="en-IN" sz="1800" b="0" i="0" dirty="0">
                <a:effectLst/>
                <a:latin typeface="Menlo"/>
              </a:rPr>
              <a:t>, length(</a:t>
            </a:r>
            <a:r>
              <a:rPr lang="en-IN" sz="1800" b="0" i="0" dirty="0" err="1">
                <a:effectLst/>
                <a:latin typeface="Menlo"/>
              </a:rPr>
              <a:t>allLabels</a:t>
            </a:r>
            <a:r>
              <a:rPr lang="en-IN" sz="1800" b="0" i="0" dirty="0">
                <a:effectLst/>
                <a:latin typeface="Menlo"/>
              </a:rPr>
              <a:t>));</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'Features per sample: %d\n'</a:t>
            </a:r>
            <a:r>
              <a:rPr lang="en-IN" sz="1800" b="0" i="0" dirty="0">
                <a:effectLst/>
                <a:latin typeface="Menlo"/>
              </a:rPr>
              <a:t>, size(</a:t>
            </a:r>
            <a:r>
              <a:rPr lang="en-IN" sz="1800" b="0" i="0" dirty="0" err="1">
                <a:effectLst/>
                <a:latin typeface="Menlo"/>
              </a:rPr>
              <a:t>allFeatures</a:t>
            </a:r>
            <a:r>
              <a:rPr lang="en-IN" sz="1800" b="0" i="0" dirty="0">
                <a:effectLst/>
                <a:latin typeface="Menlo"/>
              </a:rPr>
              <a:t>, 2));</a:t>
            </a:r>
          </a:p>
        </p:txBody>
      </p:sp>
    </p:spTree>
    <p:extLst>
      <p:ext uri="{BB962C8B-B14F-4D97-AF65-F5344CB8AC3E}">
        <p14:creationId xmlns:p14="http://schemas.microsoft.com/office/powerpoint/2010/main" val="2929107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86370-47A0-EE89-9CC7-AAECF0A2A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FE70B-2A1F-CF2D-A36C-0B125A0DC484}"/>
              </a:ext>
            </a:extLst>
          </p:cNvPr>
          <p:cNvSpPr>
            <a:spLocks noGrp="1"/>
          </p:cNvSpPr>
          <p:nvPr>
            <p:ph type="title"/>
          </p:nvPr>
        </p:nvSpPr>
        <p:spPr/>
        <p:txBody>
          <a:bodyPr/>
          <a:lstStyle/>
          <a:p>
            <a:r>
              <a:rPr lang="en-US" dirty="0"/>
              <a:t>MATLAB Script Overview</a:t>
            </a:r>
            <a:endParaRPr lang="en-IN" dirty="0"/>
          </a:p>
        </p:txBody>
      </p:sp>
      <p:sp>
        <p:nvSpPr>
          <p:cNvPr id="3" name="Content Placeholder 2">
            <a:extLst>
              <a:ext uri="{FF2B5EF4-FFF2-40B4-BE49-F238E27FC236}">
                <a16:creationId xmlns:a16="http://schemas.microsoft.com/office/drawing/2014/main" id="{8B10B425-32CF-95D4-28C5-A8356163AFE4}"/>
              </a:ext>
            </a:extLst>
          </p:cNvPr>
          <p:cNvSpPr>
            <a:spLocks noGrp="1"/>
          </p:cNvSpPr>
          <p:nvPr>
            <p:ph idx="1"/>
          </p:nvPr>
        </p:nvSpPr>
        <p:spPr>
          <a:xfrm>
            <a:off x="6858000" y="3690144"/>
            <a:ext cx="4747260" cy="1031875"/>
          </a:xfrm>
        </p:spPr>
        <p:txBody>
          <a:bodyPr/>
          <a:lstStyle/>
          <a:p>
            <a:pPr marL="0" indent="0">
              <a:buNone/>
            </a:pPr>
            <a:r>
              <a:rPr lang="en-US" dirty="0"/>
              <a:t>Dataset Saving Logic for further model training</a:t>
            </a:r>
            <a:endParaRPr lang="en-IN" dirty="0"/>
          </a:p>
        </p:txBody>
      </p:sp>
      <p:sp>
        <p:nvSpPr>
          <p:cNvPr id="4" name="Slide Number Placeholder 3">
            <a:extLst>
              <a:ext uri="{FF2B5EF4-FFF2-40B4-BE49-F238E27FC236}">
                <a16:creationId xmlns:a16="http://schemas.microsoft.com/office/drawing/2014/main" id="{540A92FC-4EED-8114-BCBF-C77609F8635C}"/>
              </a:ext>
            </a:extLst>
          </p:cNvPr>
          <p:cNvSpPr>
            <a:spLocks noGrp="1"/>
          </p:cNvSpPr>
          <p:nvPr>
            <p:ph type="sldNum" sz="quarter" idx="12"/>
          </p:nvPr>
        </p:nvSpPr>
        <p:spPr/>
        <p:txBody>
          <a:bodyPr/>
          <a:lstStyle/>
          <a:p>
            <a:fld id="{592B932E-453C-43E9-9683-166E224458DF}" type="slidenum">
              <a:rPr lang="en-IN" smtClean="0"/>
              <a:t>12</a:t>
            </a:fld>
            <a:endParaRPr lang="en-IN"/>
          </a:p>
        </p:txBody>
      </p:sp>
      <p:sp>
        <p:nvSpPr>
          <p:cNvPr id="6" name="TextBox 5">
            <a:extLst>
              <a:ext uri="{FF2B5EF4-FFF2-40B4-BE49-F238E27FC236}">
                <a16:creationId xmlns:a16="http://schemas.microsoft.com/office/drawing/2014/main" id="{0BFEBE9A-12B8-79E1-BBAE-59F023F70327}"/>
              </a:ext>
            </a:extLst>
          </p:cNvPr>
          <p:cNvSpPr txBox="1"/>
          <p:nvPr/>
        </p:nvSpPr>
        <p:spPr>
          <a:xfrm>
            <a:off x="586740" y="1366163"/>
            <a:ext cx="6097904" cy="5355312"/>
          </a:xfrm>
          <a:prstGeom prst="rect">
            <a:avLst/>
          </a:prstGeom>
          <a:noFill/>
        </p:spPr>
        <p:txBody>
          <a:bodyPr wrap="square">
            <a:spAutoFit/>
          </a:bodyPr>
          <a:lstStyle/>
          <a:p>
            <a:pPr>
              <a:buNone/>
            </a:pPr>
            <a:r>
              <a:rPr lang="en-IN" sz="1800" b="0" i="0" dirty="0">
                <a:solidFill>
                  <a:srgbClr val="008013"/>
                </a:solidFill>
                <a:effectLst/>
                <a:latin typeface="Menlo"/>
              </a:rPr>
              <a:t>%% Save Dataset</a:t>
            </a:r>
            <a:endParaRPr lang="en-IN" sz="1800" b="0" i="0" dirty="0">
              <a:effectLst/>
              <a:latin typeface="Menlo"/>
            </a:endParaRPr>
          </a:p>
          <a:p>
            <a:pPr>
              <a:buNone/>
            </a:pPr>
            <a:r>
              <a:rPr lang="en-IN" sz="1800" b="0" i="0" dirty="0">
                <a:effectLst/>
                <a:latin typeface="Menlo"/>
              </a:rPr>
              <a:t>timestamp = </a:t>
            </a:r>
            <a:r>
              <a:rPr lang="en-IN" sz="1800" b="0" i="0" dirty="0" err="1">
                <a:effectLst/>
                <a:latin typeface="Menlo"/>
              </a:rPr>
              <a:t>datestr</a:t>
            </a:r>
            <a:r>
              <a:rPr lang="en-IN" sz="1800" b="0" i="0" dirty="0">
                <a:effectLst/>
                <a:latin typeface="Menlo"/>
              </a:rPr>
              <a:t>(now, </a:t>
            </a:r>
            <a:r>
              <a:rPr lang="en-IN" sz="1800" b="0" i="0" dirty="0">
                <a:solidFill>
                  <a:srgbClr val="A709F5"/>
                </a:solidFill>
                <a:effectLst/>
                <a:latin typeface="Menlo"/>
              </a:rPr>
              <a:t>'</a:t>
            </a:r>
            <a:r>
              <a:rPr lang="en-IN" sz="1800" b="0" i="0" dirty="0" err="1">
                <a:solidFill>
                  <a:srgbClr val="A709F5"/>
                </a:solidFill>
                <a:effectLst/>
                <a:latin typeface="Menlo"/>
              </a:rPr>
              <a:t>yyyymmdd_HHMMSS</a:t>
            </a:r>
            <a:r>
              <a:rPr lang="en-IN" sz="1800" b="0" i="0" dirty="0">
                <a:solidFill>
                  <a:srgbClr val="A709F5"/>
                </a:solidFill>
                <a:effectLst/>
                <a:latin typeface="Menlo"/>
              </a:rPr>
              <a:t>'</a:t>
            </a:r>
            <a:r>
              <a:rPr lang="en-IN" sz="1800" b="0" i="0" dirty="0">
                <a:effectLst/>
                <a:latin typeface="Menlo"/>
              </a:rPr>
              <a:t>);</a:t>
            </a:r>
          </a:p>
          <a:p>
            <a:pPr>
              <a:buNone/>
            </a:pPr>
            <a:r>
              <a:rPr lang="en-IN" sz="1800" b="0" i="0" dirty="0">
                <a:effectLst/>
                <a:latin typeface="Menlo"/>
              </a:rPr>
              <a:t>filename = </a:t>
            </a:r>
            <a:r>
              <a:rPr lang="en-IN" sz="1800" b="0" i="0" dirty="0" err="1">
                <a:effectLst/>
                <a:latin typeface="Menlo"/>
              </a:rPr>
              <a:t>sprintf</a:t>
            </a:r>
            <a:r>
              <a:rPr lang="en-IN" sz="1800" b="0" i="0" dirty="0">
                <a:effectLst/>
                <a:latin typeface="Menlo"/>
              </a:rPr>
              <a:t>(</a:t>
            </a:r>
            <a:r>
              <a:rPr lang="en-IN" sz="1800" b="0" i="0" dirty="0">
                <a:solidFill>
                  <a:srgbClr val="A709F5"/>
                </a:solidFill>
                <a:effectLst/>
                <a:latin typeface="Menlo"/>
              </a:rPr>
              <a:t>'EMG_Dataset_%</a:t>
            </a:r>
            <a:r>
              <a:rPr lang="en-IN" sz="1800" b="0" i="0" dirty="0" err="1">
                <a:solidFill>
                  <a:srgbClr val="A709F5"/>
                </a:solidFill>
                <a:effectLst/>
                <a:latin typeface="Menlo"/>
              </a:rPr>
              <a:t>s.mat</a:t>
            </a:r>
            <a:r>
              <a:rPr lang="en-IN" sz="1800" b="0" i="0" dirty="0">
                <a:solidFill>
                  <a:srgbClr val="A709F5"/>
                </a:solidFill>
                <a:effectLst/>
                <a:latin typeface="Menlo"/>
              </a:rPr>
              <a:t>'</a:t>
            </a:r>
            <a:r>
              <a:rPr lang="en-IN" sz="1800" b="0" i="0" dirty="0">
                <a:effectLst/>
                <a:latin typeface="Menlo"/>
              </a:rPr>
              <a:t>, timestamp);</a:t>
            </a:r>
          </a:p>
          <a:p>
            <a:pPr>
              <a:buNone/>
            </a:pPr>
            <a:br>
              <a:rPr lang="en-IN" sz="1800" b="0" i="0" dirty="0">
                <a:effectLst/>
                <a:latin typeface="Menlo"/>
              </a:rPr>
            </a:br>
            <a:endParaRPr lang="en-IN" sz="1800" b="0" i="0" dirty="0">
              <a:effectLst/>
              <a:latin typeface="Menlo"/>
            </a:endParaRPr>
          </a:p>
          <a:p>
            <a:pPr>
              <a:buNone/>
            </a:pPr>
            <a:r>
              <a:rPr lang="en-IN" sz="1800" b="0" i="0" dirty="0">
                <a:solidFill>
                  <a:srgbClr val="008013"/>
                </a:solidFill>
                <a:effectLst/>
                <a:latin typeface="Menlo"/>
              </a:rPr>
              <a:t>% Prepare final dataset structure</a:t>
            </a:r>
            <a:endParaRPr lang="en-IN" sz="1800" b="0" i="0" dirty="0">
              <a:effectLst/>
              <a:latin typeface="Menlo"/>
            </a:endParaRPr>
          </a:p>
          <a:p>
            <a:pPr>
              <a:buNone/>
            </a:pPr>
            <a:r>
              <a:rPr lang="en-IN" sz="1800" b="0" i="0" dirty="0">
                <a:effectLst/>
                <a:latin typeface="Menlo"/>
              </a:rPr>
              <a:t>dataset = struct();</a:t>
            </a:r>
          </a:p>
          <a:p>
            <a:pPr>
              <a:buNone/>
            </a:pPr>
            <a:r>
              <a:rPr lang="en-IN" sz="1800" b="0" i="0" dirty="0" err="1">
                <a:effectLst/>
                <a:latin typeface="Menlo"/>
              </a:rPr>
              <a:t>dataset.X</a:t>
            </a:r>
            <a:r>
              <a:rPr lang="en-IN" sz="1800" b="0" i="0" dirty="0">
                <a:effectLst/>
                <a:latin typeface="Menlo"/>
              </a:rPr>
              <a:t> = </a:t>
            </a:r>
            <a:r>
              <a:rPr lang="en-IN" sz="1800" b="0" i="0" dirty="0" err="1">
                <a:effectLst/>
                <a:latin typeface="Menlo"/>
              </a:rPr>
              <a:t>allFeatures</a:t>
            </a:r>
            <a:r>
              <a:rPr lang="en-IN" sz="1800" b="0" i="0" dirty="0">
                <a:effectLst/>
                <a:latin typeface="Menlo"/>
              </a:rPr>
              <a:t>; </a:t>
            </a:r>
            <a:r>
              <a:rPr lang="en-IN" sz="1800" b="0" i="0" dirty="0">
                <a:solidFill>
                  <a:srgbClr val="008013"/>
                </a:solidFill>
                <a:effectLst/>
                <a:latin typeface="Menlo"/>
              </a:rPr>
              <a:t>% Feature matrix (N x features)</a:t>
            </a:r>
            <a:endParaRPr lang="en-IN" sz="1800" b="0" i="0" dirty="0">
              <a:effectLst/>
              <a:latin typeface="Menlo"/>
            </a:endParaRPr>
          </a:p>
          <a:p>
            <a:pPr>
              <a:buNone/>
            </a:pPr>
            <a:r>
              <a:rPr lang="en-IN" sz="1800" b="0" i="0" dirty="0" err="1">
                <a:effectLst/>
                <a:latin typeface="Menlo"/>
              </a:rPr>
              <a:t>dataset.Y</a:t>
            </a:r>
            <a:r>
              <a:rPr lang="en-IN" sz="1800" b="0" i="0" dirty="0">
                <a:effectLst/>
                <a:latin typeface="Menlo"/>
              </a:rPr>
              <a:t> = </a:t>
            </a:r>
            <a:r>
              <a:rPr lang="en-IN" sz="1800" b="0" i="0" dirty="0" err="1">
                <a:effectLst/>
                <a:latin typeface="Menlo"/>
              </a:rPr>
              <a:t>allLabels</a:t>
            </a:r>
            <a:r>
              <a:rPr lang="en-IN" sz="1800" b="0" i="0" dirty="0">
                <a:effectLst/>
                <a:latin typeface="Menlo"/>
              </a:rPr>
              <a:t>; </a:t>
            </a:r>
            <a:r>
              <a:rPr lang="en-IN" sz="1800" b="0" i="0" dirty="0">
                <a:solidFill>
                  <a:srgbClr val="008013"/>
                </a:solidFill>
                <a:effectLst/>
                <a:latin typeface="Menlo"/>
              </a:rPr>
              <a:t>% Labels (N x 1)</a:t>
            </a:r>
            <a:endParaRPr lang="en-IN" sz="1800" b="0" i="0" dirty="0">
              <a:effectLst/>
              <a:latin typeface="Menlo"/>
            </a:endParaRPr>
          </a:p>
          <a:p>
            <a:pPr>
              <a:buNone/>
            </a:pPr>
            <a:r>
              <a:rPr lang="en-IN" sz="1800" b="0" i="0" dirty="0" err="1">
                <a:effectLst/>
                <a:latin typeface="Menlo"/>
              </a:rPr>
              <a:t>dataset.gestureNames</a:t>
            </a:r>
            <a:r>
              <a:rPr lang="en-IN" sz="1800" b="0" i="0" dirty="0">
                <a:effectLst/>
                <a:latin typeface="Menlo"/>
              </a:rPr>
              <a:t> = </a:t>
            </a:r>
            <a:r>
              <a:rPr lang="en-IN" sz="1800" b="0" i="0" dirty="0" err="1">
                <a:effectLst/>
                <a:latin typeface="Menlo"/>
              </a:rPr>
              <a:t>config.gestureNames</a:t>
            </a:r>
            <a:r>
              <a:rPr lang="en-IN" sz="1800" b="0" i="0" dirty="0">
                <a:effectLst/>
                <a:latin typeface="Menlo"/>
              </a:rPr>
              <a:t>; </a:t>
            </a:r>
            <a:r>
              <a:rPr lang="en-IN" sz="1800" b="0" i="0" dirty="0">
                <a:solidFill>
                  <a:srgbClr val="008013"/>
                </a:solidFill>
                <a:effectLst/>
                <a:latin typeface="Menlo"/>
              </a:rPr>
              <a:t>% Gesture name mapping</a:t>
            </a:r>
            <a:endParaRPr lang="en-IN" sz="1800" b="0" i="0" dirty="0">
              <a:effectLst/>
              <a:latin typeface="Menlo"/>
            </a:endParaRPr>
          </a:p>
          <a:p>
            <a:pPr>
              <a:buNone/>
            </a:pPr>
            <a:r>
              <a:rPr lang="en-IN" sz="1800" b="0" i="0" dirty="0" err="1">
                <a:effectLst/>
                <a:latin typeface="Menlo"/>
              </a:rPr>
              <a:t>dataset.featureNames</a:t>
            </a:r>
            <a:r>
              <a:rPr lang="en-IN" sz="1800" b="0" i="0" dirty="0">
                <a:effectLst/>
                <a:latin typeface="Menlo"/>
              </a:rPr>
              <a:t> = {</a:t>
            </a:r>
            <a:r>
              <a:rPr lang="en-IN" sz="1800" b="0" i="0" dirty="0">
                <a:solidFill>
                  <a:srgbClr val="A709F5"/>
                </a:solidFill>
                <a:effectLst/>
                <a:latin typeface="Menlo"/>
              </a:rPr>
              <a:t>'MAV'</a:t>
            </a:r>
            <a:r>
              <a:rPr lang="en-IN" sz="1800" b="0" i="0" dirty="0">
                <a:effectLst/>
                <a:latin typeface="Menlo"/>
              </a:rPr>
              <a:t>, </a:t>
            </a:r>
            <a:r>
              <a:rPr lang="en-IN" sz="1800" b="0" i="0" dirty="0">
                <a:solidFill>
                  <a:srgbClr val="A709F5"/>
                </a:solidFill>
                <a:effectLst/>
                <a:latin typeface="Menlo"/>
              </a:rPr>
              <a:t>'RMS'</a:t>
            </a:r>
            <a:r>
              <a:rPr lang="en-IN" sz="1800" b="0" i="0" dirty="0">
                <a:effectLst/>
                <a:latin typeface="Menlo"/>
              </a:rPr>
              <a:t>}; </a:t>
            </a:r>
            <a:r>
              <a:rPr lang="en-IN" sz="1800" b="0" i="0" dirty="0">
                <a:solidFill>
                  <a:srgbClr val="008013"/>
                </a:solidFill>
                <a:effectLst/>
                <a:latin typeface="Menlo"/>
              </a:rPr>
              <a:t>% Feature names</a:t>
            </a:r>
            <a:endParaRPr lang="en-IN" sz="1800" b="0" i="0" dirty="0">
              <a:effectLst/>
              <a:latin typeface="Menlo"/>
            </a:endParaRPr>
          </a:p>
          <a:p>
            <a:pPr>
              <a:buNone/>
            </a:pPr>
            <a:r>
              <a:rPr lang="en-IN" sz="1800" b="0" i="0" dirty="0" err="1">
                <a:effectLst/>
                <a:latin typeface="Menlo"/>
              </a:rPr>
              <a:t>dataset.acquisitionInfo</a:t>
            </a:r>
            <a:r>
              <a:rPr lang="en-IN" sz="1800" b="0" i="0" dirty="0">
                <a:effectLst/>
                <a:latin typeface="Menlo"/>
              </a:rPr>
              <a:t> = </a:t>
            </a:r>
            <a:r>
              <a:rPr lang="en-IN" sz="1800" b="0" i="0" dirty="0" err="1">
                <a:effectLst/>
                <a:latin typeface="Menlo"/>
              </a:rPr>
              <a:t>acquisitionInfo</a:t>
            </a:r>
            <a:r>
              <a:rPr lang="en-IN" sz="1800" b="0" i="0" dirty="0">
                <a:effectLst/>
                <a:latin typeface="Menlo"/>
              </a:rPr>
              <a:t>; </a:t>
            </a:r>
            <a:r>
              <a:rPr lang="en-IN" sz="1800" b="0" i="0" dirty="0">
                <a:solidFill>
                  <a:srgbClr val="008013"/>
                </a:solidFill>
                <a:effectLst/>
                <a:latin typeface="Menlo"/>
              </a:rPr>
              <a:t>% All metadata</a:t>
            </a:r>
            <a:endParaRPr lang="en-IN" sz="1800" b="0" i="0" dirty="0">
              <a:effectLst/>
              <a:latin typeface="Menlo"/>
            </a:endParaRPr>
          </a:p>
          <a:p>
            <a:pPr>
              <a:buNone/>
            </a:pPr>
            <a:br>
              <a:rPr lang="en-IN" sz="1800" b="0" i="0" dirty="0">
                <a:effectLst/>
                <a:latin typeface="Menlo"/>
              </a:rPr>
            </a:br>
            <a:endParaRPr lang="en-IN" sz="1800" b="0" i="0" dirty="0">
              <a:effectLst/>
              <a:latin typeface="Menlo"/>
            </a:endParaRPr>
          </a:p>
          <a:p>
            <a:pPr>
              <a:buNone/>
            </a:pPr>
            <a:r>
              <a:rPr lang="en-IN" sz="1800" b="0" i="0" dirty="0">
                <a:effectLst/>
                <a:latin typeface="Menlo"/>
              </a:rPr>
              <a:t>save(filename, </a:t>
            </a:r>
            <a:r>
              <a:rPr lang="en-IN" sz="1800" b="0" i="0" dirty="0">
                <a:solidFill>
                  <a:srgbClr val="A709F5"/>
                </a:solidFill>
                <a:effectLst/>
                <a:latin typeface="Menlo"/>
              </a:rPr>
              <a:t>'dataset'</a:t>
            </a:r>
            <a:r>
              <a:rPr lang="en-IN" sz="1800" b="0" i="0" dirty="0">
                <a:effectLst/>
                <a:latin typeface="Menlo"/>
              </a:rPr>
              <a:t>);</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'\n✓ Dataset saved as: %s\n'</a:t>
            </a:r>
            <a:r>
              <a:rPr lang="en-IN" sz="1800" b="0" i="0" dirty="0">
                <a:effectLst/>
                <a:latin typeface="Menlo"/>
              </a:rPr>
              <a:t>, filename);</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'Total samples collected: %d\n'</a:t>
            </a:r>
            <a:r>
              <a:rPr lang="en-IN" sz="1800" b="0" i="0" dirty="0">
                <a:effectLst/>
                <a:latin typeface="Menlo"/>
              </a:rPr>
              <a:t>, length(</a:t>
            </a:r>
            <a:r>
              <a:rPr lang="en-IN" sz="1800" b="0" i="0" dirty="0" err="1">
                <a:effectLst/>
                <a:latin typeface="Menlo"/>
              </a:rPr>
              <a:t>allLabels</a:t>
            </a:r>
            <a:r>
              <a:rPr lang="en-IN" sz="1800" b="0" i="0" dirty="0">
                <a:effectLst/>
                <a:latin typeface="Menlo"/>
              </a:rPr>
              <a:t>));</a:t>
            </a:r>
          </a:p>
          <a:p>
            <a:pPr>
              <a:buNone/>
            </a:pPr>
            <a:r>
              <a:rPr lang="en-IN" sz="1800" b="0" i="0" dirty="0" err="1">
                <a:effectLst/>
                <a:latin typeface="Menlo"/>
              </a:rPr>
              <a:t>fprintf</a:t>
            </a:r>
            <a:r>
              <a:rPr lang="en-IN" sz="1800" b="0" i="0" dirty="0">
                <a:effectLst/>
                <a:latin typeface="Menlo"/>
              </a:rPr>
              <a:t>(</a:t>
            </a:r>
            <a:r>
              <a:rPr lang="en-IN" sz="1800" b="0" i="0" dirty="0">
                <a:solidFill>
                  <a:srgbClr val="A709F5"/>
                </a:solidFill>
                <a:effectLst/>
                <a:latin typeface="Menlo"/>
              </a:rPr>
              <a:t>'Features per sample: %d\n'</a:t>
            </a:r>
            <a:r>
              <a:rPr lang="en-IN" sz="1800" b="0" i="0" dirty="0">
                <a:effectLst/>
                <a:latin typeface="Menlo"/>
              </a:rPr>
              <a:t>, size(</a:t>
            </a:r>
            <a:r>
              <a:rPr lang="en-IN" sz="1800" b="0" i="0" dirty="0" err="1">
                <a:effectLst/>
                <a:latin typeface="Menlo"/>
              </a:rPr>
              <a:t>allFeatures</a:t>
            </a:r>
            <a:r>
              <a:rPr lang="en-IN" sz="1800" b="0" i="0" dirty="0">
                <a:effectLst/>
                <a:latin typeface="Menlo"/>
              </a:rPr>
              <a:t>, 2));</a:t>
            </a:r>
          </a:p>
        </p:txBody>
      </p:sp>
    </p:spTree>
    <p:extLst>
      <p:ext uri="{BB962C8B-B14F-4D97-AF65-F5344CB8AC3E}">
        <p14:creationId xmlns:p14="http://schemas.microsoft.com/office/powerpoint/2010/main" val="1780590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4ED0-78E3-7700-A13D-856689615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7B7D4-36D1-6F4B-4DBC-5741BDC77F91}"/>
              </a:ext>
            </a:extLst>
          </p:cNvPr>
          <p:cNvSpPr>
            <a:spLocks noGrp="1"/>
          </p:cNvSpPr>
          <p:nvPr>
            <p:ph type="title"/>
          </p:nvPr>
        </p:nvSpPr>
        <p:spPr/>
        <p:txBody>
          <a:bodyPr/>
          <a:lstStyle/>
          <a:p>
            <a:r>
              <a:rPr lang="en-US" dirty="0"/>
              <a:t>Saved Dataset</a:t>
            </a:r>
            <a:endParaRPr lang="en-IN" dirty="0"/>
          </a:p>
        </p:txBody>
      </p:sp>
      <p:sp>
        <p:nvSpPr>
          <p:cNvPr id="4" name="Slide Number Placeholder 3">
            <a:extLst>
              <a:ext uri="{FF2B5EF4-FFF2-40B4-BE49-F238E27FC236}">
                <a16:creationId xmlns:a16="http://schemas.microsoft.com/office/drawing/2014/main" id="{503E69DE-43F6-CF16-B52F-FEDE14711250}"/>
              </a:ext>
            </a:extLst>
          </p:cNvPr>
          <p:cNvSpPr>
            <a:spLocks noGrp="1"/>
          </p:cNvSpPr>
          <p:nvPr>
            <p:ph type="sldNum" sz="quarter" idx="12"/>
          </p:nvPr>
        </p:nvSpPr>
        <p:spPr/>
        <p:txBody>
          <a:bodyPr/>
          <a:lstStyle/>
          <a:p>
            <a:fld id="{592B932E-453C-43E9-9683-166E224458DF}" type="slidenum">
              <a:rPr lang="en-IN" smtClean="0"/>
              <a:t>13</a:t>
            </a:fld>
            <a:endParaRPr lang="en-IN" dirty="0"/>
          </a:p>
        </p:txBody>
      </p:sp>
      <p:pic>
        <p:nvPicPr>
          <p:cNvPr id="7" name="Picture 6">
            <a:extLst>
              <a:ext uri="{FF2B5EF4-FFF2-40B4-BE49-F238E27FC236}">
                <a16:creationId xmlns:a16="http://schemas.microsoft.com/office/drawing/2014/main" id="{AA338615-2328-A7BD-B8D1-5533A47D5D7F}"/>
              </a:ext>
            </a:extLst>
          </p:cNvPr>
          <p:cNvPicPr>
            <a:picLocks noChangeAspect="1"/>
          </p:cNvPicPr>
          <p:nvPr/>
        </p:nvPicPr>
        <p:blipFill>
          <a:blip r:embed="rId2"/>
          <a:stretch>
            <a:fillRect/>
          </a:stretch>
        </p:blipFill>
        <p:spPr>
          <a:xfrm>
            <a:off x="7524750" y="404633"/>
            <a:ext cx="4525006" cy="2572109"/>
          </a:xfrm>
          <a:prstGeom prst="rect">
            <a:avLst/>
          </a:prstGeom>
        </p:spPr>
      </p:pic>
      <p:pic>
        <p:nvPicPr>
          <p:cNvPr id="11" name="Picture 10">
            <a:extLst>
              <a:ext uri="{FF2B5EF4-FFF2-40B4-BE49-F238E27FC236}">
                <a16:creationId xmlns:a16="http://schemas.microsoft.com/office/drawing/2014/main" id="{9D2283E9-512B-08FB-BF7E-173A4DD28CD4}"/>
              </a:ext>
            </a:extLst>
          </p:cNvPr>
          <p:cNvPicPr>
            <a:picLocks noChangeAspect="1"/>
          </p:cNvPicPr>
          <p:nvPr/>
        </p:nvPicPr>
        <p:blipFill>
          <a:blip r:embed="rId3"/>
          <a:stretch>
            <a:fillRect/>
          </a:stretch>
        </p:blipFill>
        <p:spPr>
          <a:xfrm>
            <a:off x="318791" y="1690687"/>
            <a:ext cx="4211299" cy="4892677"/>
          </a:xfrm>
          <a:prstGeom prst="rect">
            <a:avLst/>
          </a:prstGeom>
        </p:spPr>
      </p:pic>
      <p:sp>
        <p:nvSpPr>
          <p:cNvPr id="12" name="TextBox 11">
            <a:extLst>
              <a:ext uri="{FF2B5EF4-FFF2-40B4-BE49-F238E27FC236}">
                <a16:creationId xmlns:a16="http://schemas.microsoft.com/office/drawing/2014/main" id="{ECE87C72-73FA-B1E7-ADF7-CEBC8E5021B5}"/>
              </a:ext>
            </a:extLst>
          </p:cNvPr>
          <p:cNvSpPr txBox="1"/>
          <p:nvPr/>
        </p:nvSpPr>
        <p:spPr>
          <a:xfrm>
            <a:off x="6096000" y="4354830"/>
            <a:ext cx="5194564" cy="369332"/>
          </a:xfrm>
          <a:prstGeom prst="rect">
            <a:avLst/>
          </a:prstGeom>
          <a:noFill/>
        </p:spPr>
        <p:txBody>
          <a:bodyPr wrap="none" rtlCol="0">
            <a:spAutoFit/>
          </a:bodyPr>
          <a:lstStyle/>
          <a:p>
            <a:r>
              <a:rPr lang="en-US" dirty="0"/>
              <a:t>Captured Features : MAV &amp; RMS in sliding window</a:t>
            </a:r>
            <a:endParaRPr lang="en-IN" dirty="0"/>
          </a:p>
        </p:txBody>
      </p:sp>
    </p:spTree>
    <p:extLst>
      <p:ext uri="{BB962C8B-B14F-4D97-AF65-F5344CB8AC3E}">
        <p14:creationId xmlns:p14="http://schemas.microsoft.com/office/powerpoint/2010/main" val="204318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F2E79-B8E5-734E-46D8-3BDF01A37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B3B8E-9320-8CAB-8538-371E47F3A88B}"/>
              </a:ext>
            </a:extLst>
          </p:cNvPr>
          <p:cNvSpPr>
            <a:spLocks noGrp="1"/>
          </p:cNvSpPr>
          <p:nvPr>
            <p:ph type="title"/>
          </p:nvPr>
        </p:nvSpPr>
        <p:spPr/>
        <p:txBody>
          <a:bodyPr/>
          <a:lstStyle/>
          <a:p>
            <a:r>
              <a:rPr lang="en-US" dirty="0"/>
              <a:t>MATLAB + DAQ Data Acquisition</a:t>
            </a:r>
            <a:endParaRPr lang="en-IN" dirty="0"/>
          </a:p>
        </p:txBody>
      </p:sp>
      <p:sp>
        <p:nvSpPr>
          <p:cNvPr id="4" name="Slide Number Placeholder 3">
            <a:extLst>
              <a:ext uri="{FF2B5EF4-FFF2-40B4-BE49-F238E27FC236}">
                <a16:creationId xmlns:a16="http://schemas.microsoft.com/office/drawing/2014/main" id="{9139BC60-A4FB-E24C-C8FA-5130F712E850}"/>
              </a:ext>
            </a:extLst>
          </p:cNvPr>
          <p:cNvSpPr>
            <a:spLocks noGrp="1"/>
          </p:cNvSpPr>
          <p:nvPr>
            <p:ph type="sldNum" sz="quarter" idx="12"/>
          </p:nvPr>
        </p:nvSpPr>
        <p:spPr/>
        <p:txBody>
          <a:bodyPr/>
          <a:lstStyle/>
          <a:p>
            <a:fld id="{592B932E-453C-43E9-9683-166E224458DF}" type="slidenum">
              <a:rPr lang="en-IN" smtClean="0"/>
              <a:t>14</a:t>
            </a:fld>
            <a:endParaRPr lang="en-IN"/>
          </a:p>
        </p:txBody>
      </p:sp>
      <p:sp>
        <p:nvSpPr>
          <p:cNvPr id="6" name="Content Placeholder 5">
            <a:extLst>
              <a:ext uri="{FF2B5EF4-FFF2-40B4-BE49-F238E27FC236}">
                <a16:creationId xmlns:a16="http://schemas.microsoft.com/office/drawing/2014/main" id="{DC5F9FE0-A2C0-0EBA-0E62-B73652AD66C7}"/>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F8B0B967-6899-9004-697F-B33E28CDA22C}"/>
              </a:ext>
            </a:extLst>
          </p:cNvPr>
          <p:cNvPicPr>
            <a:picLocks noChangeAspect="1"/>
          </p:cNvPicPr>
          <p:nvPr/>
        </p:nvPicPr>
        <p:blipFill>
          <a:blip r:embed="rId2"/>
          <a:stretch>
            <a:fillRect/>
          </a:stretch>
        </p:blipFill>
        <p:spPr>
          <a:xfrm>
            <a:off x="838200" y="1477789"/>
            <a:ext cx="9528810" cy="5004627"/>
          </a:xfrm>
          <a:prstGeom prst="rect">
            <a:avLst/>
          </a:prstGeom>
        </p:spPr>
      </p:pic>
    </p:spTree>
    <p:extLst>
      <p:ext uri="{BB962C8B-B14F-4D97-AF65-F5344CB8AC3E}">
        <p14:creationId xmlns:p14="http://schemas.microsoft.com/office/powerpoint/2010/main" val="3434181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A9D6-4960-D59A-9102-34BE1F9CC284}"/>
              </a:ext>
            </a:extLst>
          </p:cNvPr>
          <p:cNvSpPr>
            <a:spLocks noGrp="1"/>
          </p:cNvSpPr>
          <p:nvPr>
            <p:ph type="ctrTitle"/>
          </p:nvPr>
        </p:nvSpPr>
        <p:spPr/>
        <p:txBody>
          <a:bodyPr/>
          <a:lstStyle/>
          <a:p>
            <a:r>
              <a:rPr lang="en-US" dirty="0"/>
              <a:t>ESP-Now &amp; Tiny ML Tutorial</a:t>
            </a:r>
            <a:endParaRPr lang="en-IN" dirty="0"/>
          </a:p>
        </p:txBody>
      </p:sp>
      <p:sp>
        <p:nvSpPr>
          <p:cNvPr id="3" name="Subtitle 2">
            <a:extLst>
              <a:ext uri="{FF2B5EF4-FFF2-40B4-BE49-F238E27FC236}">
                <a16:creationId xmlns:a16="http://schemas.microsoft.com/office/drawing/2014/main" id="{6E993024-B62D-0945-DEFB-F87A0983CFDC}"/>
              </a:ext>
            </a:extLst>
          </p:cNvPr>
          <p:cNvSpPr>
            <a:spLocks noGrp="1"/>
          </p:cNvSpPr>
          <p:nvPr>
            <p:ph type="subTitle" idx="1"/>
          </p:nvPr>
        </p:nvSpPr>
        <p:spPr/>
        <p:txBody>
          <a:bodyPr/>
          <a:lstStyle/>
          <a:p>
            <a:r>
              <a:rPr lang="en-US" dirty="0"/>
              <a:t>Kushagra Agrawal</a:t>
            </a:r>
            <a:endParaRPr lang="en-IN" dirty="0"/>
          </a:p>
        </p:txBody>
      </p:sp>
      <p:sp>
        <p:nvSpPr>
          <p:cNvPr id="4" name="Slide Number Placeholder 3">
            <a:extLst>
              <a:ext uri="{FF2B5EF4-FFF2-40B4-BE49-F238E27FC236}">
                <a16:creationId xmlns:a16="http://schemas.microsoft.com/office/drawing/2014/main" id="{12AFFFF8-C75C-D282-B006-E30D5097E5C9}"/>
              </a:ext>
            </a:extLst>
          </p:cNvPr>
          <p:cNvSpPr>
            <a:spLocks noGrp="1"/>
          </p:cNvSpPr>
          <p:nvPr>
            <p:ph type="sldNum" sz="quarter" idx="12"/>
          </p:nvPr>
        </p:nvSpPr>
        <p:spPr/>
        <p:txBody>
          <a:bodyPr/>
          <a:lstStyle/>
          <a:p>
            <a:fld id="{592B932E-453C-43E9-9683-166E224458DF}" type="slidenum">
              <a:rPr lang="en-IN" smtClean="0"/>
              <a:t>15</a:t>
            </a:fld>
            <a:endParaRPr lang="en-IN"/>
          </a:p>
        </p:txBody>
      </p:sp>
    </p:spTree>
    <p:extLst>
      <p:ext uri="{BB962C8B-B14F-4D97-AF65-F5344CB8AC3E}">
        <p14:creationId xmlns:p14="http://schemas.microsoft.com/office/powerpoint/2010/main" val="289389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A061-2EF4-A86D-B700-FE269F594FA2}"/>
              </a:ext>
            </a:extLst>
          </p:cNvPr>
          <p:cNvSpPr>
            <a:spLocks noGrp="1"/>
          </p:cNvSpPr>
          <p:nvPr>
            <p:ph type="title"/>
          </p:nvPr>
        </p:nvSpPr>
        <p:spPr/>
        <p:txBody>
          <a:bodyPr/>
          <a:lstStyle/>
          <a:p>
            <a:r>
              <a:rPr lang="en-US" dirty="0"/>
              <a:t>Requirements</a:t>
            </a:r>
            <a:endParaRPr lang="en-IN" dirty="0"/>
          </a:p>
        </p:txBody>
      </p:sp>
      <p:sp>
        <p:nvSpPr>
          <p:cNvPr id="3" name="Content Placeholder 2">
            <a:extLst>
              <a:ext uri="{FF2B5EF4-FFF2-40B4-BE49-F238E27FC236}">
                <a16:creationId xmlns:a16="http://schemas.microsoft.com/office/drawing/2014/main" id="{ED71D5A6-AD32-7AC7-CFED-E96A59C7C1C9}"/>
              </a:ext>
            </a:extLst>
          </p:cNvPr>
          <p:cNvSpPr>
            <a:spLocks noGrp="1"/>
          </p:cNvSpPr>
          <p:nvPr>
            <p:ph idx="1"/>
          </p:nvPr>
        </p:nvSpPr>
        <p:spPr/>
        <p:txBody>
          <a:bodyPr/>
          <a:lstStyle/>
          <a:p>
            <a:pPr marL="0" indent="0">
              <a:buNone/>
            </a:pPr>
            <a:r>
              <a:rPr lang="en-US" dirty="0"/>
              <a:t>Arduino IDE - </a:t>
            </a:r>
            <a:r>
              <a:rPr lang="en-US" dirty="0">
                <a:hlinkClick r:id="rId2"/>
              </a:rPr>
              <a:t>https://www.arduino.cc/en/software/</a:t>
            </a:r>
            <a:endParaRPr lang="en-US" dirty="0"/>
          </a:p>
          <a:p>
            <a:pPr marL="0" indent="0">
              <a:buNone/>
            </a:pPr>
            <a:r>
              <a:rPr lang="en-US" dirty="0"/>
              <a:t>Board Configurations for ESP-32</a:t>
            </a:r>
          </a:p>
          <a:p>
            <a:pPr marL="0" indent="0">
              <a:buNone/>
            </a:pPr>
            <a:r>
              <a:rPr lang="en-IN" dirty="0"/>
              <a:t>Libraries used</a:t>
            </a:r>
          </a:p>
          <a:p>
            <a:pPr>
              <a:buFontTx/>
              <a:buChar char="-"/>
            </a:pPr>
            <a:r>
              <a:rPr lang="en-IN" dirty="0"/>
              <a:t>&lt;</a:t>
            </a:r>
            <a:r>
              <a:rPr lang="en-IN" dirty="0" err="1"/>
              <a:t>WiFi.h</a:t>
            </a:r>
            <a:r>
              <a:rPr lang="en-IN" dirty="0"/>
              <a:t>&gt;</a:t>
            </a:r>
          </a:p>
          <a:p>
            <a:pPr>
              <a:buFontTx/>
              <a:buChar char="-"/>
            </a:pPr>
            <a:r>
              <a:rPr lang="en-IN" dirty="0"/>
              <a:t>&lt;</a:t>
            </a:r>
            <a:r>
              <a:rPr lang="en-IN" dirty="0" err="1"/>
              <a:t>esp_now.h</a:t>
            </a:r>
            <a:r>
              <a:rPr lang="en-IN" dirty="0"/>
              <a:t>&gt;</a:t>
            </a:r>
          </a:p>
          <a:p>
            <a:pPr>
              <a:buFontTx/>
              <a:buChar char="-"/>
            </a:pPr>
            <a:endParaRPr lang="en-IN" dirty="0"/>
          </a:p>
        </p:txBody>
      </p:sp>
      <p:sp>
        <p:nvSpPr>
          <p:cNvPr id="4" name="Slide Number Placeholder 3">
            <a:extLst>
              <a:ext uri="{FF2B5EF4-FFF2-40B4-BE49-F238E27FC236}">
                <a16:creationId xmlns:a16="http://schemas.microsoft.com/office/drawing/2014/main" id="{AC5C0195-0448-F2D4-9B56-5D3F8A8B5C4A}"/>
              </a:ext>
            </a:extLst>
          </p:cNvPr>
          <p:cNvSpPr>
            <a:spLocks noGrp="1"/>
          </p:cNvSpPr>
          <p:nvPr>
            <p:ph type="sldNum" sz="quarter" idx="12"/>
          </p:nvPr>
        </p:nvSpPr>
        <p:spPr/>
        <p:txBody>
          <a:bodyPr/>
          <a:lstStyle/>
          <a:p>
            <a:fld id="{592B932E-453C-43E9-9683-166E224458DF}" type="slidenum">
              <a:rPr lang="en-IN" smtClean="0"/>
              <a:t>16</a:t>
            </a:fld>
            <a:endParaRPr lang="en-IN"/>
          </a:p>
        </p:txBody>
      </p:sp>
    </p:spTree>
    <p:extLst>
      <p:ext uri="{BB962C8B-B14F-4D97-AF65-F5344CB8AC3E}">
        <p14:creationId xmlns:p14="http://schemas.microsoft.com/office/powerpoint/2010/main" val="2532973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B88E6-6B62-236F-C450-5ED7F4FD4807}"/>
              </a:ext>
            </a:extLst>
          </p:cNvPr>
          <p:cNvSpPr>
            <a:spLocks noGrp="1"/>
          </p:cNvSpPr>
          <p:nvPr>
            <p:ph type="title"/>
          </p:nvPr>
        </p:nvSpPr>
        <p:spPr/>
        <p:txBody>
          <a:bodyPr/>
          <a:lstStyle/>
          <a:p>
            <a:r>
              <a:rPr lang="en-US" dirty="0"/>
              <a:t>Downloading ESP-32 Boards</a:t>
            </a:r>
            <a:endParaRPr lang="en-IN" dirty="0"/>
          </a:p>
        </p:txBody>
      </p:sp>
      <p:sp>
        <p:nvSpPr>
          <p:cNvPr id="4" name="Slide Number Placeholder 3">
            <a:extLst>
              <a:ext uri="{FF2B5EF4-FFF2-40B4-BE49-F238E27FC236}">
                <a16:creationId xmlns:a16="http://schemas.microsoft.com/office/drawing/2014/main" id="{D5332EAE-0551-5848-2892-7B0810204116}"/>
              </a:ext>
            </a:extLst>
          </p:cNvPr>
          <p:cNvSpPr>
            <a:spLocks noGrp="1"/>
          </p:cNvSpPr>
          <p:nvPr>
            <p:ph type="sldNum" sz="quarter" idx="12"/>
          </p:nvPr>
        </p:nvSpPr>
        <p:spPr/>
        <p:txBody>
          <a:bodyPr/>
          <a:lstStyle/>
          <a:p>
            <a:fld id="{592B932E-453C-43E9-9683-166E224458DF}" type="slidenum">
              <a:rPr lang="en-IN" smtClean="0"/>
              <a:t>17</a:t>
            </a:fld>
            <a:endParaRPr lang="en-IN"/>
          </a:p>
        </p:txBody>
      </p:sp>
      <p:pic>
        <p:nvPicPr>
          <p:cNvPr id="4098" name="Picture 2" descr="Arduino IDE 2 - Boards Manager">
            <a:extLst>
              <a:ext uri="{FF2B5EF4-FFF2-40B4-BE49-F238E27FC236}">
                <a16:creationId xmlns:a16="http://schemas.microsoft.com/office/drawing/2014/main" id="{F5C5E45E-A24C-127A-A5EC-A2BB9C528A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8759" y="2017713"/>
            <a:ext cx="5256382" cy="38551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nstall ESP32 Arduino IDE 2 board add-on version 3">
            <a:extLst>
              <a:ext uri="{FF2B5EF4-FFF2-40B4-BE49-F238E27FC236}">
                <a16:creationId xmlns:a16="http://schemas.microsoft.com/office/drawing/2014/main" id="{6F28D1E5-C6D0-5E84-5A4D-4C1DF9BC9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5124" y="2017713"/>
            <a:ext cx="5846224" cy="38551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E42C24E-8C27-B4A1-D092-28AF87B2DA2E}"/>
              </a:ext>
            </a:extLst>
          </p:cNvPr>
          <p:cNvSpPr txBox="1"/>
          <p:nvPr/>
        </p:nvSpPr>
        <p:spPr>
          <a:xfrm>
            <a:off x="2887513" y="6096987"/>
            <a:ext cx="6195222" cy="369332"/>
          </a:xfrm>
          <a:prstGeom prst="rect">
            <a:avLst/>
          </a:prstGeom>
          <a:noFill/>
        </p:spPr>
        <p:txBody>
          <a:bodyPr wrap="none" rtlCol="0">
            <a:spAutoFit/>
          </a:bodyPr>
          <a:lstStyle/>
          <a:p>
            <a:r>
              <a:rPr lang="en-US" dirty="0">
                <a:solidFill>
                  <a:srgbClr val="FF0000"/>
                </a:solidFill>
              </a:rPr>
              <a:t>NOTE : Remember to download esp32 by </a:t>
            </a:r>
            <a:r>
              <a:rPr lang="en-US" b="1" dirty="0" err="1">
                <a:solidFill>
                  <a:srgbClr val="FF0000"/>
                </a:solidFill>
              </a:rPr>
              <a:t>Espressif</a:t>
            </a:r>
            <a:r>
              <a:rPr lang="en-US" b="1" dirty="0">
                <a:solidFill>
                  <a:srgbClr val="FF0000"/>
                </a:solidFill>
              </a:rPr>
              <a:t> Systems</a:t>
            </a:r>
            <a:endParaRPr lang="en-IN" b="1" dirty="0">
              <a:solidFill>
                <a:srgbClr val="FF0000"/>
              </a:solidFill>
            </a:endParaRPr>
          </a:p>
        </p:txBody>
      </p:sp>
      <p:sp>
        <p:nvSpPr>
          <p:cNvPr id="7" name="TextBox 6">
            <a:extLst>
              <a:ext uri="{FF2B5EF4-FFF2-40B4-BE49-F238E27FC236}">
                <a16:creationId xmlns:a16="http://schemas.microsoft.com/office/drawing/2014/main" id="{271FFA2F-AA6E-B0DB-1EDD-5679BC26F479}"/>
              </a:ext>
            </a:extLst>
          </p:cNvPr>
          <p:cNvSpPr txBox="1"/>
          <p:nvPr/>
        </p:nvSpPr>
        <p:spPr>
          <a:xfrm>
            <a:off x="0" y="6488668"/>
            <a:ext cx="7746531" cy="369332"/>
          </a:xfrm>
          <a:prstGeom prst="rect">
            <a:avLst/>
          </a:prstGeom>
          <a:noFill/>
        </p:spPr>
        <p:txBody>
          <a:bodyPr wrap="square" rtlCol="0">
            <a:spAutoFit/>
          </a:bodyPr>
          <a:lstStyle/>
          <a:p>
            <a:r>
              <a:rPr lang="en-IN" dirty="0"/>
              <a:t>https://randomnerdtutorials.com/installing-esp32-arduino-ide-2-0/</a:t>
            </a:r>
          </a:p>
        </p:txBody>
      </p:sp>
    </p:spTree>
    <p:extLst>
      <p:ext uri="{BB962C8B-B14F-4D97-AF65-F5344CB8AC3E}">
        <p14:creationId xmlns:p14="http://schemas.microsoft.com/office/powerpoint/2010/main" val="2102407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177D-B991-7CEF-5550-52FA83CA7BF1}"/>
              </a:ext>
            </a:extLst>
          </p:cNvPr>
          <p:cNvSpPr>
            <a:spLocks noGrp="1"/>
          </p:cNvSpPr>
          <p:nvPr>
            <p:ph type="title"/>
          </p:nvPr>
        </p:nvSpPr>
        <p:spPr/>
        <p:txBody>
          <a:bodyPr/>
          <a:lstStyle/>
          <a:p>
            <a:r>
              <a:rPr lang="en-US" dirty="0"/>
              <a:t>Downloading </a:t>
            </a:r>
            <a:r>
              <a:rPr lang="en-US" dirty="0" err="1"/>
              <a:t>ESPTool</a:t>
            </a:r>
            <a:endParaRPr lang="en-IN" dirty="0"/>
          </a:p>
        </p:txBody>
      </p:sp>
      <p:sp>
        <p:nvSpPr>
          <p:cNvPr id="3" name="Content Placeholder 2">
            <a:extLst>
              <a:ext uri="{FF2B5EF4-FFF2-40B4-BE49-F238E27FC236}">
                <a16:creationId xmlns:a16="http://schemas.microsoft.com/office/drawing/2014/main" id="{BC017BE0-DC44-2520-BD42-B69CFF597DC5}"/>
              </a:ext>
            </a:extLst>
          </p:cNvPr>
          <p:cNvSpPr>
            <a:spLocks noGrp="1"/>
          </p:cNvSpPr>
          <p:nvPr>
            <p:ph idx="1"/>
          </p:nvPr>
        </p:nvSpPr>
        <p:spPr/>
        <p:txBody>
          <a:bodyPr/>
          <a:lstStyle/>
          <a:p>
            <a:r>
              <a:rPr lang="en-US" dirty="0"/>
              <a:t>Make sure your system has Python 3.x version installed</a:t>
            </a:r>
          </a:p>
          <a:p>
            <a:r>
              <a:rPr lang="en-IN" dirty="0"/>
              <a:t>Open a terminal and write</a:t>
            </a:r>
          </a:p>
          <a:p>
            <a:endParaRPr lang="en-IN" dirty="0"/>
          </a:p>
          <a:p>
            <a:r>
              <a:rPr lang="en-IN" dirty="0"/>
              <a:t>Once the installation is done try writing</a:t>
            </a:r>
          </a:p>
          <a:p>
            <a:endParaRPr lang="en-IN" dirty="0"/>
          </a:p>
          <a:p>
            <a:r>
              <a:rPr lang="en-IN" dirty="0"/>
              <a:t>It must be installed. </a:t>
            </a:r>
            <a:r>
              <a:rPr lang="en-IN" dirty="0" err="1"/>
              <a:t>ESPTool</a:t>
            </a:r>
            <a:r>
              <a:rPr lang="en-IN" dirty="0"/>
              <a:t> is an easy way to read a device MAC or flash memory on a device by </a:t>
            </a:r>
            <a:r>
              <a:rPr lang="en-IN" dirty="0" err="1"/>
              <a:t>Espressif</a:t>
            </a:r>
            <a:endParaRPr lang="en-IN" dirty="0"/>
          </a:p>
          <a:p>
            <a:endParaRPr lang="en-IN" dirty="0"/>
          </a:p>
        </p:txBody>
      </p:sp>
      <p:sp>
        <p:nvSpPr>
          <p:cNvPr id="4" name="Slide Number Placeholder 3">
            <a:extLst>
              <a:ext uri="{FF2B5EF4-FFF2-40B4-BE49-F238E27FC236}">
                <a16:creationId xmlns:a16="http://schemas.microsoft.com/office/drawing/2014/main" id="{E93B786F-258B-CEEF-69FB-76C2BC750933}"/>
              </a:ext>
            </a:extLst>
          </p:cNvPr>
          <p:cNvSpPr>
            <a:spLocks noGrp="1"/>
          </p:cNvSpPr>
          <p:nvPr>
            <p:ph type="sldNum" sz="quarter" idx="12"/>
          </p:nvPr>
        </p:nvSpPr>
        <p:spPr/>
        <p:txBody>
          <a:bodyPr/>
          <a:lstStyle/>
          <a:p>
            <a:fld id="{592B932E-453C-43E9-9683-166E224458DF}" type="slidenum">
              <a:rPr lang="en-IN" smtClean="0"/>
              <a:t>18</a:t>
            </a:fld>
            <a:endParaRPr lang="en-IN"/>
          </a:p>
        </p:txBody>
      </p:sp>
      <p:sp>
        <p:nvSpPr>
          <p:cNvPr id="6" name="TextBox 5">
            <a:extLst>
              <a:ext uri="{FF2B5EF4-FFF2-40B4-BE49-F238E27FC236}">
                <a16:creationId xmlns:a16="http://schemas.microsoft.com/office/drawing/2014/main" id="{B342E03E-0A34-3179-FD6A-A1A15A4D4F09}"/>
              </a:ext>
            </a:extLst>
          </p:cNvPr>
          <p:cNvSpPr txBox="1"/>
          <p:nvPr/>
        </p:nvSpPr>
        <p:spPr>
          <a:xfrm>
            <a:off x="1108710" y="2862679"/>
            <a:ext cx="4080510" cy="738664"/>
          </a:xfrm>
          <a:prstGeom prst="rect">
            <a:avLst/>
          </a:prstGeom>
          <a:noFill/>
        </p:spPr>
        <p:txBody>
          <a:bodyPr wrap="square" rtlCol="0">
            <a:spAutoFit/>
          </a:bodyPr>
          <a:lstStyle/>
          <a:p>
            <a:r>
              <a:rPr lang="en-IN" sz="2400" dirty="0">
                <a:solidFill>
                  <a:schemeClr val="accent3"/>
                </a:solidFill>
                <a:latin typeface="Biome" panose="020B0502040204020203" pitchFamily="34" charset="0"/>
                <a:cs typeface="Biome" panose="020B0502040204020203" pitchFamily="34" charset="0"/>
              </a:rPr>
              <a:t>pip install </a:t>
            </a:r>
            <a:r>
              <a:rPr lang="en-IN" sz="2400" dirty="0" err="1">
                <a:solidFill>
                  <a:schemeClr val="accent3"/>
                </a:solidFill>
                <a:latin typeface="Biome" panose="020B0502040204020203" pitchFamily="34" charset="0"/>
                <a:cs typeface="Biome" panose="020B0502040204020203" pitchFamily="34" charset="0"/>
              </a:rPr>
              <a:t>esptool</a:t>
            </a:r>
            <a:endParaRPr lang="en-IN" sz="2400" dirty="0">
              <a:solidFill>
                <a:schemeClr val="accent3"/>
              </a:solidFill>
              <a:latin typeface="Biome" panose="020B0502040204020203" pitchFamily="34" charset="0"/>
              <a:cs typeface="Biome" panose="020B0502040204020203" pitchFamily="34" charset="0"/>
            </a:endParaRPr>
          </a:p>
          <a:p>
            <a:endParaRPr lang="en-IN" dirty="0"/>
          </a:p>
        </p:txBody>
      </p:sp>
      <p:sp>
        <p:nvSpPr>
          <p:cNvPr id="7" name="TextBox 6">
            <a:extLst>
              <a:ext uri="{FF2B5EF4-FFF2-40B4-BE49-F238E27FC236}">
                <a16:creationId xmlns:a16="http://schemas.microsoft.com/office/drawing/2014/main" id="{0BF25E4B-33D9-C599-E0FC-84A8374931E3}"/>
              </a:ext>
            </a:extLst>
          </p:cNvPr>
          <p:cNvSpPr txBox="1"/>
          <p:nvPr/>
        </p:nvSpPr>
        <p:spPr>
          <a:xfrm>
            <a:off x="1108710" y="3899733"/>
            <a:ext cx="4080510" cy="738664"/>
          </a:xfrm>
          <a:prstGeom prst="rect">
            <a:avLst/>
          </a:prstGeom>
          <a:noFill/>
        </p:spPr>
        <p:txBody>
          <a:bodyPr wrap="square" rtlCol="0">
            <a:spAutoFit/>
          </a:bodyPr>
          <a:lstStyle/>
          <a:p>
            <a:r>
              <a:rPr lang="en-IN" sz="2400" dirty="0" err="1">
                <a:solidFill>
                  <a:schemeClr val="accent3"/>
                </a:solidFill>
                <a:latin typeface="Biome" panose="020B0502040204020203" pitchFamily="34" charset="0"/>
                <a:cs typeface="Biome" panose="020B0502040204020203" pitchFamily="34" charset="0"/>
              </a:rPr>
              <a:t>esptool</a:t>
            </a:r>
            <a:r>
              <a:rPr lang="en-IN" sz="2400" dirty="0">
                <a:solidFill>
                  <a:schemeClr val="accent3"/>
                </a:solidFill>
                <a:latin typeface="Biome" panose="020B0502040204020203" pitchFamily="34" charset="0"/>
                <a:cs typeface="Biome" panose="020B0502040204020203" pitchFamily="34" charset="0"/>
              </a:rPr>
              <a:t> version</a:t>
            </a:r>
          </a:p>
          <a:p>
            <a:endParaRPr lang="en-IN" dirty="0"/>
          </a:p>
        </p:txBody>
      </p:sp>
      <p:sp>
        <p:nvSpPr>
          <p:cNvPr id="8" name="TextBox 7">
            <a:extLst>
              <a:ext uri="{FF2B5EF4-FFF2-40B4-BE49-F238E27FC236}">
                <a16:creationId xmlns:a16="http://schemas.microsoft.com/office/drawing/2014/main" id="{325FC9F8-45C3-03E2-B7CE-3CBA7341F6DE}"/>
              </a:ext>
            </a:extLst>
          </p:cNvPr>
          <p:cNvSpPr txBox="1"/>
          <p:nvPr/>
        </p:nvSpPr>
        <p:spPr>
          <a:xfrm>
            <a:off x="240030" y="6352143"/>
            <a:ext cx="3824317" cy="369332"/>
          </a:xfrm>
          <a:prstGeom prst="rect">
            <a:avLst/>
          </a:prstGeom>
          <a:noFill/>
        </p:spPr>
        <p:txBody>
          <a:bodyPr wrap="none" rtlCol="0">
            <a:spAutoFit/>
          </a:bodyPr>
          <a:lstStyle/>
          <a:p>
            <a:r>
              <a:rPr lang="en-IN" dirty="0"/>
              <a:t>https://github.com/espressif/esptool</a:t>
            </a:r>
          </a:p>
        </p:txBody>
      </p:sp>
    </p:spTree>
    <p:extLst>
      <p:ext uri="{BB962C8B-B14F-4D97-AF65-F5344CB8AC3E}">
        <p14:creationId xmlns:p14="http://schemas.microsoft.com/office/powerpoint/2010/main" val="409183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E430-C6A9-C589-4DA2-2066732FBD85}"/>
              </a:ext>
            </a:extLst>
          </p:cNvPr>
          <p:cNvSpPr>
            <a:spLocks noGrp="1"/>
          </p:cNvSpPr>
          <p:nvPr>
            <p:ph type="title"/>
          </p:nvPr>
        </p:nvSpPr>
        <p:spPr/>
        <p:txBody>
          <a:bodyPr/>
          <a:lstStyle/>
          <a:p>
            <a:r>
              <a:rPr lang="en-US" dirty="0"/>
              <a:t>Reading MAC Address of ESP-32 Device</a:t>
            </a:r>
            <a:endParaRPr lang="en-IN" dirty="0"/>
          </a:p>
        </p:txBody>
      </p:sp>
      <p:sp>
        <p:nvSpPr>
          <p:cNvPr id="3" name="Content Placeholder 2">
            <a:extLst>
              <a:ext uri="{FF2B5EF4-FFF2-40B4-BE49-F238E27FC236}">
                <a16:creationId xmlns:a16="http://schemas.microsoft.com/office/drawing/2014/main" id="{C201EFF1-07AB-93E2-8F41-783CF48561E5}"/>
              </a:ext>
            </a:extLst>
          </p:cNvPr>
          <p:cNvSpPr>
            <a:spLocks noGrp="1"/>
          </p:cNvSpPr>
          <p:nvPr>
            <p:ph idx="1"/>
          </p:nvPr>
        </p:nvSpPr>
        <p:spPr>
          <a:xfrm>
            <a:off x="838200" y="1825625"/>
            <a:ext cx="10515600" cy="4083686"/>
          </a:xfrm>
        </p:spPr>
        <p:txBody>
          <a:bodyPr>
            <a:normAutofit/>
          </a:bodyPr>
          <a:lstStyle/>
          <a:p>
            <a:r>
              <a:rPr lang="en-US" dirty="0"/>
              <a:t>Make sure you have the </a:t>
            </a:r>
            <a:r>
              <a:rPr lang="en-US" dirty="0" err="1"/>
              <a:t>ESPTool</a:t>
            </a:r>
            <a:r>
              <a:rPr lang="en-US" dirty="0"/>
              <a:t> ready installed.</a:t>
            </a:r>
          </a:p>
          <a:p>
            <a:r>
              <a:rPr lang="en-US" dirty="0"/>
              <a:t>Plugin your device using a USB to Micro-USB Cable</a:t>
            </a:r>
          </a:p>
          <a:p>
            <a:r>
              <a:rPr lang="en-US" dirty="0"/>
              <a:t>Give the following command in the terminal </a:t>
            </a:r>
          </a:p>
          <a:p>
            <a:endParaRPr lang="en-US" dirty="0"/>
          </a:p>
          <a:p>
            <a:r>
              <a:rPr lang="en-US" dirty="0"/>
              <a:t>It will show an output like this :</a:t>
            </a:r>
          </a:p>
          <a:p>
            <a:endParaRPr lang="en-US" dirty="0"/>
          </a:p>
          <a:p>
            <a:endParaRPr lang="en-IN" dirty="0"/>
          </a:p>
          <a:p>
            <a:r>
              <a:rPr lang="en-US" dirty="0"/>
              <a:t>Note Down the MAC Address Carefully</a:t>
            </a:r>
          </a:p>
          <a:p>
            <a:endParaRPr lang="en-IN" dirty="0"/>
          </a:p>
        </p:txBody>
      </p:sp>
      <p:sp>
        <p:nvSpPr>
          <p:cNvPr id="4" name="Slide Number Placeholder 3">
            <a:extLst>
              <a:ext uri="{FF2B5EF4-FFF2-40B4-BE49-F238E27FC236}">
                <a16:creationId xmlns:a16="http://schemas.microsoft.com/office/drawing/2014/main" id="{B000B064-4FEB-3F0C-E0DC-92545D098643}"/>
              </a:ext>
            </a:extLst>
          </p:cNvPr>
          <p:cNvSpPr>
            <a:spLocks noGrp="1"/>
          </p:cNvSpPr>
          <p:nvPr>
            <p:ph type="sldNum" sz="quarter" idx="12"/>
          </p:nvPr>
        </p:nvSpPr>
        <p:spPr/>
        <p:txBody>
          <a:bodyPr/>
          <a:lstStyle/>
          <a:p>
            <a:fld id="{592B932E-453C-43E9-9683-166E224458DF}" type="slidenum">
              <a:rPr lang="en-IN" smtClean="0"/>
              <a:t>19</a:t>
            </a:fld>
            <a:endParaRPr lang="en-IN"/>
          </a:p>
        </p:txBody>
      </p:sp>
      <p:sp>
        <p:nvSpPr>
          <p:cNvPr id="5" name="TextBox 4">
            <a:extLst>
              <a:ext uri="{FF2B5EF4-FFF2-40B4-BE49-F238E27FC236}">
                <a16:creationId xmlns:a16="http://schemas.microsoft.com/office/drawing/2014/main" id="{1652B284-8041-83C8-A553-0E0E23592A5C}"/>
              </a:ext>
            </a:extLst>
          </p:cNvPr>
          <p:cNvSpPr txBox="1"/>
          <p:nvPr/>
        </p:nvSpPr>
        <p:spPr>
          <a:xfrm>
            <a:off x="4055745" y="3429000"/>
            <a:ext cx="4080510" cy="461665"/>
          </a:xfrm>
          <a:prstGeom prst="rect">
            <a:avLst/>
          </a:prstGeom>
          <a:noFill/>
        </p:spPr>
        <p:txBody>
          <a:bodyPr wrap="square" rtlCol="0">
            <a:spAutoFit/>
          </a:bodyPr>
          <a:lstStyle/>
          <a:p>
            <a:r>
              <a:rPr lang="en-IN" sz="2400" dirty="0" err="1">
                <a:solidFill>
                  <a:schemeClr val="accent3"/>
                </a:solidFill>
                <a:latin typeface="Biome" panose="020B0502040204020203" pitchFamily="34" charset="0"/>
                <a:cs typeface="Biome" panose="020B0502040204020203" pitchFamily="34" charset="0"/>
              </a:rPr>
              <a:t>esptool</a:t>
            </a:r>
            <a:r>
              <a:rPr lang="en-IN" sz="2400" dirty="0">
                <a:solidFill>
                  <a:schemeClr val="accent3"/>
                </a:solidFill>
                <a:latin typeface="Biome" panose="020B0502040204020203" pitchFamily="34" charset="0"/>
                <a:cs typeface="Biome" panose="020B0502040204020203" pitchFamily="34" charset="0"/>
              </a:rPr>
              <a:t> read-mac</a:t>
            </a:r>
            <a:endParaRPr lang="en-IN" dirty="0"/>
          </a:p>
        </p:txBody>
      </p:sp>
      <p:pic>
        <p:nvPicPr>
          <p:cNvPr id="7" name="Picture 6">
            <a:extLst>
              <a:ext uri="{FF2B5EF4-FFF2-40B4-BE49-F238E27FC236}">
                <a16:creationId xmlns:a16="http://schemas.microsoft.com/office/drawing/2014/main" id="{78728688-AF55-F842-EAD1-B7FA980C36B6}"/>
              </a:ext>
            </a:extLst>
          </p:cNvPr>
          <p:cNvPicPr>
            <a:picLocks noChangeAspect="1"/>
          </p:cNvPicPr>
          <p:nvPr/>
        </p:nvPicPr>
        <p:blipFill>
          <a:blip r:embed="rId2"/>
          <a:stretch>
            <a:fillRect/>
          </a:stretch>
        </p:blipFill>
        <p:spPr>
          <a:xfrm>
            <a:off x="1954531" y="4371032"/>
            <a:ext cx="7440930" cy="1051859"/>
          </a:xfrm>
          <a:prstGeom prst="rect">
            <a:avLst/>
          </a:prstGeom>
        </p:spPr>
      </p:pic>
    </p:spTree>
    <p:extLst>
      <p:ext uri="{BB962C8B-B14F-4D97-AF65-F5344CB8AC3E}">
        <p14:creationId xmlns:p14="http://schemas.microsoft.com/office/powerpoint/2010/main" val="856471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FF18-331B-A5CD-DCF7-C6B99E9E5D37}"/>
              </a:ext>
            </a:extLst>
          </p:cNvPr>
          <p:cNvSpPr>
            <a:spLocks noGrp="1"/>
          </p:cNvSpPr>
          <p:nvPr>
            <p:ph type="title"/>
          </p:nvPr>
        </p:nvSpPr>
        <p:spPr/>
        <p:txBody>
          <a:bodyPr/>
          <a:lstStyle/>
          <a:p>
            <a:r>
              <a:rPr lang="en-US" dirty="0"/>
              <a:t>Debug Tip</a:t>
            </a:r>
            <a:endParaRPr lang="en-IN" dirty="0"/>
          </a:p>
        </p:txBody>
      </p:sp>
      <p:sp>
        <p:nvSpPr>
          <p:cNvPr id="3" name="Content Placeholder 2">
            <a:extLst>
              <a:ext uri="{FF2B5EF4-FFF2-40B4-BE49-F238E27FC236}">
                <a16:creationId xmlns:a16="http://schemas.microsoft.com/office/drawing/2014/main" id="{E9168E54-7057-B993-0C35-0CE2F665E6A7}"/>
              </a:ext>
            </a:extLst>
          </p:cNvPr>
          <p:cNvSpPr>
            <a:spLocks noGrp="1"/>
          </p:cNvSpPr>
          <p:nvPr>
            <p:ph idx="1"/>
          </p:nvPr>
        </p:nvSpPr>
        <p:spPr>
          <a:xfrm>
            <a:off x="838200" y="1528445"/>
            <a:ext cx="10515600" cy="646470"/>
          </a:xfrm>
        </p:spPr>
        <p:txBody>
          <a:bodyPr/>
          <a:lstStyle/>
          <a:p>
            <a:r>
              <a:rPr lang="en-US" dirty="0"/>
              <a:t>If you get an error like this : </a:t>
            </a:r>
          </a:p>
          <a:p>
            <a:endParaRPr lang="en-IN" dirty="0"/>
          </a:p>
        </p:txBody>
      </p:sp>
      <p:sp>
        <p:nvSpPr>
          <p:cNvPr id="4" name="Slide Number Placeholder 3">
            <a:extLst>
              <a:ext uri="{FF2B5EF4-FFF2-40B4-BE49-F238E27FC236}">
                <a16:creationId xmlns:a16="http://schemas.microsoft.com/office/drawing/2014/main" id="{6823E5B5-D34C-2281-98DF-D631B11059BB}"/>
              </a:ext>
            </a:extLst>
          </p:cNvPr>
          <p:cNvSpPr>
            <a:spLocks noGrp="1"/>
          </p:cNvSpPr>
          <p:nvPr>
            <p:ph type="sldNum" sz="quarter" idx="12"/>
          </p:nvPr>
        </p:nvSpPr>
        <p:spPr/>
        <p:txBody>
          <a:bodyPr/>
          <a:lstStyle/>
          <a:p>
            <a:fld id="{592B932E-453C-43E9-9683-166E224458DF}" type="slidenum">
              <a:rPr lang="en-IN" smtClean="0"/>
              <a:t>20</a:t>
            </a:fld>
            <a:endParaRPr lang="en-IN"/>
          </a:p>
        </p:txBody>
      </p:sp>
      <p:pic>
        <p:nvPicPr>
          <p:cNvPr id="6" name="Picture 5">
            <a:extLst>
              <a:ext uri="{FF2B5EF4-FFF2-40B4-BE49-F238E27FC236}">
                <a16:creationId xmlns:a16="http://schemas.microsoft.com/office/drawing/2014/main" id="{2E679D73-906D-4DF9-9CE6-87E5783506DB}"/>
              </a:ext>
            </a:extLst>
          </p:cNvPr>
          <p:cNvPicPr>
            <a:picLocks noChangeAspect="1"/>
          </p:cNvPicPr>
          <p:nvPr/>
        </p:nvPicPr>
        <p:blipFill>
          <a:blip r:embed="rId2"/>
          <a:stretch>
            <a:fillRect/>
          </a:stretch>
        </p:blipFill>
        <p:spPr>
          <a:xfrm>
            <a:off x="982980" y="2163485"/>
            <a:ext cx="10226040" cy="2793823"/>
          </a:xfrm>
          <a:prstGeom prst="rect">
            <a:avLst/>
          </a:prstGeom>
        </p:spPr>
      </p:pic>
      <p:sp>
        <p:nvSpPr>
          <p:cNvPr id="7" name="Content Placeholder 2">
            <a:extLst>
              <a:ext uri="{FF2B5EF4-FFF2-40B4-BE49-F238E27FC236}">
                <a16:creationId xmlns:a16="http://schemas.microsoft.com/office/drawing/2014/main" id="{5709EAF4-B066-1D07-8A4D-56098BEF637A}"/>
              </a:ext>
            </a:extLst>
          </p:cNvPr>
          <p:cNvSpPr txBox="1">
            <a:spLocks/>
          </p:cNvSpPr>
          <p:nvPr/>
        </p:nvSpPr>
        <p:spPr>
          <a:xfrm>
            <a:off x="838200" y="5244108"/>
            <a:ext cx="11353800" cy="1283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Close all the Arduino IDE Tabs or in the worst case – Restart the PC</a:t>
            </a:r>
          </a:p>
          <a:p>
            <a:r>
              <a:rPr lang="en-US" sz="2400" dirty="0"/>
              <a:t>If still encountering,  you might have a chip </a:t>
            </a:r>
            <a:r>
              <a:rPr lang="en-US" sz="2400" u="sng" dirty="0"/>
              <a:t>not</a:t>
            </a:r>
            <a:r>
              <a:rPr lang="en-US" sz="2400" dirty="0"/>
              <a:t> manufactured by </a:t>
            </a:r>
            <a:r>
              <a:rPr lang="en-US" sz="2400" dirty="0" err="1"/>
              <a:t>Espressif</a:t>
            </a:r>
            <a:endParaRPr lang="en-US" sz="2400" dirty="0"/>
          </a:p>
          <a:p>
            <a:endParaRPr lang="en-IN" sz="2400" dirty="0"/>
          </a:p>
        </p:txBody>
      </p:sp>
    </p:spTree>
    <p:extLst>
      <p:ext uri="{BB962C8B-B14F-4D97-AF65-F5344CB8AC3E}">
        <p14:creationId xmlns:p14="http://schemas.microsoft.com/office/powerpoint/2010/main" val="2184593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omputer script on a screen">
            <a:extLst>
              <a:ext uri="{FF2B5EF4-FFF2-40B4-BE49-F238E27FC236}">
                <a16:creationId xmlns:a16="http://schemas.microsoft.com/office/drawing/2014/main" id="{A48A3E40-39D7-4CB6-032B-4ED7C37001F1}"/>
              </a:ext>
            </a:extLst>
          </p:cNvPr>
          <p:cNvPicPr>
            <a:picLocks noChangeAspect="1"/>
          </p:cNvPicPr>
          <p:nvPr/>
        </p:nvPicPr>
        <p:blipFill>
          <a:blip r:embed="rId2"/>
          <a:srcRect t="5981" b="9749"/>
          <a:stretch>
            <a:fillRect/>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0C4BCA-E34B-ED3C-D926-D927579B3740}"/>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Coding 😵</a:t>
            </a:r>
          </a:p>
        </p:txBody>
      </p:sp>
      <p:sp>
        <p:nvSpPr>
          <p:cNvPr id="4" name="Slide Number Placeholder 3">
            <a:extLst>
              <a:ext uri="{FF2B5EF4-FFF2-40B4-BE49-F238E27FC236}">
                <a16:creationId xmlns:a16="http://schemas.microsoft.com/office/drawing/2014/main" id="{F576275E-A868-9ED6-C798-04B45044F6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defRPr/>
            </a:pPr>
            <a:fld id="{592B932E-453C-43E9-9683-166E224458DF}" type="slidenum">
              <a:rPr lang="en-US">
                <a:solidFill>
                  <a:srgbClr val="FFFFFF"/>
                </a:solidFill>
                <a:latin typeface="Calibri" panose="020F0502020204030204"/>
              </a:rPr>
              <a:pPr defTabSz="914400">
                <a:spcAft>
                  <a:spcPts val="600"/>
                </a:spcAft>
                <a:defRPr/>
              </a:pPr>
              <a:t>21</a:t>
            </a:fld>
            <a:endParaRPr lang="en-US">
              <a:solidFill>
                <a:srgbClr val="FFFFFF"/>
              </a:solidFill>
              <a:latin typeface="Calibri" panose="020F0502020204030204"/>
            </a:endParaRPr>
          </a:p>
        </p:txBody>
      </p:sp>
    </p:spTree>
    <p:extLst>
      <p:ext uri="{BB962C8B-B14F-4D97-AF65-F5344CB8AC3E}">
        <p14:creationId xmlns:p14="http://schemas.microsoft.com/office/powerpoint/2010/main" val="4055383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B1B6F-07FB-2DEA-1D78-5819E2BAF585}"/>
              </a:ext>
            </a:extLst>
          </p:cNvPr>
          <p:cNvSpPr>
            <a:spLocks noGrp="1"/>
          </p:cNvSpPr>
          <p:nvPr>
            <p:ph type="title"/>
          </p:nvPr>
        </p:nvSpPr>
        <p:spPr/>
        <p:txBody>
          <a:bodyPr/>
          <a:lstStyle/>
          <a:p>
            <a:r>
              <a:rPr lang="en-US" dirty="0"/>
              <a:t>Some Useful Functions</a:t>
            </a:r>
            <a:endParaRPr lang="en-IN" dirty="0"/>
          </a:p>
        </p:txBody>
      </p:sp>
      <p:graphicFrame>
        <p:nvGraphicFramePr>
          <p:cNvPr id="5" name="Content Placeholder 4">
            <a:extLst>
              <a:ext uri="{FF2B5EF4-FFF2-40B4-BE49-F238E27FC236}">
                <a16:creationId xmlns:a16="http://schemas.microsoft.com/office/drawing/2014/main" id="{B93EBAC8-E998-8271-EC1D-7984A231A015}"/>
              </a:ext>
            </a:extLst>
          </p:cNvPr>
          <p:cNvGraphicFramePr>
            <a:graphicFrameLocks noGrp="1"/>
          </p:cNvGraphicFramePr>
          <p:nvPr>
            <p:ph idx="1"/>
            <p:extLst>
              <p:ext uri="{D42A27DB-BD31-4B8C-83A1-F6EECF244321}">
                <p14:modId xmlns:p14="http://schemas.microsoft.com/office/powerpoint/2010/main" val="2360460672"/>
              </p:ext>
            </p:extLst>
          </p:nvPr>
        </p:nvGraphicFramePr>
        <p:xfrm>
          <a:off x="838200" y="1825625"/>
          <a:ext cx="10515600" cy="3576320"/>
        </p:xfrm>
        <a:graphic>
          <a:graphicData uri="http://schemas.openxmlformats.org/drawingml/2006/table">
            <a:tbl>
              <a:tblPr firstRow="1" bandRow="1">
                <a:tableStyleId>{9D7B26C5-4107-4FEC-AEDC-1716B250A1EF}</a:tableStyleId>
              </a:tblPr>
              <a:tblGrid>
                <a:gridCol w="3345180">
                  <a:extLst>
                    <a:ext uri="{9D8B030D-6E8A-4147-A177-3AD203B41FA5}">
                      <a16:colId xmlns:a16="http://schemas.microsoft.com/office/drawing/2014/main" val="336012599"/>
                    </a:ext>
                  </a:extLst>
                </a:gridCol>
                <a:gridCol w="7170420">
                  <a:extLst>
                    <a:ext uri="{9D8B030D-6E8A-4147-A177-3AD203B41FA5}">
                      <a16:colId xmlns:a16="http://schemas.microsoft.com/office/drawing/2014/main" val="3373517747"/>
                    </a:ext>
                  </a:extLst>
                </a:gridCol>
              </a:tblGrid>
              <a:tr h="370840">
                <a:tc>
                  <a:txBody>
                    <a:bodyPr/>
                    <a:lstStyle/>
                    <a:p>
                      <a:r>
                        <a:rPr lang="en-US" dirty="0"/>
                        <a:t>Function Name</a:t>
                      </a:r>
                      <a:endParaRPr lang="en-IN" dirty="0"/>
                    </a:p>
                  </a:txBody>
                  <a:tcPr/>
                </a:tc>
                <a:tc>
                  <a:txBody>
                    <a:bodyPr/>
                    <a:lstStyle/>
                    <a:p>
                      <a:r>
                        <a:rPr lang="en-US" dirty="0"/>
                        <a:t>Function Description</a:t>
                      </a:r>
                      <a:endParaRPr lang="en-IN" dirty="0"/>
                    </a:p>
                  </a:txBody>
                  <a:tcPr/>
                </a:tc>
                <a:extLst>
                  <a:ext uri="{0D108BD9-81ED-4DB2-BD59-A6C34878D82A}">
                    <a16:rowId xmlns:a16="http://schemas.microsoft.com/office/drawing/2014/main" val="938592642"/>
                  </a:ext>
                </a:extLst>
              </a:tr>
              <a:tr h="370840">
                <a:tc>
                  <a:txBody>
                    <a:bodyPr/>
                    <a:lstStyle/>
                    <a:p>
                      <a:r>
                        <a:rPr lang="en-US" dirty="0" err="1"/>
                        <a:t>esp_now_init</a:t>
                      </a:r>
                      <a:r>
                        <a:rPr lang="en-US" dirty="0"/>
                        <a:t>()</a:t>
                      </a:r>
                      <a:endParaRPr lang="en-IN" dirty="0"/>
                    </a:p>
                  </a:txBody>
                  <a:tcPr/>
                </a:tc>
                <a:tc>
                  <a:txBody>
                    <a:bodyPr/>
                    <a:lstStyle/>
                    <a:p>
                      <a:r>
                        <a:rPr lang="en-US" sz="1800" b="0" i="0" kern="1200" dirty="0">
                          <a:solidFill>
                            <a:schemeClr val="tx1"/>
                          </a:solidFill>
                          <a:effectLst/>
                          <a:latin typeface="+mn-lt"/>
                          <a:ea typeface="+mn-ea"/>
                          <a:cs typeface="+mn-cs"/>
                        </a:rPr>
                        <a:t>Initializes ESP-NOW. You must initialize Wi-Fi before initializing ESP-NOW.</a:t>
                      </a:r>
                      <a:endParaRPr lang="en-IN" dirty="0"/>
                    </a:p>
                  </a:txBody>
                  <a:tcPr/>
                </a:tc>
                <a:extLst>
                  <a:ext uri="{0D108BD9-81ED-4DB2-BD59-A6C34878D82A}">
                    <a16:rowId xmlns:a16="http://schemas.microsoft.com/office/drawing/2014/main" val="36931483"/>
                  </a:ext>
                </a:extLst>
              </a:tr>
              <a:tr h="370840">
                <a:tc>
                  <a:txBody>
                    <a:bodyPr/>
                    <a:lstStyle/>
                    <a:p>
                      <a:r>
                        <a:rPr lang="en-IN" sz="1800" b="0" i="0" kern="1200" dirty="0" err="1">
                          <a:solidFill>
                            <a:schemeClr val="tx1"/>
                          </a:solidFill>
                          <a:effectLst/>
                          <a:latin typeface="+mn-lt"/>
                          <a:ea typeface="+mn-ea"/>
                          <a:cs typeface="+mn-cs"/>
                        </a:rPr>
                        <a:t>esp_now_add_peer</a:t>
                      </a:r>
                      <a:r>
                        <a:rPr lang="en-IN" sz="1800" b="0" i="0" kern="1200" dirty="0">
                          <a:solidFill>
                            <a:schemeClr val="tx1"/>
                          </a:solidFill>
                          <a:effectLst/>
                          <a:latin typeface="+mn-lt"/>
                          <a:ea typeface="+mn-ea"/>
                          <a:cs typeface="+mn-cs"/>
                        </a:rPr>
                        <a:t>()</a:t>
                      </a:r>
                      <a:endParaRPr lang="en-IN" dirty="0"/>
                    </a:p>
                  </a:txBody>
                  <a:tcPr/>
                </a:tc>
                <a:tc>
                  <a:txBody>
                    <a:bodyPr/>
                    <a:lstStyle/>
                    <a:p>
                      <a:r>
                        <a:rPr lang="en-US" sz="1800" b="0" i="0" kern="1200" dirty="0">
                          <a:solidFill>
                            <a:schemeClr val="tx1"/>
                          </a:solidFill>
                          <a:effectLst/>
                          <a:latin typeface="+mn-lt"/>
                          <a:ea typeface="+mn-ea"/>
                          <a:cs typeface="+mn-cs"/>
                        </a:rPr>
                        <a:t>Call this function to pair a device and pass as an argument the peer MAC address.</a:t>
                      </a:r>
                      <a:endParaRPr lang="en-IN" dirty="0"/>
                    </a:p>
                  </a:txBody>
                  <a:tcPr/>
                </a:tc>
                <a:extLst>
                  <a:ext uri="{0D108BD9-81ED-4DB2-BD59-A6C34878D82A}">
                    <a16:rowId xmlns:a16="http://schemas.microsoft.com/office/drawing/2014/main" val="912086194"/>
                  </a:ext>
                </a:extLst>
              </a:tr>
              <a:tr h="370840">
                <a:tc>
                  <a:txBody>
                    <a:bodyPr/>
                    <a:lstStyle/>
                    <a:p>
                      <a:r>
                        <a:rPr lang="en-IN" sz="1800" b="0" i="0" kern="1200" dirty="0" err="1">
                          <a:solidFill>
                            <a:schemeClr val="tx1"/>
                          </a:solidFill>
                          <a:effectLst/>
                          <a:latin typeface="+mn-lt"/>
                          <a:ea typeface="+mn-ea"/>
                          <a:cs typeface="+mn-cs"/>
                        </a:rPr>
                        <a:t>esp_now_send</a:t>
                      </a:r>
                      <a:r>
                        <a:rPr lang="en-IN" sz="1800" b="0" i="0" kern="1200" dirty="0">
                          <a:solidFill>
                            <a:schemeClr val="tx1"/>
                          </a:solidFill>
                          <a:effectLst/>
                          <a:latin typeface="+mn-lt"/>
                          <a:ea typeface="+mn-ea"/>
                          <a:cs typeface="+mn-cs"/>
                        </a:rPr>
                        <a:t>()</a:t>
                      </a:r>
                      <a:endParaRPr lang="en-IN" dirty="0"/>
                    </a:p>
                  </a:txBody>
                  <a:tcPr/>
                </a:tc>
                <a:tc>
                  <a:txBody>
                    <a:bodyPr/>
                    <a:lstStyle/>
                    <a:p>
                      <a:r>
                        <a:rPr lang="en-IN" sz="1800" b="0" i="0" kern="1200" dirty="0">
                          <a:solidFill>
                            <a:schemeClr val="tx1"/>
                          </a:solidFill>
                          <a:effectLst/>
                          <a:latin typeface="+mn-lt"/>
                          <a:ea typeface="+mn-ea"/>
                          <a:cs typeface="+mn-cs"/>
                        </a:rPr>
                        <a:t>Send data with ESP-NOW</a:t>
                      </a:r>
                      <a:endParaRPr lang="en-IN" dirty="0"/>
                    </a:p>
                  </a:txBody>
                  <a:tcPr/>
                </a:tc>
                <a:extLst>
                  <a:ext uri="{0D108BD9-81ED-4DB2-BD59-A6C34878D82A}">
                    <a16:rowId xmlns:a16="http://schemas.microsoft.com/office/drawing/2014/main" val="1202250923"/>
                  </a:ext>
                </a:extLst>
              </a:tr>
              <a:tr h="370840">
                <a:tc>
                  <a:txBody>
                    <a:bodyPr/>
                    <a:lstStyle/>
                    <a:p>
                      <a:r>
                        <a:rPr lang="en-US" sz="1800" b="0" i="0" kern="1200" dirty="0" err="1">
                          <a:solidFill>
                            <a:schemeClr val="tx1"/>
                          </a:solidFill>
                          <a:effectLst/>
                          <a:latin typeface="+mn-lt"/>
                          <a:ea typeface="+mn-ea"/>
                          <a:cs typeface="+mn-cs"/>
                        </a:rPr>
                        <a:t>esp_now_register_send_cb</a:t>
                      </a:r>
                      <a:r>
                        <a:rPr lang="en-US" sz="1800" b="0" i="0" kern="1200" dirty="0">
                          <a:solidFill>
                            <a:schemeClr val="tx1"/>
                          </a:solidFill>
                          <a:effectLst/>
                          <a:latin typeface="+mn-lt"/>
                          <a:ea typeface="+mn-ea"/>
                          <a:cs typeface="+mn-cs"/>
                        </a:rPr>
                        <a:t>()</a:t>
                      </a:r>
                      <a:endParaRPr lang="en-IN" dirty="0"/>
                    </a:p>
                  </a:txBody>
                  <a:tcPr/>
                </a:tc>
                <a:tc>
                  <a:txBody>
                    <a:bodyPr/>
                    <a:lstStyle/>
                    <a:p>
                      <a:r>
                        <a:rPr lang="en-US" sz="1800" b="0" i="0" kern="1200" dirty="0">
                          <a:solidFill>
                            <a:schemeClr val="tx1"/>
                          </a:solidFill>
                          <a:effectLst/>
                          <a:latin typeface="+mn-lt"/>
                          <a:ea typeface="+mn-ea"/>
                          <a:cs typeface="+mn-cs"/>
                        </a:rPr>
                        <a:t>Register a callback function that is triggered upon sending data. When a message is sent, a function is called – this function returns whether the delivery was successful or not.</a:t>
                      </a:r>
                      <a:endParaRPr lang="en-IN" dirty="0"/>
                    </a:p>
                  </a:txBody>
                  <a:tcPr/>
                </a:tc>
                <a:extLst>
                  <a:ext uri="{0D108BD9-81ED-4DB2-BD59-A6C34878D82A}">
                    <a16:rowId xmlns:a16="http://schemas.microsoft.com/office/drawing/2014/main" val="216317982"/>
                  </a:ext>
                </a:extLst>
              </a:tr>
              <a:tr h="370840">
                <a:tc>
                  <a:txBody>
                    <a:bodyPr/>
                    <a:lstStyle/>
                    <a:p>
                      <a:r>
                        <a:rPr lang="en-US" sz="1800" b="0" i="0" kern="1200" dirty="0" err="1">
                          <a:solidFill>
                            <a:schemeClr val="tx1"/>
                          </a:solidFill>
                          <a:effectLst/>
                          <a:latin typeface="+mn-lt"/>
                          <a:ea typeface="+mn-ea"/>
                          <a:cs typeface="+mn-cs"/>
                        </a:rPr>
                        <a:t>esp_now_register_recv_cb</a:t>
                      </a:r>
                      <a:r>
                        <a:rPr lang="en-US" sz="1800" b="0" i="0" kern="1200" dirty="0">
                          <a:solidFill>
                            <a:schemeClr val="tx1"/>
                          </a:solidFill>
                          <a:effectLst/>
                          <a:latin typeface="+mn-lt"/>
                          <a:ea typeface="+mn-ea"/>
                          <a:cs typeface="+mn-cs"/>
                        </a:rPr>
                        <a:t>()</a:t>
                      </a:r>
                      <a:endParaRPr lang="en-IN" dirty="0"/>
                    </a:p>
                  </a:txBody>
                  <a:tcPr/>
                </a:tc>
                <a:tc>
                  <a:txBody>
                    <a:bodyPr/>
                    <a:lstStyle/>
                    <a:p>
                      <a:r>
                        <a:rPr lang="en-US" sz="1800" b="0" i="0" kern="1200" dirty="0">
                          <a:solidFill>
                            <a:schemeClr val="tx1"/>
                          </a:solidFill>
                          <a:effectLst/>
                          <a:latin typeface="+mn-lt"/>
                          <a:ea typeface="+mn-ea"/>
                          <a:cs typeface="+mn-cs"/>
                        </a:rPr>
                        <a:t>Register a callback function that is triggered upon receiving data. When data is received via ESP-NOW, a function is called.</a:t>
                      </a:r>
                      <a:endParaRPr lang="en-IN" dirty="0"/>
                    </a:p>
                  </a:txBody>
                  <a:tcPr/>
                </a:tc>
                <a:extLst>
                  <a:ext uri="{0D108BD9-81ED-4DB2-BD59-A6C34878D82A}">
                    <a16:rowId xmlns:a16="http://schemas.microsoft.com/office/drawing/2014/main" val="3707885207"/>
                  </a:ext>
                </a:extLst>
              </a:tr>
            </a:tbl>
          </a:graphicData>
        </a:graphic>
      </p:graphicFrame>
      <p:sp>
        <p:nvSpPr>
          <p:cNvPr id="4" name="Slide Number Placeholder 3">
            <a:extLst>
              <a:ext uri="{FF2B5EF4-FFF2-40B4-BE49-F238E27FC236}">
                <a16:creationId xmlns:a16="http://schemas.microsoft.com/office/drawing/2014/main" id="{E5B672A1-4DFA-610D-F7C9-F4C83AAB532D}"/>
              </a:ext>
            </a:extLst>
          </p:cNvPr>
          <p:cNvSpPr>
            <a:spLocks noGrp="1"/>
          </p:cNvSpPr>
          <p:nvPr>
            <p:ph type="sldNum" sz="quarter" idx="12"/>
          </p:nvPr>
        </p:nvSpPr>
        <p:spPr/>
        <p:txBody>
          <a:bodyPr/>
          <a:lstStyle/>
          <a:p>
            <a:fld id="{592B932E-453C-43E9-9683-166E224458DF}" type="slidenum">
              <a:rPr lang="en-IN" smtClean="0"/>
              <a:t>22</a:t>
            </a:fld>
            <a:endParaRPr lang="en-IN"/>
          </a:p>
        </p:txBody>
      </p:sp>
    </p:spTree>
    <p:extLst>
      <p:ext uri="{BB962C8B-B14F-4D97-AF65-F5344CB8AC3E}">
        <p14:creationId xmlns:p14="http://schemas.microsoft.com/office/powerpoint/2010/main" val="2628639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3FA51-8750-A5C4-DADF-34C058E8B6A3}"/>
              </a:ext>
            </a:extLst>
          </p:cNvPr>
          <p:cNvSpPr>
            <a:spLocks noGrp="1"/>
          </p:cNvSpPr>
          <p:nvPr>
            <p:ph type="title"/>
          </p:nvPr>
        </p:nvSpPr>
        <p:spPr/>
        <p:txBody>
          <a:bodyPr/>
          <a:lstStyle/>
          <a:p>
            <a:r>
              <a:rPr lang="en-US" dirty="0"/>
              <a:t>Simple Program Analysis – Sender Side</a:t>
            </a:r>
            <a:endParaRPr lang="en-IN" dirty="0"/>
          </a:p>
        </p:txBody>
      </p:sp>
      <p:sp>
        <p:nvSpPr>
          <p:cNvPr id="4" name="Slide Number Placeholder 3">
            <a:extLst>
              <a:ext uri="{FF2B5EF4-FFF2-40B4-BE49-F238E27FC236}">
                <a16:creationId xmlns:a16="http://schemas.microsoft.com/office/drawing/2014/main" id="{EF9CF45C-19BB-26EA-2618-5EAF5FDB1CBA}"/>
              </a:ext>
            </a:extLst>
          </p:cNvPr>
          <p:cNvSpPr>
            <a:spLocks noGrp="1"/>
          </p:cNvSpPr>
          <p:nvPr>
            <p:ph type="sldNum" sz="quarter" idx="12"/>
          </p:nvPr>
        </p:nvSpPr>
        <p:spPr/>
        <p:txBody>
          <a:bodyPr/>
          <a:lstStyle/>
          <a:p>
            <a:fld id="{592B932E-453C-43E9-9683-166E224458DF}" type="slidenum">
              <a:rPr lang="en-IN" smtClean="0"/>
              <a:t>23</a:t>
            </a:fld>
            <a:endParaRPr lang="en-IN"/>
          </a:p>
        </p:txBody>
      </p:sp>
      <p:sp>
        <p:nvSpPr>
          <p:cNvPr id="9" name="Rectangle 5">
            <a:extLst>
              <a:ext uri="{FF2B5EF4-FFF2-40B4-BE49-F238E27FC236}">
                <a16:creationId xmlns:a16="http://schemas.microsoft.com/office/drawing/2014/main" id="{78296B51-D10E-F7FE-06AB-679EACCE8F8D}"/>
              </a:ext>
            </a:extLst>
          </p:cNvPr>
          <p:cNvSpPr>
            <a:spLocks noChangeArrowheads="1"/>
          </p:cNvSpPr>
          <p:nvPr/>
        </p:nvSpPr>
        <p:spPr bwMode="auto">
          <a:xfrm>
            <a:off x="244930" y="2097341"/>
            <a:ext cx="7658099" cy="344709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esp_now.h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WiFi.h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6699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broadcastAddress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typedef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struct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999999"/>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char</a:t>
            </a:r>
            <a:r>
              <a:rPr kumimoji="0" lang="en-US" altLang="en-US" sz="1600" b="0" i="0" u="none" strike="noStrike" cap="none" normalizeH="0" baseline="0" dirty="0">
                <a:ln>
                  <a:noFill/>
                </a:ln>
                <a:solidFill>
                  <a:srgbClr val="000000"/>
                </a:solidFill>
                <a:effectLst/>
                <a:latin typeface="Consolas" panose="020B0609020204030204" pitchFamily="49" charset="0"/>
              </a:rPr>
              <a:t> 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32</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int</a:t>
            </a:r>
            <a:r>
              <a:rPr kumimoji="0" lang="en-US" altLang="en-US" sz="1600" b="0" i="0" u="none" strike="noStrike" cap="none" normalizeH="0" baseline="0" dirty="0">
                <a:ln>
                  <a:noFill/>
                </a:ln>
                <a:solidFill>
                  <a:srgbClr val="000000"/>
                </a:solidFill>
                <a:effectLst/>
                <a:latin typeface="Consolas" panose="020B0609020204030204" pitchFamily="49" charset="0"/>
              </a:rPr>
              <a:t> b</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float</a:t>
            </a:r>
            <a:r>
              <a:rPr kumimoji="0" lang="en-US" altLang="en-US" sz="1600" b="0" i="0" u="none" strike="noStrike" cap="none" normalizeH="0" baseline="0" dirty="0">
                <a:ln>
                  <a:noFill/>
                </a:ln>
                <a:solidFill>
                  <a:srgbClr val="000000"/>
                </a:solidFill>
                <a:effectLst/>
                <a:latin typeface="Consolas" panose="020B0609020204030204" pitchFamily="49" charset="0"/>
              </a:rPr>
              <a:t> c</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bool d</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1EFDB2CF-2104-A38D-BC46-F1C857699059}"/>
              </a:ext>
            </a:extLst>
          </p:cNvPr>
          <p:cNvSpPr txBox="1"/>
          <p:nvPr/>
        </p:nvSpPr>
        <p:spPr>
          <a:xfrm>
            <a:off x="8098972" y="2097341"/>
            <a:ext cx="2906117" cy="369332"/>
          </a:xfrm>
          <a:prstGeom prst="rect">
            <a:avLst/>
          </a:prstGeom>
          <a:noFill/>
        </p:spPr>
        <p:txBody>
          <a:bodyPr wrap="none" rtlCol="0">
            <a:spAutoFit/>
          </a:bodyPr>
          <a:lstStyle/>
          <a:p>
            <a:r>
              <a:rPr lang="en-US" dirty="0"/>
              <a:t>Line 1 – 2 : Include Libraries</a:t>
            </a:r>
            <a:endParaRPr lang="en-IN" dirty="0"/>
          </a:p>
        </p:txBody>
      </p:sp>
      <p:sp>
        <p:nvSpPr>
          <p:cNvPr id="11" name="TextBox 10">
            <a:extLst>
              <a:ext uri="{FF2B5EF4-FFF2-40B4-BE49-F238E27FC236}">
                <a16:creationId xmlns:a16="http://schemas.microsoft.com/office/drawing/2014/main" id="{911E7D76-34B9-167E-5D8C-3D884C3F4D00}"/>
              </a:ext>
            </a:extLst>
          </p:cNvPr>
          <p:cNvSpPr txBox="1"/>
          <p:nvPr/>
        </p:nvSpPr>
        <p:spPr>
          <a:xfrm>
            <a:off x="8115301" y="2759023"/>
            <a:ext cx="4026680" cy="369332"/>
          </a:xfrm>
          <a:prstGeom prst="rect">
            <a:avLst/>
          </a:prstGeom>
          <a:noFill/>
        </p:spPr>
        <p:txBody>
          <a:bodyPr wrap="none" rtlCol="0">
            <a:spAutoFit/>
          </a:bodyPr>
          <a:lstStyle/>
          <a:p>
            <a:r>
              <a:rPr lang="en-US" dirty="0"/>
              <a:t>Line 3 : Define Receiver MAC Address *</a:t>
            </a:r>
            <a:endParaRPr lang="en-IN" dirty="0"/>
          </a:p>
        </p:txBody>
      </p:sp>
      <p:sp>
        <p:nvSpPr>
          <p:cNvPr id="12" name="TextBox 11">
            <a:extLst>
              <a:ext uri="{FF2B5EF4-FFF2-40B4-BE49-F238E27FC236}">
                <a16:creationId xmlns:a16="http://schemas.microsoft.com/office/drawing/2014/main" id="{3E83BE67-7293-74F9-4C9E-7C933098A06B}"/>
              </a:ext>
            </a:extLst>
          </p:cNvPr>
          <p:cNvSpPr txBox="1"/>
          <p:nvPr/>
        </p:nvSpPr>
        <p:spPr>
          <a:xfrm>
            <a:off x="2133142" y="5836789"/>
            <a:ext cx="8301247" cy="646331"/>
          </a:xfrm>
          <a:prstGeom prst="rect">
            <a:avLst/>
          </a:prstGeom>
          <a:noFill/>
        </p:spPr>
        <p:txBody>
          <a:bodyPr wrap="none" rtlCol="0">
            <a:spAutoFit/>
          </a:bodyPr>
          <a:lstStyle/>
          <a:p>
            <a:r>
              <a:rPr lang="en-US" dirty="0">
                <a:solidFill>
                  <a:srgbClr val="FF0000"/>
                </a:solidFill>
              </a:rPr>
              <a:t>* Append 0x to each part of MAC Address</a:t>
            </a:r>
            <a:br>
              <a:rPr lang="en-US" dirty="0">
                <a:solidFill>
                  <a:srgbClr val="FF0000"/>
                </a:solidFill>
              </a:rPr>
            </a:br>
            <a:r>
              <a:rPr lang="en-US" dirty="0">
                <a:solidFill>
                  <a:srgbClr val="FF0000"/>
                </a:solidFill>
              </a:rPr>
              <a:t>Ex : If you chip MAC is  40:22:d8:74:c0:1c enter {0x40, 0x22, 0xd8, 0x74, 0xc0, 0x1c}</a:t>
            </a:r>
            <a:endParaRPr lang="en-IN" dirty="0">
              <a:solidFill>
                <a:srgbClr val="FF0000"/>
              </a:solidFill>
            </a:endParaRPr>
          </a:p>
        </p:txBody>
      </p:sp>
      <p:sp>
        <p:nvSpPr>
          <p:cNvPr id="13" name="TextBox 12">
            <a:extLst>
              <a:ext uri="{FF2B5EF4-FFF2-40B4-BE49-F238E27FC236}">
                <a16:creationId xmlns:a16="http://schemas.microsoft.com/office/drawing/2014/main" id="{15A3998D-C88D-DAE9-6A7C-B5744FFD7826}"/>
              </a:ext>
            </a:extLst>
          </p:cNvPr>
          <p:cNvSpPr txBox="1"/>
          <p:nvPr/>
        </p:nvSpPr>
        <p:spPr>
          <a:xfrm>
            <a:off x="8137741" y="3189837"/>
            <a:ext cx="4048308" cy="1815882"/>
          </a:xfrm>
          <a:prstGeom prst="rect">
            <a:avLst/>
          </a:prstGeom>
          <a:noFill/>
        </p:spPr>
        <p:txBody>
          <a:bodyPr wrap="square" rtlCol="0">
            <a:spAutoFit/>
          </a:bodyPr>
          <a:lstStyle/>
          <a:p>
            <a:r>
              <a:rPr lang="en-US" sz="1600" dirty="0"/>
              <a:t>Line 4-9 : Defining a structure data type in C.</a:t>
            </a:r>
          </a:p>
          <a:p>
            <a:r>
              <a:rPr lang="en-US" sz="1600" dirty="0"/>
              <a:t>This defined the type and length of data you will be transmitting like here we are going to transmit character array of 32 length an int b and a float c and a bool variable d. These together as a group (wrapper) can be called </a:t>
            </a:r>
            <a:r>
              <a:rPr lang="en-US" sz="1600" dirty="0" err="1"/>
              <a:t>struct_message</a:t>
            </a:r>
            <a:endParaRPr lang="en-IN" sz="1600" dirty="0"/>
          </a:p>
        </p:txBody>
      </p:sp>
      <p:sp>
        <p:nvSpPr>
          <p:cNvPr id="14" name="TextBox 13">
            <a:extLst>
              <a:ext uri="{FF2B5EF4-FFF2-40B4-BE49-F238E27FC236}">
                <a16:creationId xmlns:a16="http://schemas.microsoft.com/office/drawing/2014/main" id="{8A259920-82A2-AA17-DE6E-4B932E21254F}"/>
              </a:ext>
            </a:extLst>
          </p:cNvPr>
          <p:cNvSpPr txBox="1"/>
          <p:nvPr/>
        </p:nvSpPr>
        <p:spPr>
          <a:xfrm>
            <a:off x="8143692" y="5110242"/>
            <a:ext cx="4048308" cy="584775"/>
          </a:xfrm>
          <a:prstGeom prst="rect">
            <a:avLst/>
          </a:prstGeom>
          <a:noFill/>
        </p:spPr>
        <p:txBody>
          <a:bodyPr wrap="square" rtlCol="0">
            <a:spAutoFit/>
          </a:bodyPr>
          <a:lstStyle/>
          <a:p>
            <a:r>
              <a:rPr lang="en-US" sz="1600" dirty="0"/>
              <a:t>Line 10 : </a:t>
            </a:r>
            <a:r>
              <a:rPr lang="en-US" sz="1600" dirty="0" err="1"/>
              <a:t>Intializes</a:t>
            </a:r>
            <a:r>
              <a:rPr lang="en-US" sz="1600" dirty="0"/>
              <a:t> a variable ‘</a:t>
            </a:r>
            <a:r>
              <a:rPr lang="en-US" sz="1600" dirty="0" err="1"/>
              <a:t>myData</a:t>
            </a:r>
            <a:r>
              <a:rPr lang="en-US" sz="1600" dirty="0"/>
              <a:t>’ as the type ‘</a:t>
            </a:r>
            <a:r>
              <a:rPr lang="en-US" sz="1600" dirty="0" err="1"/>
              <a:t>struct_message</a:t>
            </a:r>
            <a:r>
              <a:rPr lang="en-US" sz="1600" dirty="0"/>
              <a:t>’</a:t>
            </a:r>
          </a:p>
        </p:txBody>
      </p:sp>
    </p:spTree>
    <p:extLst>
      <p:ext uri="{BB962C8B-B14F-4D97-AF65-F5344CB8AC3E}">
        <p14:creationId xmlns:p14="http://schemas.microsoft.com/office/powerpoint/2010/main" val="3907198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8C2-AD21-294C-D0EF-DBEE868BB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D18E5-0358-C2CA-394F-496A288E50E6}"/>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9AED585C-FCBF-2FEE-B3E2-D830C3EB318E}"/>
              </a:ext>
            </a:extLst>
          </p:cNvPr>
          <p:cNvSpPr>
            <a:spLocks noGrp="1"/>
          </p:cNvSpPr>
          <p:nvPr>
            <p:ph type="sldNum" sz="quarter" idx="12"/>
          </p:nvPr>
        </p:nvSpPr>
        <p:spPr/>
        <p:txBody>
          <a:bodyPr/>
          <a:lstStyle/>
          <a:p>
            <a:fld id="{592B932E-453C-43E9-9683-166E224458DF}" type="slidenum">
              <a:rPr lang="en-IN" smtClean="0"/>
              <a:t>24</a:t>
            </a:fld>
            <a:endParaRPr lang="en-IN"/>
          </a:p>
        </p:txBody>
      </p:sp>
      <p:sp>
        <p:nvSpPr>
          <p:cNvPr id="9" name="Rectangle 5">
            <a:extLst>
              <a:ext uri="{FF2B5EF4-FFF2-40B4-BE49-F238E27FC236}">
                <a16:creationId xmlns:a16="http://schemas.microsoft.com/office/drawing/2014/main" id="{7A21FE36-5D3B-A62E-7F84-31CB3FB6A70C}"/>
              </a:ext>
            </a:extLst>
          </p:cNvPr>
          <p:cNvSpPr>
            <a:spLocks noChangeArrowheads="1"/>
          </p:cNvSpPr>
          <p:nvPr/>
        </p:nvSpPr>
        <p:spPr bwMode="auto">
          <a:xfrm>
            <a:off x="244930" y="2097341"/>
            <a:ext cx="7658099" cy="344709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esp_now.h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include</a:t>
            </a:r>
            <a:r>
              <a:rPr kumimoji="0" lang="en-US" altLang="en-US" sz="1600" b="0" i="0" u="none" strike="noStrike" cap="none" normalizeH="0" baseline="0" dirty="0">
                <a:ln>
                  <a:noFill/>
                </a:ln>
                <a:solidFill>
                  <a:srgbClr val="990055"/>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&lt;</a:t>
            </a:r>
            <a:r>
              <a:rPr kumimoji="0" lang="en-US" altLang="en-US" sz="1600" b="0" i="0" u="none" strike="noStrike" cap="none" normalizeH="0" baseline="0" dirty="0" err="1">
                <a:ln>
                  <a:noFill/>
                </a:ln>
                <a:solidFill>
                  <a:srgbClr val="669900"/>
                </a:solidFill>
                <a:effectLst/>
                <a:latin typeface="Consolas" panose="020B0609020204030204" pitchFamily="49" charset="0"/>
              </a:rPr>
              <a:t>WiFi.h</a:t>
            </a:r>
            <a:r>
              <a:rPr kumimoji="0" lang="en-US" altLang="en-US" sz="1600" b="0" i="0" u="none" strike="noStrike" cap="none" normalizeH="0" baseline="0" dirty="0">
                <a:ln>
                  <a:noFill/>
                </a:ln>
                <a:solidFill>
                  <a:srgbClr val="669900"/>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6699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broadcastAddress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0xFF</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typedef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struct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999999"/>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char</a:t>
            </a:r>
            <a:r>
              <a:rPr kumimoji="0" lang="en-US" altLang="en-US" sz="1600" b="0" i="0" u="none" strike="noStrike" cap="none" normalizeH="0" baseline="0" dirty="0">
                <a:ln>
                  <a:noFill/>
                </a:ln>
                <a:solidFill>
                  <a:srgbClr val="000000"/>
                </a:solidFill>
                <a:effectLst/>
                <a:latin typeface="Consolas" panose="020B0609020204030204" pitchFamily="49" charset="0"/>
              </a:rPr>
              <a:t> 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32</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int</a:t>
            </a:r>
            <a:r>
              <a:rPr kumimoji="0" lang="en-US" altLang="en-US" sz="1600" b="0" i="0" u="none" strike="noStrike" cap="none" normalizeH="0" baseline="0" dirty="0">
                <a:ln>
                  <a:noFill/>
                </a:ln>
                <a:solidFill>
                  <a:srgbClr val="000000"/>
                </a:solidFill>
                <a:effectLst/>
                <a:latin typeface="Consolas" panose="020B0609020204030204" pitchFamily="49" charset="0"/>
              </a:rPr>
              <a:t> b</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77AA"/>
                </a:solidFill>
                <a:effectLst/>
                <a:latin typeface="Consolas" panose="020B0609020204030204" pitchFamily="49" charset="0"/>
              </a:rPr>
              <a:t>float</a:t>
            </a:r>
            <a:r>
              <a:rPr kumimoji="0" lang="en-US" altLang="en-US" sz="1600" b="0" i="0" u="none" strike="noStrike" cap="none" normalizeH="0" baseline="0" dirty="0">
                <a:ln>
                  <a:noFill/>
                </a:ln>
                <a:solidFill>
                  <a:srgbClr val="000000"/>
                </a:solidFill>
                <a:effectLst/>
                <a:latin typeface="Consolas" panose="020B0609020204030204" pitchFamily="49" charset="0"/>
              </a:rPr>
              <a:t> c</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bool d</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struct_message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DE58F13-ADE2-CCAA-E787-7BF4324ED6EA}"/>
              </a:ext>
            </a:extLst>
          </p:cNvPr>
          <p:cNvSpPr txBox="1"/>
          <p:nvPr/>
        </p:nvSpPr>
        <p:spPr>
          <a:xfrm>
            <a:off x="8098972" y="2097341"/>
            <a:ext cx="2906117" cy="369332"/>
          </a:xfrm>
          <a:prstGeom prst="rect">
            <a:avLst/>
          </a:prstGeom>
          <a:noFill/>
        </p:spPr>
        <p:txBody>
          <a:bodyPr wrap="none" rtlCol="0">
            <a:spAutoFit/>
          </a:bodyPr>
          <a:lstStyle/>
          <a:p>
            <a:r>
              <a:rPr lang="en-US" dirty="0"/>
              <a:t>Line 1 – 2 : Include Libraries</a:t>
            </a:r>
            <a:endParaRPr lang="en-IN" dirty="0"/>
          </a:p>
        </p:txBody>
      </p:sp>
      <p:sp>
        <p:nvSpPr>
          <p:cNvPr id="11" name="TextBox 10">
            <a:extLst>
              <a:ext uri="{FF2B5EF4-FFF2-40B4-BE49-F238E27FC236}">
                <a16:creationId xmlns:a16="http://schemas.microsoft.com/office/drawing/2014/main" id="{9CFBFC64-95C6-5D00-3B66-9800354FDF8C}"/>
              </a:ext>
            </a:extLst>
          </p:cNvPr>
          <p:cNvSpPr txBox="1"/>
          <p:nvPr/>
        </p:nvSpPr>
        <p:spPr>
          <a:xfrm>
            <a:off x="8115301" y="2759023"/>
            <a:ext cx="4026680" cy="369332"/>
          </a:xfrm>
          <a:prstGeom prst="rect">
            <a:avLst/>
          </a:prstGeom>
          <a:noFill/>
        </p:spPr>
        <p:txBody>
          <a:bodyPr wrap="none" rtlCol="0">
            <a:spAutoFit/>
          </a:bodyPr>
          <a:lstStyle/>
          <a:p>
            <a:r>
              <a:rPr lang="en-US" dirty="0"/>
              <a:t>Line 3 : Define Receiver MAC Address *</a:t>
            </a:r>
            <a:endParaRPr lang="en-IN" dirty="0"/>
          </a:p>
        </p:txBody>
      </p:sp>
      <p:sp>
        <p:nvSpPr>
          <p:cNvPr id="12" name="TextBox 11">
            <a:extLst>
              <a:ext uri="{FF2B5EF4-FFF2-40B4-BE49-F238E27FC236}">
                <a16:creationId xmlns:a16="http://schemas.microsoft.com/office/drawing/2014/main" id="{9EE7448F-20DE-8AE6-EF6D-2E81FB9AB052}"/>
              </a:ext>
            </a:extLst>
          </p:cNvPr>
          <p:cNvSpPr txBox="1"/>
          <p:nvPr/>
        </p:nvSpPr>
        <p:spPr>
          <a:xfrm>
            <a:off x="2133142" y="5836789"/>
            <a:ext cx="8301247" cy="646331"/>
          </a:xfrm>
          <a:prstGeom prst="rect">
            <a:avLst/>
          </a:prstGeom>
          <a:noFill/>
        </p:spPr>
        <p:txBody>
          <a:bodyPr wrap="none" rtlCol="0">
            <a:spAutoFit/>
          </a:bodyPr>
          <a:lstStyle/>
          <a:p>
            <a:r>
              <a:rPr lang="en-US" dirty="0">
                <a:solidFill>
                  <a:srgbClr val="FF0000"/>
                </a:solidFill>
              </a:rPr>
              <a:t>* Append 0x to each part of MAC Address</a:t>
            </a:r>
            <a:br>
              <a:rPr lang="en-US" dirty="0">
                <a:solidFill>
                  <a:srgbClr val="FF0000"/>
                </a:solidFill>
              </a:rPr>
            </a:br>
            <a:r>
              <a:rPr lang="en-US" dirty="0">
                <a:solidFill>
                  <a:srgbClr val="FF0000"/>
                </a:solidFill>
              </a:rPr>
              <a:t>Ex : If you chip MAC is  40:22:d8:74:c0:1c enter {0x40, 0x22, 0xd8, 0x74, 0xc0, 0x1c}</a:t>
            </a:r>
            <a:endParaRPr lang="en-IN" dirty="0">
              <a:solidFill>
                <a:srgbClr val="FF0000"/>
              </a:solidFill>
            </a:endParaRPr>
          </a:p>
        </p:txBody>
      </p:sp>
      <p:sp>
        <p:nvSpPr>
          <p:cNvPr id="13" name="TextBox 12">
            <a:extLst>
              <a:ext uri="{FF2B5EF4-FFF2-40B4-BE49-F238E27FC236}">
                <a16:creationId xmlns:a16="http://schemas.microsoft.com/office/drawing/2014/main" id="{9C866B70-FF28-AE8D-897B-A6B0CF7C5DB8}"/>
              </a:ext>
            </a:extLst>
          </p:cNvPr>
          <p:cNvSpPr txBox="1"/>
          <p:nvPr/>
        </p:nvSpPr>
        <p:spPr>
          <a:xfrm>
            <a:off x="8137741" y="3189837"/>
            <a:ext cx="4048308" cy="1815882"/>
          </a:xfrm>
          <a:prstGeom prst="rect">
            <a:avLst/>
          </a:prstGeom>
          <a:noFill/>
        </p:spPr>
        <p:txBody>
          <a:bodyPr wrap="square" rtlCol="0">
            <a:spAutoFit/>
          </a:bodyPr>
          <a:lstStyle/>
          <a:p>
            <a:r>
              <a:rPr lang="en-US" sz="1600" dirty="0"/>
              <a:t>Line 4-9 : Defining a structure data type in C.</a:t>
            </a:r>
          </a:p>
          <a:p>
            <a:r>
              <a:rPr lang="en-US" sz="1600" dirty="0"/>
              <a:t>This defined the type and length of data you will be transmitting like here we are going to transmit character array of 32 length an int b and a float c and a bool variable d. These together as a group (wrapper) can be called </a:t>
            </a:r>
            <a:r>
              <a:rPr lang="en-US" sz="1600" dirty="0" err="1"/>
              <a:t>struct_message</a:t>
            </a:r>
            <a:endParaRPr lang="en-IN" sz="1600" dirty="0"/>
          </a:p>
        </p:txBody>
      </p:sp>
      <p:sp>
        <p:nvSpPr>
          <p:cNvPr id="14" name="TextBox 13">
            <a:extLst>
              <a:ext uri="{FF2B5EF4-FFF2-40B4-BE49-F238E27FC236}">
                <a16:creationId xmlns:a16="http://schemas.microsoft.com/office/drawing/2014/main" id="{73D1629B-1541-13EA-D210-68360B3EB854}"/>
              </a:ext>
            </a:extLst>
          </p:cNvPr>
          <p:cNvSpPr txBox="1"/>
          <p:nvPr/>
        </p:nvSpPr>
        <p:spPr>
          <a:xfrm>
            <a:off x="8143692" y="5110242"/>
            <a:ext cx="4048308" cy="584775"/>
          </a:xfrm>
          <a:prstGeom prst="rect">
            <a:avLst/>
          </a:prstGeom>
          <a:noFill/>
        </p:spPr>
        <p:txBody>
          <a:bodyPr wrap="square" rtlCol="0">
            <a:spAutoFit/>
          </a:bodyPr>
          <a:lstStyle/>
          <a:p>
            <a:r>
              <a:rPr lang="en-US" sz="1600" dirty="0"/>
              <a:t>Line 10 : </a:t>
            </a:r>
            <a:r>
              <a:rPr lang="en-US" sz="1600" dirty="0" err="1"/>
              <a:t>Intializes</a:t>
            </a:r>
            <a:r>
              <a:rPr lang="en-US" sz="1600" dirty="0"/>
              <a:t> a variable ‘</a:t>
            </a:r>
            <a:r>
              <a:rPr lang="en-US" sz="1600" dirty="0" err="1"/>
              <a:t>myData</a:t>
            </a:r>
            <a:r>
              <a:rPr lang="en-US" sz="1600" dirty="0"/>
              <a:t>’ as the type ‘</a:t>
            </a:r>
            <a:r>
              <a:rPr lang="en-US" sz="1600" dirty="0" err="1"/>
              <a:t>struct_message</a:t>
            </a:r>
            <a:r>
              <a:rPr lang="en-US" sz="1600" dirty="0"/>
              <a:t>’</a:t>
            </a:r>
          </a:p>
        </p:txBody>
      </p:sp>
    </p:spTree>
    <p:extLst>
      <p:ext uri="{BB962C8B-B14F-4D97-AF65-F5344CB8AC3E}">
        <p14:creationId xmlns:p14="http://schemas.microsoft.com/office/powerpoint/2010/main" val="3019320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E174-CD23-BDA1-2536-EA264C9E9D5D}"/>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CABDC785-6AA8-F81F-365F-6652F6C73600}"/>
              </a:ext>
            </a:extLst>
          </p:cNvPr>
          <p:cNvSpPr>
            <a:spLocks noGrp="1"/>
          </p:cNvSpPr>
          <p:nvPr>
            <p:ph type="sldNum" sz="quarter" idx="12"/>
          </p:nvPr>
        </p:nvSpPr>
        <p:spPr/>
        <p:txBody>
          <a:bodyPr/>
          <a:lstStyle/>
          <a:p>
            <a:fld id="{592B932E-453C-43E9-9683-166E224458DF}" type="slidenum">
              <a:rPr lang="en-IN" smtClean="0"/>
              <a:t>25</a:t>
            </a:fld>
            <a:endParaRPr lang="en-IN"/>
          </a:p>
        </p:txBody>
      </p:sp>
      <p:sp>
        <p:nvSpPr>
          <p:cNvPr id="6" name="Rectangle 2">
            <a:extLst>
              <a:ext uri="{FF2B5EF4-FFF2-40B4-BE49-F238E27FC236}">
                <a16:creationId xmlns:a16="http://schemas.microsoft.com/office/drawing/2014/main" id="{59C13EEE-10D0-A55D-C18B-5B1CD942DAD6}"/>
              </a:ext>
            </a:extLst>
          </p:cNvPr>
          <p:cNvSpPr>
            <a:spLocks noChangeArrowheads="1"/>
          </p:cNvSpPr>
          <p:nvPr/>
        </p:nvSpPr>
        <p:spPr bwMode="auto">
          <a:xfrm>
            <a:off x="495502" y="1702515"/>
            <a:ext cx="5375909" cy="221599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esp_now_peer_info_t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peerInfo</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999999"/>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OnDataSent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mac_addr</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esp_now_send_status_t</a:t>
            </a:r>
            <a:r>
              <a:rPr kumimoji="0" lang="en-US" altLang="en-US" sz="1600" b="0" i="0" u="none" strike="noStrike" cap="none" normalizeH="0" baseline="0" dirty="0">
                <a:ln>
                  <a:noFill/>
                </a:ln>
                <a:solidFill>
                  <a:srgbClr val="000000"/>
                </a:solidFill>
                <a:effectLst/>
                <a:latin typeface="Consolas" panose="020B0609020204030204" pitchFamily="49" charset="0"/>
              </a:rPr>
              <a:t> status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"\r\</a:t>
            </a:r>
            <a:r>
              <a:rPr kumimoji="0" lang="en-US" altLang="en-US" sz="1600" b="0" i="0" u="none" strike="noStrike" cap="none" normalizeH="0" baseline="0" dirty="0" err="1">
                <a:ln>
                  <a:noFill/>
                </a:ln>
                <a:solidFill>
                  <a:srgbClr val="669900"/>
                </a:solidFill>
                <a:effectLst/>
                <a:latin typeface="Consolas" panose="020B0609020204030204" pitchFamily="49" charset="0"/>
              </a:rPr>
              <a:t>nLast</a:t>
            </a:r>
            <a:r>
              <a:rPr kumimoji="0" lang="en-US" altLang="en-US" sz="1600" b="0" i="0" u="none" strike="noStrike" cap="none" normalizeH="0" baseline="0" dirty="0">
                <a:ln>
                  <a:noFill/>
                </a:ln>
                <a:solidFill>
                  <a:srgbClr val="669900"/>
                </a:solidFill>
                <a:effectLst/>
                <a:latin typeface="Consolas" panose="020B0609020204030204" pitchFamily="49" charset="0"/>
              </a:rPr>
              <a:t> Packet Send Status:\t"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status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ESP_NOW_SEND_SUCCESS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Success"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Fail"</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6596BF0-12C5-837E-4D33-796CDAA5DD4D}"/>
              </a:ext>
            </a:extLst>
          </p:cNvPr>
          <p:cNvSpPr>
            <a:spLocks noChangeArrowheads="1"/>
          </p:cNvSpPr>
          <p:nvPr/>
        </p:nvSpPr>
        <p:spPr bwMode="auto">
          <a:xfrm>
            <a:off x="495501" y="3878184"/>
            <a:ext cx="5375910" cy="221599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setup</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begin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115200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WiFi</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mode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WIFI_STA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if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esp_now_init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ESP_OK</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"Error initializing ESP-NOW"</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return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E68B43B-C847-AF29-756E-DE080018CD6A}"/>
              </a:ext>
            </a:extLst>
          </p:cNvPr>
          <p:cNvSpPr txBox="1"/>
          <p:nvPr/>
        </p:nvSpPr>
        <p:spPr>
          <a:xfrm>
            <a:off x="6096000" y="2170748"/>
            <a:ext cx="5699760" cy="923330"/>
          </a:xfrm>
          <a:prstGeom prst="rect">
            <a:avLst/>
          </a:prstGeom>
          <a:noFill/>
        </p:spPr>
        <p:txBody>
          <a:bodyPr wrap="square" rtlCol="0">
            <a:spAutoFit/>
          </a:bodyPr>
          <a:lstStyle/>
          <a:p>
            <a:r>
              <a:rPr lang="en-US" dirty="0"/>
              <a:t>This side code makes sure that the connection was established and the message was sent successfully from the sender side ESP32 </a:t>
            </a:r>
            <a:endParaRPr lang="en-IN" dirty="0"/>
          </a:p>
        </p:txBody>
      </p:sp>
      <p:sp>
        <p:nvSpPr>
          <p:cNvPr id="12" name="TextBox 11">
            <a:extLst>
              <a:ext uri="{FF2B5EF4-FFF2-40B4-BE49-F238E27FC236}">
                <a16:creationId xmlns:a16="http://schemas.microsoft.com/office/drawing/2014/main" id="{38033F0B-9516-EF60-1BEE-57C7158A62A6}"/>
              </a:ext>
            </a:extLst>
          </p:cNvPr>
          <p:cNvSpPr txBox="1"/>
          <p:nvPr/>
        </p:nvSpPr>
        <p:spPr>
          <a:xfrm>
            <a:off x="6096000" y="4263549"/>
            <a:ext cx="5699760" cy="369332"/>
          </a:xfrm>
          <a:prstGeom prst="rect">
            <a:avLst/>
          </a:prstGeom>
          <a:noFill/>
        </p:spPr>
        <p:txBody>
          <a:bodyPr wrap="square" rtlCol="0">
            <a:spAutoFit/>
          </a:bodyPr>
          <a:lstStyle/>
          <a:p>
            <a:r>
              <a:rPr lang="en-US" dirty="0"/>
              <a:t>The casual setup function to initialize things up</a:t>
            </a:r>
            <a:endParaRPr lang="en-IN" dirty="0"/>
          </a:p>
        </p:txBody>
      </p:sp>
    </p:spTree>
    <p:extLst>
      <p:ext uri="{BB962C8B-B14F-4D97-AF65-F5344CB8AC3E}">
        <p14:creationId xmlns:p14="http://schemas.microsoft.com/office/powerpoint/2010/main" val="3424726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E2F9-D2BD-3255-BD3C-6470A71EA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CA27E-7D6E-5794-81CC-E73616353271}"/>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8CFFA0DD-1D52-843A-C21B-5D3602D5476F}"/>
              </a:ext>
            </a:extLst>
          </p:cNvPr>
          <p:cNvSpPr>
            <a:spLocks noGrp="1"/>
          </p:cNvSpPr>
          <p:nvPr>
            <p:ph type="sldNum" sz="quarter" idx="12"/>
          </p:nvPr>
        </p:nvSpPr>
        <p:spPr/>
        <p:txBody>
          <a:bodyPr/>
          <a:lstStyle/>
          <a:p>
            <a:fld id="{592B932E-453C-43E9-9683-166E224458DF}" type="slidenum">
              <a:rPr lang="en-IN" smtClean="0"/>
              <a:t>26</a:t>
            </a:fld>
            <a:endParaRPr lang="en-IN"/>
          </a:p>
        </p:txBody>
      </p:sp>
      <p:sp>
        <p:nvSpPr>
          <p:cNvPr id="6" name="Rectangle 2">
            <a:extLst>
              <a:ext uri="{FF2B5EF4-FFF2-40B4-BE49-F238E27FC236}">
                <a16:creationId xmlns:a16="http://schemas.microsoft.com/office/drawing/2014/main" id="{CB2202D7-06BC-AECE-EB82-B04745322C7E}"/>
              </a:ext>
            </a:extLst>
          </p:cNvPr>
          <p:cNvSpPr>
            <a:spLocks noChangeArrowheads="1"/>
          </p:cNvSpPr>
          <p:nvPr/>
        </p:nvSpPr>
        <p:spPr bwMode="auto">
          <a:xfrm>
            <a:off x="495502" y="1702515"/>
            <a:ext cx="5375909" cy="221599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esp_now_peer_info_t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peerInfo</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999999"/>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OnDataSent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77AA"/>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mac_addr</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esp_now_send_status_t</a:t>
            </a:r>
            <a:r>
              <a:rPr kumimoji="0" lang="en-US" altLang="en-US" sz="1600" b="0" i="0" u="none" strike="noStrike" cap="none" normalizeH="0" baseline="0" dirty="0">
                <a:ln>
                  <a:noFill/>
                </a:ln>
                <a:solidFill>
                  <a:srgbClr val="000000"/>
                </a:solidFill>
                <a:effectLst/>
                <a:latin typeface="Consolas" panose="020B0609020204030204" pitchFamily="49" charset="0"/>
              </a:rPr>
              <a:t> status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"\r\</a:t>
            </a:r>
            <a:r>
              <a:rPr kumimoji="0" lang="en-US" altLang="en-US" sz="1600" b="0" i="0" u="none" strike="noStrike" cap="none" normalizeH="0" baseline="0" dirty="0" err="1">
                <a:ln>
                  <a:noFill/>
                </a:ln>
                <a:solidFill>
                  <a:srgbClr val="669900"/>
                </a:solidFill>
                <a:effectLst/>
                <a:latin typeface="Consolas" panose="020B0609020204030204" pitchFamily="49" charset="0"/>
              </a:rPr>
              <a:t>nLast</a:t>
            </a:r>
            <a:r>
              <a:rPr kumimoji="0" lang="en-US" altLang="en-US" sz="1600" b="0" i="0" u="none" strike="noStrike" cap="none" normalizeH="0" baseline="0" dirty="0">
                <a:ln>
                  <a:noFill/>
                </a:ln>
                <a:solidFill>
                  <a:srgbClr val="669900"/>
                </a:solidFill>
                <a:effectLst/>
                <a:latin typeface="Consolas" panose="020B0609020204030204" pitchFamily="49" charset="0"/>
              </a:rPr>
              <a:t> Packet Send Status:\t"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status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ESP_NOW_SEND_SUCCESS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Success"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"Delivery Fail"</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2AF5786E-8D23-08C0-277A-3C990551D1F2}"/>
              </a:ext>
            </a:extLst>
          </p:cNvPr>
          <p:cNvSpPr>
            <a:spLocks noChangeArrowheads="1"/>
          </p:cNvSpPr>
          <p:nvPr/>
        </p:nvSpPr>
        <p:spPr bwMode="auto">
          <a:xfrm>
            <a:off x="495501" y="3894137"/>
            <a:ext cx="5375910" cy="246221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setup</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begin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115200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WiFi</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mode</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WIFI_STA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if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esp_now_init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ESP_OK</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"Error initializing ESP-NOW"</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return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999999"/>
                </a:solidFill>
                <a:latin typeface="Consolas" panose="020B0609020204030204" pitchFamily="49" charset="0"/>
              </a:rPr>
              <a:t>}</a:t>
            </a:r>
            <a:br>
              <a:rPr lang="en-US" altLang="en-US" sz="1600" dirty="0">
                <a:solidFill>
                  <a:srgbClr val="999999"/>
                </a:solidFill>
                <a:latin typeface="Consolas" panose="020B0609020204030204" pitchFamily="49" charset="0"/>
              </a:rPr>
            </a:br>
            <a:r>
              <a:rPr lang="en-US" altLang="en-US" sz="1600" dirty="0">
                <a:solidFill>
                  <a:srgbClr val="999999"/>
                </a:solidFill>
                <a:latin typeface="Consolas" panose="020B0609020204030204" pitchFamily="49" charset="0"/>
              </a:rPr>
              <a:t>….</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AEF05465-7BD6-8CFB-C2C9-D7E7CACAC847}"/>
              </a:ext>
            </a:extLst>
          </p:cNvPr>
          <p:cNvSpPr txBox="1"/>
          <p:nvPr/>
        </p:nvSpPr>
        <p:spPr>
          <a:xfrm>
            <a:off x="6096000" y="2170748"/>
            <a:ext cx="5699760" cy="923330"/>
          </a:xfrm>
          <a:prstGeom prst="rect">
            <a:avLst/>
          </a:prstGeom>
          <a:noFill/>
        </p:spPr>
        <p:txBody>
          <a:bodyPr wrap="square" rtlCol="0">
            <a:spAutoFit/>
          </a:bodyPr>
          <a:lstStyle/>
          <a:p>
            <a:r>
              <a:rPr lang="en-US" dirty="0"/>
              <a:t>This side code makes sure that the connection was established and the message was sent successfully from the sender side ESP32 </a:t>
            </a:r>
            <a:endParaRPr lang="en-IN" dirty="0"/>
          </a:p>
        </p:txBody>
      </p:sp>
      <p:sp>
        <p:nvSpPr>
          <p:cNvPr id="12" name="TextBox 11">
            <a:extLst>
              <a:ext uri="{FF2B5EF4-FFF2-40B4-BE49-F238E27FC236}">
                <a16:creationId xmlns:a16="http://schemas.microsoft.com/office/drawing/2014/main" id="{56D252B3-F8BF-7A36-4183-66B9FC46E6E7}"/>
              </a:ext>
            </a:extLst>
          </p:cNvPr>
          <p:cNvSpPr txBox="1"/>
          <p:nvPr/>
        </p:nvSpPr>
        <p:spPr>
          <a:xfrm>
            <a:off x="6096000" y="4263549"/>
            <a:ext cx="5699760" cy="369332"/>
          </a:xfrm>
          <a:prstGeom prst="rect">
            <a:avLst/>
          </a:prstGeom>
          <a:noFill/>
        </p:spPr>
        <p:txBody>
          <a:bodyPr wrap="square" rtlCol="0">
            <a:spAutoFit/>
          </a:bodyPr>
          <a:lstStyle/>
          <a:p>
            <a:r>
              <a:rPr lang="en-US" dirty="0"/>
              <a:t>The casual setup function to initialize things up</a:t>
            </a:r>
            <a:endParaRPr lang="en-IN" dirty="0"/>
          </a:p>
        </p:txBody>
      </p:sp>
    </p:spTree>
    <p:extLst>
      <p:ext uri="{BB962C8B-B14F-4D97-AF65-F5344CB8AC3E}">
        <p14:creationId xmlns:p14="http://schemas.microsoft.com/office/powerpoint/2010/main" val="3794062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C3187-72D9-EEF7-EBA4-7AA886914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4A35F-232C-B37F-8AEC-B0C1E99B2495}"/>
              </a:ext>
            </a:extLst>
          </p:cNvPr>
          <p:cNvSpPr>
            <a:spLocks noGrp="1"/>
          </p:cNvSpPr>
          <p:nvPr>
            <p:ph type="title"/>
          </p:nvPr>
        </p:nvSpPr>
        <p:spPr/>
        <p:txBody>
          <a:bodyPr>
            <a:normAutofit/>
          </a:bodyPr>
          <a:lstStyle/>
          <a:p>
            <a:r>
              <a:rPr lang="en-US" sz="4000" dirty="0"/>
              <a:t>Simple Program Analysis – Sender Side (Contd.)</a:t>
            </a:r>
            <a:endParaRPr lang="en-IN" sz="4000" dirty="0"/>
          </a:p>
        </p:txBody>
      </p:sp>
      <p:sp>
        <p:nvSpPr>
          <p:cNvPr id="4" name="Slide Number Placeholder 3">
            <a:extLst>
              <a:ext uri="{FF2B5EF4-FFF2-40B4-BE49-F238E27FC236}">
                <a16:creationId xmlns:a16="http://schemas.microsoft.com/office/drawing/2014/main" id="{1E5E6A98-CFF8-4129-AE0B-52CE0A0C5FEC}"/>
              </a:ext>
            </a:extLst>
          </p:cNvPr>
          <p:cNvSpPr>
            <a:spLocks noGrp="1"/>
          </p:cNvSpPr>
          <p:nvPr>
            <p:ph type="sldNum" sz="quarter" idx="12"/>
          </p:nvPr>
        </p:nvSpPr>
        <p:spPr/>
        <p:txBody>
          <a:bodyPr/>
          <a:lstStyle/>
          <a:p>
            <a:fld id="{592B932E-453C-43E9-9683-166E224458DF}" type="slidenum">
              <a:rPr lang="en-IN" smtClean="0"/>
              <a:t>27</a:t>
            </a:fld>
            <a:endParaRPr lang="en-IN"/>
          </a:p>
        </p:txBody>
      </p:sp>
      <p:sp>
        <p:nvSpPr>
          <p:cNvPr id="11" name="TextBox 10">
            <a:extLst>
              <a:ext uri="{FF2B5EF4-FFF2-40B4-BE49-F238E27FC236}">
                <a16:creationId xmlns:a16="http://schemas.microsoft.com/office/drawing/2014/main" id="{CA8AB972-9A63-D20A-3151-A26B0F1228FD}"/>
              </a:ext>
            </a:extLst>
          </p:cNvPr>
          <p:cNvSpPr txBox="1"/>
          <p:nvPr/>
        </p:nvSpPr>
        <p:spPr>
          <a:xfrm>
            <a:off x="6770370" y="3244333"/>
            <a:ext cx="5699760" cy="369332"/>
          </a:xfrm>
          <a:prstGeom prst="rect">
            <a:avLst/>
          </a:prstGeom>
          <a:noFill/>
        </p:spPr>
        <p:txBody>
          <a:bodyPr wrap="square" rtlCol="0">
            <a:spAutoFit/>
          </a:bodyPr>
          <a:lstStyle/>
          <a:p>
            <a:r>
              <a:rPr lang="en-US" dirty="0"/>
              <a:t>Loop Function for the Arduino Template</a:t>
            </a:r>
            <a:endParaRPr lang="en-IN" dirty="0"/>
          </a:p>
        </p:txBody>
      </p:sp>
      <p:sp>
        <p:nvSpPr>
          <p:cNvPr id="3" name="Rectangle 1">
            <a:extLst>
              <a:ext uri="{FF2B5EF4-FFF2-40B4-BE49-F238E27FC236}">
                <a16:creationId xmlns:a16="http://schemas.microsoft.com/office/drawing/2014/main" id="{DD73C49D-0B32-E548-3D21-B888AB93DE20}"/>
              </a:ext>
            </a:extLst>
          </p:cNvPr>
          <p:cNvSpPr>
            <a:spLocks noChangeArrowheads="1"/>
          </p:cNvSpPr>
          <p:nvPr/>
        </p:nvSpPr>
        <p:spPr bwMode="auto">
          <a:xfrm>
            <a:off x="396240" y="1582340"/>
            <a:ext cx="5486400" cy="369331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loop</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strcpy</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669900"/>
                </a:solidFill>
                <a:effectLst/>
                <a:latin typeface="Consolas" panose="020B0609020204030204" pitchFamily="49" charset="0"/>
              </a:rPr>
              <a:t>"THIS IS A CHAR"</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b</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DD4A68"/>
                </a:solidFill>
                <a:effectLst/>
                <a:latin typeface="Consolas" panose="020B0609020204030204" pitchFamily="49" charset="0"/>
              </a:rPr>
              <a:t>random</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1</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20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1.2</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d</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false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D4A68"/>
                </a:solidFill>
                <a:effectLst/>
                <a:latin typeface="Consolas" panose="020B0609020204030204" pitchFamily="49" charset="0"/>
              </a:rPr>
              <a:t>esp_err_t</a:t>
            </a:r>
            <a:r>
              <a:rPr kumimoji="0" lang="en-US" altLang="en-US" sz="1600" b="0" i="0" u="none" strike="noStrike" cap="none" normalizeH="0" baseline="0" dirty="0">
                <a:ln>
                  <a:noFill/>
                </a:ln>
                <a:solidFill>
                  <a:srgbClr val="000000"/>
                </a:solidFill>
                <a:effectLst/>
                <a:latin typeface="Consolas" panose="020B0609020204030204" pitchFamily="49" charset="0"/>
              </a:rPr>
              <a:t> result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DD4A68"/>
                </a:solidFill>
                <a:effectLst/>
                <a:latin typeface="Consolas" panose="020B0609020204030204" pitchFamily="49" charset="0"/>
              </a:rPr>
              <a:t>esp_now_send</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broadcastAddress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DD4A68"/>
                </a:solidFill>
                <a:effectLst/>
                <a:latin typeface="Consolas" panose="020B0609020204030204" pitchFamily="49" charset="0"/>
              </a:rPr>
              <a:t>uint8_t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A6E3A"/>
                </a:solidFill>
                <a:effectLst/>
                <a:latin typeface="Consolas" panose="020B0609020204030204" pitchFamily="49" charset="0"/>
              </a:rPr>
              <a:t>&amp;</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77AA"/>
                </a:solidFill>
                <a:effectLst/>
                <a:latin typeface="Consolas" panose="020B0609020204030204" pitchFamily="49" charset="0"/>
              </a:rPr>
              <a:t>sizeof</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000000"/>
                </a:solidFill>
                <a:effectLst/>
                <a:latin typeface="Consolas" panose="020B0609020204030204" pitchFamily="49" charset="0"/>
              </a:rPr>
              <a:t>myData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if</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result </a:t>
            </a:r>
            <a:r>
              <a:rPr kumimoji="0" lang="en-US" altLang="en-US" sz="1600" b="0" i="0" u="none" strike="noStrike" cap="none" normalizeH="0" baseline="0" dirty="0">
                <a:ln>
                  <a:noFill/>
                </a:ln>
                <a:solidFill>
                  <a:srgbClr val="9A6E3A"/>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ESP_OK</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"Sent with success"</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nsolas" panose="020B0609020204030204" pitchFamily="49" charset="0"/>
              </a:rPr>
              <a:t>else</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Serial</a:t>
            </a:r>
            <a:r>
              <a:rPr kumimoji="0" lang="en-US" altLang="en-US" sz="1600" b="0" i="0" u="none" strike="noStrike" cap="none" normalizeH="0" baseline="0" dirty="0" err="1">
                <a:ln>
                  <a:noFill/>
                </a:ln>
                <a:solidFill>
                  <a:srgbClr val="999999"/>
                </a:solidFill>
                <a:effectLst/>
                <a:latin typeface="Consolas" panose="020B0609020204030204" pitchFamily="49" charset="0"/>
              </a:rPr>
              <a:t>.</a:t>
            </a:r>
            <a:r>
              <a:rPr kumimoji="0" lang="en-US" altLang="en-US" sz="1600" b="0" i="0" u="none" strike="noStrike" cap="none" normalizeH="0" baseline="0" dirty="0" err="1">
                <a:ln>
                  <a:noFill/>
                </a:ln>
                <a:solidFill>
                  <a:srgbClr val="DD4A68"/>
                </a:solidFill>
                <a:effectLst/>
                <a:latin typeface="Consolas" panose="020B0609020204030204" pitchFamily="49" charset="0"/>
              </a:rPr>
              <a:t>println</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669900"/>
                </a:solidFill>
                <a:effectLst/>
                <a:latin typeface="Consolas" panose="020B0609020204030204" pitchFamily="49" charset="0"/>
              </a:rPr>
              <a:t>"Error sending the data"</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D4A68"/>
                </a:solidFill>
                <a:effectLst/>
                <a:latin typeface="Consolas" panose="020B0609020204030204" pitchFamily="49" charset="0"/>
              </a:rPr>
              <a:t>delay</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990055"/>
                </a:solidFill>
                <a:effectLst/>
                <a:latin typeface="Consolas" panose="020B0609020204030204" pitchFamily="49" charset="0"/>
              </a:rPr>
              <a:t>2000</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9393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3FD5D-4413-58B6-95EB-F8210D3C1030}"/>
              </a:ext>
            </a:extLst>
          </p:cNvPr>
          <p:cNvSpPr>
            <a:spLocks noGrp="1"/>
          </p:cNvSpPr>
          <p:nvPr>
            <p:ph type="title"/>
          </p:nvPr>
        </p:nvSpPr>
        <p:spPr/>
        <p:txBody>
          <a:bodyPr/>
          <a:lstStyle/>
          <a:p>
            <a:r>
              <a:rPr lang="en-US" dirty="0"/>
              <a:t>Simple Program Analysis – </a:t>
            </a:r>
            <a:r>
              <a:rPr lang="en-US" dirty="0" err="1"/>
              <a:t>Reciever</a:t>
            </a:r>
            <a:r>
              <a:rPr lang="en-US" dirty="0"/>
              <a:t> Side</a:t>
            </a:r>
            <a:endParaRPr lang="en-IN" dirty="0"/>
          </a:p>
        </p:txBody>
      </p:sp>
      <p:sp>
        <p:nvSpPr>
          <p:cNvPr id="3" name="Content Placeholder 2">
            <a:extLst>
              <a:ext uri="{FF2B5EF4-FFF2-40B4-BE49-F238E27FC236}">
                <a16:creationId xmlns:a16="http://schemas.microsoft.com/office/drawing/2014/main" id="{026BB359-FB0C-A97E-CAA0-855BDAE710BE}"/>
              </a:ext>
            </a:extLst>
          </p:cNvPr>
          <p:cNvSpPr>
            <a:spLocks noGrp="1"/>
          </p:cNvSpPr>
          <p:nvPr>
            <p:ph idx="1"/>
          </p:nvPr>
        </p:nvSpPr>
        <p:spPr/>
        <p:txBody>
          <a:bodyPr/>
          <a:lstStyle/>
          <a:p>
            <a:pPr marL="0" indent="0">
              <a:buNone/>
            </a:pPr>
            <a:r>
              <a:rPr lang="en-US" dirty="0"/>
              <a:t>Like the normal program we only add the void </a:t>
            </a:r>
            <a:r>
              <a:rPr lang="en-US" dirty="0" err="1"/>
              <a:t>OnDataRecv</a:t>
            </a:r>
            <a:r>
              <a:rPr lang="en-US" dirty="0"/>
              <a:t>() function</a:t>
            </a:r>
          </a:p>
          <a:p>
            <a:pPr marL="0" indent="0">
              <a:buNone/>
            </a:pPr>
            <a:endParaRPr lang="en-IN" dirty="0"/>
          </a:p>
          <a:p>
            <a:pPr marL="0" indent="0">
              <a:buNone/>
            </a:pPr>
            <a:endParaRPr lang="en-IN" dirty="0"/>
          </a:p>
          <a:p>
            <a:pPr marL="0" indent="0">
              <a:buNone/>
            </a:pPr>
            <a:r>
              <a:rPr lang="en-IN" dirty="0"/>
              <a:t>Rest of the code remain </a:t>
            </a:r>
            <a:r>
              <a:rPr lang="en-IN" dirty="0" err="1"/>
              <a:t>sames</a:t>
            </a:r>
            <a:r>
              <a:rPr lang="en-IN" dirty="0"/>
              <a:t>.</a:t>
            </a:r>
          </a:p>
          <a:p>
            <a:pPr marL="0" indent="0">
              <a:buNone/>
            </a:pPr>
            <a:r>
              <a:rPr lang="en-IN" dirty="0"/>
              <a:t>You can have a look at this detailed tutorial and example code, should you have any doubt : </a:t>
            </a:r>
            <a:r>
              <a:rPr lang="en-IN" dirty="0">
                <a:hlinkClick r:id="rId2"/>
              </a:rPr>
              <a:t>https://randomnerdtutorials.com/esp-now-esp32-arduino-ide/</a:t>
            </a:r>
            <a:endParaRPr lang="en-IN" dirty="0"/>
          </a:p>
        </p:txBody>
      </p:sp>
      <p:sp>
        <p:nvSpPr>
          <p:cNvPr id="4" name="Slide Number Placeholder 3">
            <a:extLst>
              <a:ext uri="{FF2B5EF4-FFF2-40B4-BE49-F238E27FC236}">
                <a16:creationId xmlns:a16="http://schemas.microsoft.com/office/drawing/2014/main" id="{6573827D-0C89-3154-8DC2-E084D389EB9A}"/>
              </a:ext>
            </a:extLst>
          </p:cNvPr>
          <p:cNvSpPr>
            <a:spLocks noGrp="1"/>
          </p:cNvSpPr>
          <p:nvPr>
            <p:ph type="sldNum" sz="quarter" idx="12"/>
          </p:nvPr>
        </p:nvSpPr>
        <p:spPr/>
        <p:txBody>
          <a:bodyPr/>
          <a:lstStyle/>
          <a:p>
            <a:fld id="{592B932E-453C-43E9-9683-166E224458DF}" type="slidenum">
              <a:rPr lang="en-IN" smtClean="0"/>
              <a:t>28</a:t>
            </a:fld>
            <a:endParaRPr lang="en-IN"/>
          </a:p>
        </p:txBody>
      </p:sp>
      <p:sp>
        <p:nvSpPr>
          <p:cNvPr id="5" name="Rectangle 1">
            <a:extLst>
              <a:ext uri="{FF2B5EF4-FFF2-40B4-BE49-F238E27FC236}">
                <a16:creationId xmlns:a16="http://schemas.microsoft.com/office/drawing/2014/main" id="{C193436E-00B3-A5B3-A85F-128D5188B3E7}"/>
              </a:ext>
            </a:extLst>
          </p:cNvPr>
          <p:cNvSpPr>
            <a:spLocks noChangeArrowheads="1"/>
          </p:cNvSpPr>
          <p:nvPr/>
        </p:nvSpPr>
        <p:spPr bwMode="auto">
          <a:xfrm>
            <a:off x="998220" y="2796334"/>
            <a:ext cx="9751067" cy="83099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OnDataRecv</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77AA"/>
                </a:solidFill>
                <a:effectLst/>
                <a:latin typeface="Consolas" panose="020B0609020204030204" pitchFamily="49" charset="0"/>
              </a:rPr>
              <a:t>const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DD4A68"/>
                </a:solidFill>
                <a:effectLst/>
                <a:latin typeface="Consolas" panose="020B0609020204030204" pitchFamily="49" charset="0"/>
              </a:rPr>
              <a:t>uint8_t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A6E3A"/>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mac</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const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DD4A68"/>
                </a:solidFill>
                <a:effectLst/>
                <a:latin typeface="Consolas" panose="020B0609020204030204" pitchFamily="49" charset="0"/>
              </a:rPr>
              <a:t>uint8_t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A6E3A"/>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incomingData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int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len</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DD4A68"/>
                </a:solidFill>
                <a:effectLst/>
                <a:latin typeface="Consolas" panose="020B0609020204030204" pitchFamily="49" charset="0"/>
              </a:rPr>
              <a:t>memcpy</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9A6E3A"/>
                </a:solidFill>
                <a:effectLst/>
                <a:latin typeface="Consolas" panose="020B0609020204030204" pitchFamily="49" charset="0"/>
              </a:rPr>
              <a:t>&amp;</a:t>
            </a:r>
            <a:r>
              <a:rPr kumimoji="0" lang="en-US" altLang="en-US" b="0" i="0" u="none" strike="noStrike" cap="none" normalizeH="0" baseline="0" dirty="0" err="1">
                <a:ln>
                  <a:noFill/>
                </a:ln>
                <a:solidFill>
                  <a:srgbClr val="000000"/>
                </a:solidFill>
                <a:effectLst/>
                <a:latin typeface="Consolas" panose="020B0609020204030204" pitchFamily="49" charset="0"/>
              </a:rPr>
              <a:t>myData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incomingData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77AA"/>
                </a:solidFill>
                <a:effectLst/>
                <a:latin typeface="Consolas" panose="020B0609020204030204" pitchFamily="49" charset="0"/>
              </a:rPr>
              <a:t>sizeof</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myData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br>
              <a:rPr kumimoji="0" lang="en-US" altLang="en-US" b="0" i="0" u="none" strike="noStrike" cap="none" normalizeH="0" baseline="0" dirty="0">
                <a:ln>
                  <a:noFill/>
                </a:ln>
                <a:solidFill>
                  <a:schemeClr val="tx1"/>
                </a:solidFill>
                <a:effectLst/>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413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B26D-BDC2-453F-B6B9-4911834DFDE5}"/>
              </a:ext>
            </a:extLst>
          </p:cNvPr>
          <p:cNvSpPr>
            <a:spLocks noGrp="1"/>
          </p:cNvSpPr>
          <p:nvPr>
            <p:ph type="title"/>
          </p:nvPr>
        </p:nvSpPr>
        <p:spPr/>
        <p:txBody>
          <a:bodyPr/>
          <a:lstStyle/>
          <a:p>
            <a:r>
              <a:rPr lang="en-US" dirty="0" err="1"/>
              <a:t>TinyML</a:t>
            </a:r>
            <a:r>
              <a:rPr lang="en-US" dirty="0"/>
              <a:t> and </a:t>
            </a:r>
            <a:r>
              <a:rPr lang="en-US" dirty="0" err="1"/>
              <a:t>TFLite</a:t>
            </a:r>
            <a:endParaRPr lang="en-IN" dirty="0"/>
          </a:p>
        </p:txBody>
      </p:sp>
      <p:sp>
        <p:nvSpPr>
          <p:cNvPr id="3" name="Content Placeholder 2">
            <a:extLst>
              <a:ext uri="{FF2B5EF4-FFF2-40B4-BE49-F238E27FC236}">
                <a16:creationId xmlns:a16="http://schemas.microsoft.com/office/drawing/2014/main" id="{A2331CC1-59BB-DE13-754A-DDC8EBA520B0}"/>
              </a:ext>
            </a:extLst>
          </p:cNvPr>
          <p:cNvSpPr>
            <a:spLocks noGrp="1"/>
          </p:cNvSpPr>
          <p:nvPr>
            <p:ph idx="1"/>
          </p:nvPr>
        </p:nvSpPr>
        <p:spPr>
          <a:xfrm>
            <a:off x="838200" y="1825625"/>
            <a:ext cx="10515600" cy="3089275"/>
          </a:xfrm>
        </p:spPr>
        <p:txBody>
          <a:bodyPr/>
          <a:lstStyle/>
          <a:p>
            <a:r>
              <a:rPr lang="en-US" dirty="0"/>
              <a:t>Requirements</a:t>
            </a:r>
          </a:p>
          <a:p>
            <a:pPr marL="0" indent="0">
              <a:buNone/>
            </a:pPr>
            <a:r>
              <a:rPr lang="en-US" dirty="0"/>
              <a:t>Arduino IDE - </a:t>
            </a:r>
            <a:r>
              <a:rPr lang="en-US" dirty="0">
                <a:hlinkClick r:id="rId2"/>
              </a:rPr>
              <a:t>https://www.arduino.cc/en/software/</a:t>
            </a:r>
            <a:endParaRPr lang="en-US" dirty="0"/>
          </a:p>
          <a:p>
            <a:pPr marL="0" indent="0">
              <a:buNone/>
            </a:pPr>
            <a:r>
              <a:rPr lang="en-US" dirty="0"/>
              <a:t>Board Configurations for ESP-32 (Refer Slide 7)</a:t>
            </a:r>
          </a:p>
          <a:p>
            <a:pPr marL="0" indent="0">
              <a:buNone/>
            </a:pPr>
            <a:r>
              <a:rPr lang="en-IN" dirty="0"/>
              <a:t>Libraries used</a:t>
            </a:r>
          </a:p>
          <a:p>
            <a:r>
              <a:rPr lang="pt-BR" dirty="0"/>
              <a:t>&lt;tflm_esp32.h&gt;</a:t>
            </a:r>
          </a:p>
          <a:p>
            <a:r>
              <a:rPr lang="pt-BR" dirty="0"/>
              <a:t>&lt;eloquent_tinyml.h&gt;</a:t>
            </a:r>
          </a:p>
          <a:p>
            <a:pPr marL="0" indent="0">
              <a:buNone/>
            </a:pPr>
            <a:endParaRPr lang="en-IN" dirty="0"/>
          </a:p>
        </p:txBody>
      </p:sp>
      <p:sp>
        <p:nvSpPr>
          <p:cNvPr id="4" name="Slide Number Placeholder 3">
            <a:extLst>
              <a:ext uri="{FF2B5EF4-FFF2-40B4-BE49-F238E27FC236}">
                <a16:creationId xmlns:a16="http://schemas.microsoft.com/office/drawing/2014/main" id="{762666EF-07B0-4377-ECD0-DBFED8CF6959}"/>
              </a:ext>
            </a:extLst>
          </p:cNvPr>
          <p:cNvSpPr>
            <a:spLocks noGrp="1"/>
          </p:cNvSpPr>
          <p:nvPr>
            <p:ph type="sldNum" sz="quarter" idx="12"/>
          </p:nvPr>
        </p:nvSpPr>
        <p:spPr/>
        <p:txBody>
          <a:bodyPr/>
          <a:lstStyle/>
          <a:p>
            <a:fld id="{592B932E-453C-43E9-9683-166E224458DF}" type="slidenum">
              <a:rPr lang="en-IN" smtClean="0"/>
              <a:t>29</a:t>
            </a:fld>
            <a:endParaRPr lang="en-IN"/>
          </a:p>
        </p:txBody>
      </p:sp>
      <p:sp>
        <p:nvSpPr>
          <p:cNvPr id="5" name="TextBox 4">
            <a:extLst>
              <a:ext uri="{FF2B5EF4-FFF2-40B4-BE49-F238E27FC236}">
                <a16:creationId xmlns:a16="http://schemas.microsoft.com/office/drawing/2014/main" id="{4B994C64-1CC1-64D9-AB6A-031B53C0E9A9}"/>
              </a:ext>
            </a:extLst>
          </p:cNvPr>
          <p:cNvSpPr txBox="1"/>
          <p:nvPr/>
        </p:nvSpPr>
        <p:spPr>
          <a:xfrm>
            <a:off x="1120140" y="5212080"/>
            <a:ext cx="10115550" cy="646331"/>
          </a:xfrm>
          <a:prstGeom prst="rect">
            <a:avLst/>
          </a:prstGeom>
          <a:noFill/>
        </p:spPr>
        <p:txBody>
          <a:bodyPr wrap="square" rtlCol="0">
            <a:spAutoFit/>
          </a:bodyPr>
          <a:lstStyle/>
          <a:p>
            <a:r>
              <a:rPr lang="en-US" dirty="0">
                <a:solidFill>
                  <a:srgbClr val="FF0000"/>
                </a:solidFill>
              </a:rPr>
              <a:t>Please Keep in Mind, I have modified 50+ Source Files to make it work. You will need to have my version of libraries for it to work smoothly</a:t>
            </a:r>
            <a:endParaRPr lang="en-IN" dirty="0">
              <a:solidFill>
                <a:srgbClr val="FF0000"/>
              </a:solidFill>
            </a:endParaRPr>
          </a:p>
        </p:txBody>
      </p:sp>
    </p:spTree>
    <p:extLst>
      <p:ext uri="{BB962C8B-B14F-4D97-AF65-F5344CB8AC3E}">
        <p14:creationId xmlns:p14="http://schemas.microsoft.com/office/powerpoint/2010/main" val="115081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882C-684C-5A0C-C0BF-CD2C90C2042C}"/>
              </a:ext>
            </a:extLst>
          </p:cNvPr>
          <p:cNvSpPr>
            <a:spLocks noGrp="1"/>
          </p:cNvSpPr>
          <p:nvPr>
            <p:ph type="title"/>
          </p:nvPr>
        </p:nvSpPr>
        <p:spPr/>
        <p:txBody>
          <a:bodyPr/>
          <a:lstStyle/>
          <a:p>
            <a:r>
              <a:rPr lang="en-US" dirty="0"/>
              <a:t>How to setup the modified libraries</a:t>
            </a:r>
            <a:endParaRPr lang="en-IN" dirty="0"/>
          </a:p>
        </p:txBody>
      </p:sp>
      <p:sp>
        <p:nvSpPr>
          <p:cNvPr id="3" name="Content Placeholder 2">
            <a:extLst>
              <a:ext uri="{FF2B5EF4-FFF2-40B4-BE49-F238E27FC236}">
                <a16:creationId xmlns:a16="http://schemas.microsoft.com/office/drawing/2014/main" id="{9044A0D8-D885-241E-A4B2-35DAD7CF81C6}"/>
              </a:ext>
            </a:extLst>
          </p:cNvPr>
          <p:cNvSpPr>
            <a:spLocks noGrp="1"/>
          </p:cNvSpPr>
          <p:nvPr>
            <p:ph idx="1"/>
          </p:nvPr>
        </p:nvSpPr>
        <p:spPr/>
        <p:txBody>
          <a:bodyPr/>
          <a:lstStyle/>
          <a:p>
            <a:r>
              <a:rPr lang="en-US" dirty="0"/>
              <a:t>Open My </a:t>
            </a:r>
            <a:r>
              <a:rPr lang="en-US" dirty="0" err="1"/>
              <a:t>Github</a:t>
            </a:r>
            <a:r>
              <a:rPr lang="en-US" dirty="0"/>
              <a:t> Repository at :</a:t>
            </a:r>
          </a:p>
          <a:p>
            <a:r>
              <a:rPr lang="en-IN" dirty="0">
                <a:hlinkClick r:id="rId2"/>
              </a:rPr>
              <a:t>https://github.com/KushagraIsTaken/TinyML-ESPNow-WangBioelectronicLab-NTHU/tree/main</a:t>
            </a:r>
            <a:endParaRPr lang="en-IN" dirty="0"/>
          </a:p>
          <a:p>
            <a:endParaRPr lang="en-IN" dirty="0"/>
          </a:p>
        </p:txBody>
      </p:sp>
      <p:sp>
        <p:nvSpPr>
          <p:cNvPr id="4" name="Slide Number Placeholder 3">
            <a:extLst>
              <a:ext uri="{FF2B5EF4-FFF2-40B4-BE49-F238E27FC236}">
                <a16:creationId xmlns:a16="http://schemas.microsoft.com/office/drawing/2014/main" id="{DFE66209-368B-2BE1-5376-A90ABAD2B10D}"/>
              </a:ext>
            </a:extLst>
          </p:cNvPr>
          <p:cNvSpPr>
            <a:spLocks noGrp="1"/>
          </p:cNvSpPr>
          <p:nvPr>
            <p:ph type="sldNum" sz="quarter" idx="12"/>
          </p:nvPr>
        </p:nvSpPr>
        <p:spPr/>
        <p:txBody>
          <a:bodyPr/>
          <a:lstStyle/>
          <a:p>
            <a:fld id="{592B932E-453C-43E9-9683-166E224458DF}" type="slidenum">
              <a:rPr lang="en-IN" smtClean="0"/>
              <a:t>30</a:t>
            </a:fld>
            <a:endParaRPr lang="en-IN"/>
          </a:p>
        </p:txBody>
      </p:sp>
      <p:pic>
        <p:nvPicPr>
          <p:cNvPr id="6" name="Picture 5">
            <a:extLst>
              <a:ext uri="{FF2B5EF4-FFF2-40B4-BE49-F238E27FC236}">
                <a16:creationId xmlns:a16="http://schemas.microsoft.com/office/drawing/2014/main" id="{FCB9C8F6-BEDB-E462-04D2-4852DBF0260D}"/>
              </a:ext>
            </a:extLst>
          </p:cNvPr>
          <p:cNvPicPr>
            <a:picLocks noChangeAspect="1"/>
          </p:cNvPicPr>
          <p:nvPr/>
        </p:nvPicPr>
        <p:blipFill>
          <a:blip r:embed="rId3"/>
          <a:stretch>
            <a:fillRect/>
          </a:stretch>
        </p:blipFill>
        <p:spPr>
          <a:xfrm>
            <a:off x="2712720" y="3409365"/>
            <a:ext cx="6766560" cy="2767598"/>
          </a:xfrm>
          <a:prstGeom prst="rect">
            <a:avLst/>
          </a:prstGeom>
        </p:spPr>
      </p:pic>
    </p:spTree>
    <p:extLst>
      <p:ext uri="{BB962C8B-B14F-4D97-AF65-F5344CB8AC3E}">
        <p14:creationId xmlns:p14="http://schemas.microsoft.com/office/powerpoint/2010/main" val="1975842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ADFF90-1A43-6CCD-262D-30D0D9AA539F}"/>
              </a:ext>
            </a:extLst>
          </p:cNvPr>
          <p:cNvSpPr>
            <a:spLocks noGrp="1"/>
          </p:cNvSpPr>
          <p:nvPr>
            <p:ph type="sldNum" sz="quarter" idx="12"/>
          </p:nvPr>
        </p:nvSpPr>
        <p:spPr/>
        <p:txBody>
          <a:bodyPr/>
          <a:lstStyle/>
          <a:p>
            <a:fld id="{592B932E-453C-43E9-9683-166E224458DF}" type="slidenum">
              <a:rPr lang="en-IN" smtClean="0"/>
              <a:t>31</a:t>
            </a:fld>
            <a:endParaRPr lang="en-IN"/>
          </a:p>
        </p:txBody>
      </p:sp>
      <p:pic>
        <p:nvPicPr>
          <p:cNvPr id="5" name="Picture 4">
            <a:extLst>
              <a:ext uri="{FF2B5EF4-FFF2-40B4-BE49-F238E27FC236}">
                <a16:creationId xmlns:a16="http://schemas.microsoft.com/office/drawing/2014/main" id="{3759F30D-9D36-52C4-9955-FD3C1181AC4B}"/>
              </a:ext>
            </a:extLst>
          </p:cNvPr>
          <p:cNvPicPr>
            <a:picLocks noChangeAspect="1"/>
          </p:cNvPicPr>
          <p:nvPr/>
        </p:nvPicPr>
        <p:blipFill>
          <a:blip r:embed="rId2"/>
          <a:stretch>
            <a:fillRect/>
          </a:stretch>
        </p:blipFill>
        <p:spPr>
          <a:xfrm>
            <a:off x="0" y="136526"/>
            <a:ext cx="7157139" cy="2927349"/>
          </a:xfrm>
          <a:prstGeom prst="rect">
            <a:avLst/>
          </a:prstGeom>
        </p:spPr>
      </p:pic>
      <p:sp>
        <p:nvSpPr>
          <p:cNvPr id="6" name="Oval 5">
            <a:extLst>
              <a:ext uri="{FF2B5EF4-FFF2-40B4-BE49-F238E27FC236}">
                <a16:creationId xmlns:a16="http://schemas.microsoft.com/office/drawing/2014/main" id="{AEC9D447-A076-B410-5111-FA36C61C8ADB}"/>
              </a:ext>
            </a:extLst>
          </p:cNvPr>
          <p:cNvSpPr/>
          <p:nvPr/>
        </p:nvSpPr>
        <p:spPr>
          <a:xfrm>
            <a:off x="4480560" y="548640"/>
            <a:ext cx="640080" cy="30861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10" name="Picture 9">
            <a:extLst>
              <a:ext uri="{FF2B5EF4-FFF2-40B4-BE49-F238E27FC236}">
                <a16:creationId xmlns:a16="http://schemas.microsoft.com/office/drawing/2014/main" id="{BBCAB9AB-818D-CAD4-C502-1DDA86DC2ED5}"/>
              </a:ext>
            </a:extLst>
          </p:cNvPr>
          <p:cNvPicPr>
            <a:picLocks noChangeAspect="1"/>
          </p:cNvPicPr>
          <p:nvPr/>
        </p:nvPicPr>
        <p:blipFill>
          <a:blip r:embed="rId3"/>
          <a:stretch>
            <a:fillRect/>
          </a:stretch>
        </p:blipFill>
        <p:spPr>
          <a:xfrm>
            <a:off x="3108959" y="3429000"/>
            <a:ext cx="8792431" cy="2927350"/>
          </a:xfrm>
          <a:prstGeom prst="rect">
            <a:avLst/>
          </a:prstGeom>
        </p:spPr>
      </p:pic>
      <p:sp>
        <p:nvSpPr>
          <p:cNvPr id="11" name="Oval 10">
            <a:extLst>
              <a:ext uri="{FF2B5EF4-FFF2-40B4-BE49-F238E27FC236}">
                <a16:creationId xmlns:a16="http://schemas.microsoft.com/office/drawing/2014/main" id="{1C64E4FC-88CF-83CC-17ED-57BEB6ABC113}"/>
              </a:ext>
            </a:extLst>
          </p:cNvPr>
          <p:cNvSpPr/>
          <p:nvPr/>
        </p:nvSpPr>
        <p:spPr>
          <a:xfrm>
            <a:off x="6572250" y="5989320"/>
            <a:ext cx="1291590" cy="365125"/>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Tree>
    <p:extLst>
      <p:ext uri="{BB962C8B-B14F-4D97-AF65-F5344CB8AC3E}">
        <p14:creationId xmlns:p14="http://schemas.microsoft.com/office/powerpoint/2010/main" val="1441196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5C590-B78B-5FAD-8CA7-BE328E6C0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4A3AD-3FF2-8DC3-40B3-A632D2C2B40B}"/>
              </a:ext>
            </a:extLst>
          </p:cNvPr>
          <p:cNvSpPr>
            <a:spLocks noGrp="1"/>
          </p:cNvSpPr>
          <p:nvPr>
            <p:ph type="title"/>
          </p:nvPr>
        </p:nvSpPr>
        <p:spPr/>
        <p:txBody>
          <a:bodyPr/>
          <a:lstStyle/>
          <a:p>
            <a:r>
              <a:rPr lang="en-US" dirty="0"/>
              <a:t>How to setup the modified libraries (Contd.)</a:t>
            </a:r>
            <a:endParaRPr lang="en-IN" dirty="0"/>
          </a:p>
        </p:txBody>
      </p:sp>
      <p:sp>
        <p:nvSpPr>
          <p:cNvPr id="3" name="Content Placeholder 2">
            <a:extLst>
              <a:ext uri="{FF2B5EF4-FFF2-40B4-BE49-F238E27FC236}">
                <a16:creationId xmlns:a16="http://schemas.microsoft.com/office/drawing/2014/main" id="{94548729-01D8-2665-85DA-8CB6405983FB}"/>
              </a:ext>
            </a:extLst>
          </p:cNvPr>
          <p:cNvSpPr>
            <a:spLocks noGrp="1"/>
          </p:cNvSpPr>
          <p:nvPr>
            <p:ph idx="1"/>
          </p:nvPr>
        </p:nvSpPr>
        <p:spPr/>
        <p:txBody>
          <a:bodyPr/>
          <a:lstStyle/>
          <a:p>
            <a:r>
              <a:rPr lang="en-US" dirty="0"/>
              <a:t>Once you have the zip downloaded. Unzip it and click “installer.exe” . </a:t>
            </a:r>
          </a:p>
          <a:p>
            <a:r>
              <a:rPr lang="en-US" dirty="0"/>
              <a:t>The output should be like this</a:t>
            </a:r>
          </a:p>
          <a:p>
            <a:endParaRPr lang="en-IN" dirty="0"/>
          </a:p>
        </p:txBody>
      </p:sp>
      <p:sp>
        <p:nvSpPr>
          <p:cNvPr id="4" name="Slide Number Placeholder 3">
            <a:extLst>
              <a:ext uri="{FF2B5EF4-FFF2-40B4-BE49-F238E27FC236}">
                <a16:creationId xmlns:a16="http://schemas.microsoft.com/office/drawing/2014/main" id="{5F660473-617C-B543-E82F-C244B2E373AD}"/>
              </a:ext>
            </a:extLst>
          </p:cNvPr>
          <p:cNvSpPr>
            <a:spLocks noGrp="1"/>
          </p:cNvSpPr>
          <p:nvPr>
            <p:ph type="sldNum" sz="quarter" idx="12"/>
          </p:nvPr>
        </p:nvSpPr>
        <p:spPr/>
        <p:txBody>
          <a:bodyPr/>
          <a:lstStyle/>
          <a:p>
            <a:fld id="{592B932E-453C-43E9-9683-166E224458DF}" type="slidenum">
              <a:rPr lang="en-IN" smtClean="0"/>
              <a:t>32</a:t>
            </a:fld>
            <a:endParaRPr lang="en-IN"/>
          </a:p>
        </p:txBody>
      </p:sp>
      <p:pic>
        <p:nvPicPr>
          <p:cNvPr id="7" name="Picture 6">
            <a:extLst>
              <a:ext uri="{FF2B5EF4-FFF2-40B4-BE49-F238E27FC236}">
                <a16:creationId xmlns:a16="http://schemas.microsoft.com/office/drawing/2014/main" id="{72BE2588-24E8-A72C-0A95-AF7461FF96A3}"/>
              </a:ext>
            </a:extLst>
          </p:cNvPr>
          <p:cNvPicPr>
            <a:picLocks noChangeAspect="1"/>
          </p:cNvPicPr>
          <p:nvPr/>
        </p:nvPicPr>
        <p:blipFill>
          <a:blip r:embed="rId2"/>
          <a:stretch>
            <a:fillRect/>
          </a:stretch>
        </p:blipFill>
        <p:spPr>
          <a:xfrm>
            <a:off x="2929893" y="3273108"/>
            <a:ext cx="6332214" cy="2903855"/>
          </a:xfrm>
          <a:prstGeom prst="rect">
            <a:avLst/>
          </a:prstGeom>
        </p:spPr>
      </p:pic>
      <p:sp>
        <p:nvSpPr>
          <p:cNvPr id="8" name="TextBox 7">
            <a:extLst>
              <a:ext uri="{FF2B5EF4-FFF2-40B4-BE49-F238E27FC236}">
                <a16:creationId xmlns:a16="http://schemas.microsoft.com/office/drawing/2014/main" id="{49A8D40C-9023-F365-1123-BCF083FCE58C}"/>
              </a:ext>
            </a:extLst>
          </p:cNvPr>
          <p:cNvSpPr txBox="1"/>
          <p:nvPr/>
        </p:nvSpPr>
        <p:spPr>
          <a:xfrm>
            <a:off x="3417570" y="6356350"/>
            <a:ext cx="4517006" cy="369332"/>
          </a:xfrm>
          <a:prstGeom prst="rect">
            <a:avLst/>
          </a:prstGeom>
          <a:noFill/>
        </p:spPr>
        <p:txBody>
          <a:bodyPr wrap="none" rtlCol="0">
            <a:spAutoFit/>
          </a:bodyPr>
          <a:lstStyle/>
          <a:p>
            <a:r>
              <a:rPr lang="en-US" dirty="0">
                <a:solidFill>
                  <a:srgbClr val="FF0000"/>
                </a:solidFill>
              </a:rPr>
              <a:t>If Prompted for Password it is : </a:t>
            </a:r>
            <a:r>
              <a:rPr lang="en-US" dirty="0" err="1">
                <a:solidFill>
                  <a:srgbClr val="FF0000"/>
                </a:solidFill>
              </a:rPr>
              <a:t>nthuwanglab</a:t>
            </a:r>
            <a:endParaRPr lang="en-IN" dirty="0">
              <a:solidFill>
                <a:srgbClr val="FF0000"/>
              </a:solidFill>
            </a:endParaRPr>
          </a:p>
        </p:txBody>
      </p:sp>
      <p:sp>
        <p:nvSpPr>
          <p:cNvPr id="9" name="TextBox 8">
            <a:extLst>
              <a:ext uri="{FF2B5EF4-FFF2-40B4-BE49-F238E27FC236}">
                <a16:creationId xmlns:a16="http://schemas.microsoft.com/office/drawing/2014/main" id="{0DA6712E-343D-D844-D4A0-C295ABCE65EC}"/>
              </a:ext>
            </a:extLst>
          </p:cNvPr>
          <p:cNvSpPr txBox="1"/>
          <p:nvPr/>
        </p:nvSpPr>
        <p:spPr>
          <a:xfrm>
            <a:off x="9589770" y="4078704"/>
            <a:ext cx="2315634" cy="646331"/>
          </a:xfrm>
          <a:prstGeom prst="rect">
            <a:avLst/>
          </a:prstGeom>
          <a:noFill/>
        </p:spPr>
        <p:txBody>
          <a:bodyPr wrap="none" rtlCol="0">
            <a:spAutoFit/>
          </a:bodyPr>
          <a:lstStyle/>
          <a:p>
            <a:r>
              <a:rPr lang="en-US" dirty="0"/>
              <a:t>We are done here </a:t>
            </a:r>
            <a:r>
              <a:rPr lang="en-US" dirty="0">
                <a:sym typeface="Wingdings" panose="05000000000000000000" pitchFamily="2" charset="2"/>
              </a:rPr>
              <a:t></a:t>
            </a:r>
            <a:br>
              <a:rPr lang="en-US" dirty="0">
                <a:sym typeface="Wingdings" panose="05000000000000000000" pitchFamily="2" charset="2"/>
              </a:rPr>
            </a:br>
            <a:r>
              <a:rPr lang="en-US" dirty="0">
                <a:sym typeface="Wingdings" panose="05000000000000000000" pitchFamily="2" charset="2"/>
              </a:rPr>
              <a:t>Libraries are installed</a:t>
            </a:r>
            <a:endParaRPr lang="en-IN" dirty="0"/>
          </a:p>
        </p:txBody>
      </p:sp>
    </p:spTree>
    <p:extLst>
      <p:ext uri="{BB962C8B-B14F-4D97-AF65-F5344CB8AC3E}">
        <p14:creationId xmlns:p14="http://schemas.microsoft.com/office/powerpoint/2010/main" val="1333177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6269-DA84-A2E9-F622-FE18A5241696}"/>
              </a:ext>
            </a:extLst>
          </p:cNvPr>
          <p:cNvSpPr>
            <a:spLocks noGrp="1"/>
          </p:cNvSpPr>
          <p:nvPr>
            <p:ph type="title"/>
          </p:nvPr>
        </p:nvSpPr>
        <p:spPr/>
        <p:txBody>
          <a:bodyPr/>
          <a:lstStyle/>
          <a:p>
            <a:r>
              <a:rPr lang="en-US" dirty="0">
                <a:solidFill>
                  <a:srgbClr val="FF0000"/>
                </a:solidFill>
              </a:rPr>
              <a:t>[IMP]</a:t>
            </a:r>
            <a:r>
              <a:rPr lang="en-US" dirty="0"/>
              <a:t> Restrictions for </a:t>
            </a:r>
            <a:r>
              <a:rPr lang="en-US" dirty="0" err="1"/>
              <a:t>TFLite</a:t>
            </a:r>
            <a:endParaRPr lang="en-IN" dirty="0"/>
          </a:p>
        </p:txBody>
      </p:sp>
      <p:sp>
        <p:nvSpPr>
          <p:cNvPr id="3" name="Content Placeholder 2">
            <a:extLst>
              <a:ext uri="{FF2B5EF4-FFF2-40B4-BE49-F238E27FC236}">
                <a16:creationId xmlns:a16="http://schemas.microsoft.com/office/drawing/2014/main" id="{5238DBCB-CB25-6BC1-EF50-CB414C84BF5D}"/>
              </a:ext>
            </a:extLst>
          </p:cNvPr>
          <p:cNvSpPr>
            <a:spLocks noGrp="1"/>
          </p:cNvSpPr>
          <p:nvPr>
            <p:ph idx="1"/>
          </p:nvPr>
        </p:nvSpPr>
        <p:spPr/>
        <p:txBody>
          <a:bodyPr/>
          <a:lstStyle/>
          <a:p>
            <a:r>
              <a:rPr lang="en-US" dirty="0" err="1"/>
              <a:t>TFLite</a:t>
            </a:r>
            <a:r>
              <a:rPr lang="en-US" dirty="0"/>
              <a:t> exclusively supports TensorFlow models. Models built with other frameworks like scikit-learn, </a:t>
            </a:r>
            <a:r>
              <a:rPr lang="en-US" dirty="0" err="1"/>
              <a:t>PyTorch</a:t>
            </a:r>
            <a:r>
              <a:rPr lang="en-US" dirty="0"/>
              <a:t>, </a:t>
            </a:r>
            <a:r>
              <a:rPr lang="en-US" dirty="0" err="1"/>
              <a:t>XGBoost</a:t>
            </a:r>
            <a:r>
              <a:rPr lang="en-US" dirty="0"/>
              <a:t>, or traditional ML libraries cannot be directly converted to </a:t>
            </a:r>
            <a:r>
              <a:rPr lang="en-US" dirty="0" err="1"/>
              <a:t>TFLite.You</a:t>
            </a:r>
            <a:r>
              <a:rPr lang="en-US" dirty="0"/>
              <a:t> cannot convert </a:t>
            </a:r>
            <a:r>
              <a:rPr lang="en-US" dirty="0" err="1"/>
              <a:t>sklearn</a:t>
            </a:r>
            <a:r>
              <a:rPr lang="en-US" dirty="0"/>
              <a:t> models or other non-TF models to </a:t>
            </a:r>
            <a:r>
              <a:rPr lang="en-US" dirty="0" err="1"/>
              <a:t>TFLite</a:t>
            </a:r>
            <a:r>
              <a:rPr lang="en-US" dirty="0"/>
              <a:t> without rewriting or retraining in TensorFlow.</a:t>
            </a:r>
          </a:p>
          <a:p>
            <a:endParaRPr lang="en-IN" dirty="0"/>
          </a:p>
        </p:txBody>
      </p:sp>
      <p:sp>
        <p:nvSpPr>
          <p:cNvPr id="4" name="Slide Number Placeholder 3">
            <a:extLst>
              <a:ext uri="{FF2B5EF4-FFF2-40B4-BE49-F238E27FC236}">
                <a16:creationId xmlns:a16="http://schemas.microsoft.com/office/drawing/2014/main" id="{811FC240-1A5D-1BDF-0BA9-6373EE77EF75}"/>
              </a:ext>
            </a:extLst>
          </p:cNvPr>
          <p:cNvSpPr>
            <a:spLocks noGrp="1"/>
          </p:cNvSpPr>
          <p:nvPr>
            <p:ph type="sldNum" sz="quarter" idx="12"/>
          </p:nvPr>
        </p:nvSpPr>
        <p:spPr/>
        <p:txBody>
          <a:bodyPr/>
          <a:lstStyle/>
          <a:p>
            <a:fld id="{592B932E-453C-43E9-9683-166E224458DF}" type="slidenum">
              <a:rPr lang="en-IN" smtClean="0"/>
              <a:t>33</a:t>
            </a:fld>
            <a:endParaRPr lang="en-IN"/>
          </a:p>
        </p:txBody>
      </p:sp>
    </p:spTree>
    <p:extLst>
      <p:ext uri="{BB962C8B-B14F-4D97-AF65-F5344CB8AC3E}">
        <p14:creationId xmlns:p14="http://schemas.microsoft.com/office/powerpoint/2010/main" val="2747329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2B60-B14C-6FDB-61BA-DBE729A3A7BF}"/>
              </a:ext>
            </a:extLst>
          </p:cNvPr>
          <p:cNvSpPr>
            <a:spLocks noGrp="1"/>
          </p:cNvSpPr>
          <p:nvPr>
            <p:ph type="title"/>
          </p:nvPr>
        </p:nvSpPr>
        <p:spPr/>
        <p:txBody>
          <a:bodyPr/>
          <a:lstStyle/>
          <a:p>
            <a:r>
              <a:rPr lang="en-US" dirty="0"/>
              <a:t>Example : Implementing MLP on ESP-32</a:t>
            </a:r>
            <a:endParaRPr lang="en-IN" dirty="0"/>
          </a:p>
        </p:txBody>
      </p:sp>
      <p:sp>
        <p:nvSpPr>
          <p:cNvPr id="3" name="Content Placeholder 2">
            <a:extLst>
              <a:ext uri="{FF2B5EF4-FFF2-40B4-BE49-F238E27FC236}">
                <a16:creationId xmlns:a16="http://schemas.microsoft.com/office/drawing/2014/main" id="{EB2E552A-E47D-521B-B3F6-D6DAAF277441}"/>
              </a:ext>
            </a:extLst>
          </p:cNvPr>
          <p:cNvSpPr>
            <a:spLocks noGrp="1"/>
          </p:cNvSpPr>
          <p:nvPr>
            <p:ph idx="1"/>
          </p:nvPr>
        </p:nvSpPr>
        <p:spPr>
          <a:xfrm>
            <a:off x="838200" y="1825625"/>
            <a:ext cx="10515600" cy="2369185"/>
          </a:xfrm>
        </p:spPr>
        <p:txBody>
          <a:bodyPr/>
          <a:lstStyle/>
          <a:p>
            <a:r>
              <a:rPr lang="en-US" dirty="0"/>
              <a:t>Link to the </a:t>
            </a:r>
            <a:r>
              <a:rPr lang="en-US" dirty="0" err="1"/>
              <a:t>colab</a:t>
            </a:r>
            <a:r>
              <a:rPr lang="en-US" dirty="0"/>
              <a:t> notebook for reference : </a:t>
            </a:r>
            <a:r>
              <a:rPr lang="en-US" dirty="0">
                <a:hlinkClick r:id="rId2"/>
              </a:rPr>
              <a:t>https://colab.research.google.com/drive/1MUY4l75NXSAmEGvUpXHn_NcQhquOgCge?usp=sharing</a:t>
            </a:r>
            <a:endParaRPr lang="en-US" dirty="0"/>
          </a:p>
          <a:p>
            <a:r>
              <a:rPr lang="en-US" dirty="0"/>
              <a:t>After you are done training your model, you need to save it as a </a:t>
            </a:r>
            <a:r>
              <a:rPr lang="en-US" dirty="0" err="1"/>
              <a:t>TFLite</a:t>
            </a:r>
            <a:r>
              <a:rPr lang="en-US" dirty="0"/>
              <a:t> model. You can use this code to do it !</a:t>
            </a:r>
            <a:endParaRPr lang="en-IN" dirty="0"/>
          </a:p>
        </p:txBody>
      </p:sp>
      <p:sp>
        <p:nvSpPr>
          <p:cNvPr id="4" name="Slide Number Placeholder 3">
            <a:extLst>
              <a:ext uri="{FF2B5EF4-FFF2-40B4-BE49-F238E27FC236}">
                <a16:creationId xmlns:a16="http://schemas.microsoft.com/office/drawing/2014/main" id="{0E24261D-3176-D507-9100-20E02421A142}"/>
              </a:ext>
            </a:extLst>
          </p:cNvPr>
          <p:cNvSpPr>
            <a:spLocks noGrp="1"/>
          </p:cNvSpPr>
          <p:nvPr>
            <p:ph type="sldNum" sz="quarter" idx="12"/>
          </p:nvPr>
        </p:nvSpPr>
        <p:spPr/>
        <p:txBody>
          <a:bodyPr/>
          <a:lstStyle/>
          <a:p>
            <a:fld id="{592B932E-453C-43E9-9683-166E224458DF}" type="slidenum">
              <a:rPr lang="en-IN" smtClean="0"/>
              <a:t>34</a:t>
            </a:fld>
            <a:endParaRPr lang="en-IN"/>
          </a:p>
        </p:txBody>
      </p:sp>
      <p:sp>
        <p:nvSpPr>
          <p:cNvPr id="6" name="TextBox 5">
            <a:extLst>
              <a:ext uri="{FF2B5EF4-FFF2-40B4-BE49-F238E27FC236}">
                <a16:creationId xmlns:a16="http://schemas.microsoft.com/office/drawing/2014/main" id="{9DA2661D-E1CD-CA7C-F9A2-23A5FDC0A83A}"/>
              </a:ext>
            </a:extLst>
          </p:cNvPr>
          <p:cNvSpPr txBox="1"/>
          <p:nvPr/>
        </p:nvSpPr>
        <p:spPr>
          <a:xfrm>
            <a:off x="1453991" y="4050245"/>
            <a:ext cx="9284017" cy="245067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lnSpc>
                <a:spcPts val="1425"/>
              </a:lnSpc>
              <a:buNone/>
            </a:pPr>
            <a:r>
              <a:rPr lang="en-IN" b="1" dirty="0">
                <a:solidFill>
                  <a:srgbClr val="C99CC6"/>
                </a:solidFill>
                <a:effectLst/>
                <a:highlight>
                  <a:srgbClr val="000000"/>
                </a:highlight>
                <a:latin typeface="Courier New" panose="02070309020205020404" pitchFamily="49" charset="0"/>
              </a:rPr>
              <a:t>import</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tensorflow</a:t>
            </a:r>
            <a:r>
              <a:rPr lang="en-IN" b="1" dirty="0">
                <a:solidFill>
                  <a:srgbClr val="D4D4D4"/>
                </a:solidFill>
                <a:effectLst/>
                <a:highlight>
                  <a:srgbClr val="000000"/>
                </a:highlight>
                <a:latin typeface="Courier New" panose="02070309020205020404" pitchFamily="49" charset="0"/>
              </a:rPr>
              <a:t> </a:t>
            </a:r>
            <a:r>
              <a:rPr lang="en-IN" b="1" dirty="0">
                <a:solidFill>
                  <a:srgbClr val="C99CC6"/>
                </a:solidFill>
                <a:effectLst/>
                <a:highlight>
                  <a:srgbClr val="000000"/>
                </a:highlight>
                <a:latin typeface="Courier New" panose="02070309020205020404" pitchFamily="49" charset="0"/>
              </a:rPr>
              <a:t>as</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tf</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r>
              <a:rPr lang="en-IN" b="1" dirty="0">
                <a:solidFill>
                  <a:srgbClr val="82B76C"/>
                </a:solidFill>
                <a:effectLst/>
                <a:highlight>
                  <a:srgbClr val="000000"/>
                </a:highlight>
                <a:latin typeface="Courier New" panose="02070309020205020404" pitchFamily="49" charset="0"/>
              </a:rPr>
              <a:t># Convert the trained </a:t>
            </a:r>
            <a:r>
              <a:rPr lang="en-IN" b="1" dirty="0" err="1">
                <a:solidFill>
                  <a:srgbClr val="82B76C"/>
                </a:solidFill>
                <a:effectLst/>
                <a:highlight>
                  <a:srgbClr val="000000"/>
                </a:highlight>
                <a:latin typeface="Courier New" panose="02070309020205020404" pitchFamily="49" charset="0"/>
              </a:rPr>
              <a:t>Keras</a:t>
            </a:r>
            <a:r>
              <a:rPr lang="en-IN" b="1" dirty="0">
                <a:solidFill>
                  <a:srgbClr val="82B76C"/>
                </a:solidFill>
                <a:effectLst/>
                <a:highlight>
                  <a:srgbClr val="000000"/>
                </a:highlight>
                <a:latin typeface="Courier New" panose="02070309020205020404" pitchFamily="49" charset="0"/>
              </a:rPr>
              <a:t> model to TensorFlow Lite format</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a:solidFill>
                  <a:srgbClr val="D4D4D4"/>
                </a:solidFill>
                <a:effectLst/>
                <a:highlight>
                  <a:srgbClr val="000000"/>
                </a:highlight>
                <a:latin typeface="Courier New" panose="02070309020205020404" pitchFamily="49" charset="0"/>
              </a:rPr>
              <a:t>converter = </a:t>
            </a:r>
            <a:r>
              <a:rPr lang="en-IN" b="1" dirty="0" err="1">
                <a:solidFill>
                  <a:srgbClr val="D4D4D4"/>
                </a:solidFill>
                <a:effectLst/>
                <a:highlight>
                  <a:srgbClr val="000000"/>
                </a:highlight>
                <a:latin typeface="Courier New" panose="02070309020205020404" pitchFamily="49" charset="0"/>
              </a:rPr>
              <a:t>tf.lite.TFLiteConverter.from_keras_model</a:t>
            </a:r>
            <a:r>
              <a:rPr lang="en-IN" b="1" dirty="0">
                <a:solidFill>
                  <a:srgbClr val="DCDCDC"/>
                </a:solidFill>
                <a:effectLst/>
                <a:highlight>
                  <a:srgbClr val="000000"/>
                </a:highlight>
                <a:latin typeface="Courier New" panose="02070309020205020404" pitchFamily="49" charset="0"/>
              </a:rPr>
              <a:t>(</a:t>
            </a:r>
            <a:r>
              <a:rPr lang="en-IN" b="1" dirty="0">
                <a:solidFill>
                  <a:srgbClr val="D4D4D4"/>
                </a:solidFill>
                <a:effectLst/>
                <a:highlight>
                  <a:srgbClr val="000000"/>
                </a:highlight>
                <a:latin typeface="Courier New" panose="02070309020205020404" pitchFamily="49" charset="0"/>
              </a:rPr>
              <a:t>model</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err="1">
                <a:solidFill>
                  <a:srgbClr val="D4D4D4"/>
                </a:solidFill>
                <a:effectLst/>
                <a:highlight>
                  <a:srgbClr val="000000"/>
                </a:highlight>
                <a:latin typeface="Courier New" panose="02070309020205020404" pitchFamily="49" charset="0"/>
              </a:rPr>
              <a:t>tflite_model</a:t>
            </a:r>
            <a:r>
              <a:rPr lang="en-IN" b="1" dirty="0">
                <a:solidFill>
                  <a:srgbClr val="D4D4D4"/>
                </a:solidFill>
                <a:effectLst/>
                <a:highlight>
                  <a:srgbClr val="000000"/>
                </a:highlight>
                <a:latin typeface="Courier New" panose="02070309020205020404" pitchFamily="49" charset="0"/>
              </a:rPr>
              <a:t> = </a:t>
            </a:r>
            <a:r>
              <a:rPr lang="en-IN" b="1" dirty="0" err="1">
                <a:solidFill>
                  <a:srgbClr val="D4D4D4"/>
                </a:solidFill>
                <a:effectLst/>
                <a:highlight>
                  <a:srgbClr val="000000"/>
                </a:highlight>
                <a:latin typeface="Courier New" panose="02070309020205020404" pitchFamily="49" charset="0"/>
              </a:rPr>
              <a:t>converter.convert</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r>
              <a:rPr lang="en-IN" b="1" dirty="0">
                <a:solidFill>
                  <a:srgbClr val="82B76C"/>
                </a:solidFill>
                <a:effectLst/>
                <a:highlight>
                  <a:srgbClr val="000000"/>
                </a:highlight>
                <a:latin typeface="Courier New" panose="02070309020205020404" pitchFamily="49" charset="0"/>
              </a:rPr>
              <a:t># Save the TensorFlow Lite model to a file</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a:solidFill>
                  <a:srgbClr val="C99CC6"/>
                </a:solidFill>
                <a:effectLst/>
                <a:highlight>
                  <a:srgbClr val="000000"/>
                </a:highlight>
                <a:latin typeface="Courier New" panose="02070309020205020404" pitchFamily="49" charset="0"/>
              </a:rPr>
              <a:t>with</a:t>
            </a:r>
            <a:r>
              <a:rPr lang="en-IN" b="1" dirty="0">
                <a:solidFill>
                  <a:srgbClr val="D4D4D4"/>
                </a:solidFill>
                <a:effectLst/>
                <a:highlight>
                  <a:srgbClr val="000000"/>
                </a:highlight>
                <a:latin typeface="Courier New" panose="02070309020205020404" pitchFamily="49" charset="0"/>
              </a:rPr>
              <a:t> </a:t>
            </a:r>
            <a:r>
              <a:rPr lang="en-IN" b="1" dirty="0">
                <a:solidFill>
                  <a:srgbClr val="DCDCAA"/>
                </a:solidFill>
                <a:effectLst/>
                <a:highlight>
                  <a:srgbClr val="000000"/>
                </a:highlight>
                <a:latin typeface="Courier New" panose="02070309020205020404" pitchFamily="49" charset="0"/>
              </a:rPr>
              <a:t>open</a:t>
            </a:r>
            <a:r>
              <a:rPr lang="en-IN" b="1" dirty="0">
                <a:solidFill>
                  <a:srgbClr val="DCDCDC"/>
                </a:solidFill>
                <a:effectLst/>
                <a:highlight>
                  <a:srgbClr val="000000"/>
                </a:highlight>
                <a:latin typeface="Courier New" panose="02070309020205020404" pitchFamily="49" charset="0"/>
              </a:rPr>
              <a:t>(</a:t>
            </a:r>
            <a:r>
              <a:rPr lang="en-IN" b="1" dirty="0">
                <a:solidFill>
                  <a:srgbClr val="CE9178"/>
                </a:solidFill>
                <a:effectLst/>
                <a:highlight>
                  <a:srgbClr val="000000"/>
                </a:highlight>
                <a:latin typeface="Courier New" panose="02070309020205020404" pitchFamily="49" charset="0"/>
              </a:rPr>
              <a:t>'</a:t>
            </a:r>
            <a:r>
              <a:rPr lang="en-IN" b="1" dirty="0" err="1">
                <a:solidFill>
                  <a:srgbClr val="CE9178"/>
                </a:solidFill>
                <a:effectLst/>
                <a:highlight>
                  <a:srgbClr val="000000"/>
                </a:highlight>
                <a:latin typeface="Courier New" panose="02070309020205020404" pitchFamily="49" charset="0"/>
              </a:rPr>
              <a:t>mlp_model.tflite</a:t>
            </a:r>
            <a:r>
              <a:rPr lang="en-IN" b="1" dirty="0">
                <a:solidFill>
                  <a:srgbClr val="CE9178"/>
                </a:solidFill>
                <a:effectLst/>
                <a:highlight>
                  <a:srgbClr val="000000"/>
                </a:highlight>
                <a:latin typeface="Courier New" panose="02070309020205020404" pitchFamily="49" charset="0"/>
              </a:rPr>
              <a:t>'</a:t>
            </a:r>
            <a:r>
              <a:rPr lang="en-IN" b="1" dirty="0">
                <a:solidFill>
                  <a:srgbClr val="DCDCDC"/>
                </a:solidFill>
                <a:effectLst/>
                <a:highlight>
                  <a:srgbClr val="000000"/>
                </a:highlight>
                <a:latin typeface="Courier New" panose="02070309020205020404" pitchFamily="49" charset="0"/>
              </a:rPr>
              <a:t>,</a:t>
            </a:r>
            <a:r>
              <a:rPr lang="en-IN" b="1" dirty="0">
                <a:solidFill>
                  <a:srgbClr val="D4D4D4"/>
                </a:solidFill>
                <a:effectLst/>
                <a:highlight>
                  <a:srgbClr val="000000"/>
                </a:highlight>
                <a:latin typeface="Courier New" panose="02070309020205020404" pitchFamily="49" charset="0"/>
              </a:rPr>
              <a:t> </a:t>
            </a:r>
            <a:r>
              <a:rPr lang="en-IN" b="1" dirty="0">
                <a:solidFill>
                  <a:srgbClr val="CE9178"/>
                </a:solidFill>
                <a:effectLst/>
                <a:highlight>
                  <a:srgbClr val="000000"/>
                </a:highlight>
                <a:latin typeface="Courier New" panose="02070309020205020404" pitchFamily="49" charset="0"/>
              </a:rPr>
              <a:t>'</a:t>
            </a:r>
            <a:r>
              <a:rPr lang="en-IN" b="1" dirty="0" err="1">
                <a:solidFill>
                  <a:srgbClr val="CE9178"/>
                </a:solidFill>
                <a:effectLst/>
                <a:highlight>
                  <a:srgbClr val="000000"/>
                </a:highlight>
                <a:latin typeface="Courier New" panose="02070309020205020404" pitchFamily="49" charset="0"/>
              </a:rPr>
              <a:t>wb</a:t>
            </a:r>
            <a:r>
              <a:rPr lang="en-IN" b="1" dirty="0">
                <a:solidFill>
                  <a:srgbClr val="CE9178"/>
                </a:solidFill>
                <a:effectLst/>
                <a:highlight>
                  <a:srgbClr val="000000"/>
                </a:highlight>
                <a:latin typeface="Courier New" panose="02070309020205020404" pitchFamily="49" charset="0"/>
              </a:rPr>
              <a:t>'</a:t>
            </a:r>
            <a:r>
              <a:rPr lang="en-IN" b="1" dirty="0">
                <a:solidFill>
                  <a:srgbClr val="DCDCDC"/>
                </a:solidFill>
                <a:effectLst/>
                <a:highlight>
                  <a:srgbClr val="000000"/>
                </a:highlight>
                <a:latin typeface="Courier New" panose="02070309020205020404" pitchFamily="49" charset="0"/>
              </a:rPr>
              <a:t>)</a:t>
            </a:r>
            <a:r>
              <a:rPr lang="en-IN" b="1" dirty="0">
                <a:solidFill>
                  <a:srgbClr val="D4D4D4"/>
                </a:solidFill>
                <a:effectLst/>
                <a:highlight>
                  <a:srgbClr val="000000"/>
                </a:highlight>
                <a:latin typeface="Courier New" panose="02070309020205020404" pitchFamily="49" charset="0"/>
              </a:rPr>
              <a:t> </a:t>
            </a:r>
            <a:r>
              <a:rPr lang="en-IN" b="1" dirty="0">
                <a:solidFill>
                  <a:srgbClr val="C99CC6"/>
                </a:solidFill>
                <a:effectLst/>
                <a:highlight>
                  <a:srgbClr val="000000"/>
                </a:highlight>
                <a:latin typeface="Courier New" panose="02070309020205020404" pitchFamily="49" charset="0"/>
              </a:rPr>
              <a:t>as</a:t>
            </a:r>
            <a:r>
              <a:rPr lang="en-IN" b="1" dirty="0">
                <a:solidFill>
                  <a:srgbClr val="D4D4D4"/>
                </a:solidFill>
                <a:effectLst/>
                <a:highlight>
                  <a:srgbClr val="000000"/>
                </a:highlight>
                <a:latin typeface="Courier New" panose="02070309020205020404" pitchFamily="49" charset="0"/>
              </a:rPr>
              <a:t> f</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f.write</a:t>
            </a:r>
            <a:r>
              <a:rPr lang="en-IN" b="1" dirty="0">
                <a:solidFill>
                  <a:srgbClr val="DCDCDC"/>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tflite_model</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r>
              <a:rPr lang="en-IN" b="1" dirty="0">
                <a:solidFill>
                  <a:srgbClr val="DCDCAA"/>
                </a:solidFill>
                <a:effectLst/>
                <a:highlight>
                  <a:srgbClr val="000000"/>
                </a:highlight>
                <a:latin typeface="Courier New" panose="02070309020205020404" pitchFamily="49" charset="0"/>
              </a:rPr>
              <a:t>print</a:t>
            </a:r>
            <a:r>
              <a:rPr lang="en-IN" b="1" dirty="0">
                <a:solidFill>
                  <a:srgbClr val="DCDCDC"/>
                </a:solidFill>
                <a:effectLst/>
                <a:highlight>
                  <a:srgbClr val="000000"/>
                </a:highlight>
                <a:latin typeface="Courier New" panose="02070309020205020404" pitchFamily="49" charset="0"/>
              </a:rPr>
              <a:t>(</a:t>
            </a:r>
            <a:r>
              <a:rPr lang="en-IN" b="1" dirty="0">
                <a:solidFill>
                  <a:srgbClr val="CE9178"/>
                </a:solidFill>
                <a:effectLst/>
                <a:highlight>
                  <a:srgbClr val="000000"/>
                </a:highlight>
                <a:latin typeface="Courier New" panose="02070309020205020404" pitchFamily="49" charset="0"/>
              </a:rPr>
              <a:t>"TensorFlow Lite model saved as '</a:t>
            </a:r>
            <a:r>
              <a:rPr lang="en-IN" b="1" dirty="0" err="1">
                <a:solidFill>
                  <a:srgbClr val="CE9178"/>
                </a:solidFill>
                <a:effectLst/>
                <a:highlight>
                  <a:srgbClr val="000000"/>
                </a:highlight>
                <a:latin typeface="Courier New" panose="02070309020205020404" pitchFamily="49" charset="0"/>
              </a:rPr>
              <a:t>mlp_model.tflite</a:t>
            </a:r>
            <a:r>
              <a:rPr lang="en-IN" b="1" dirty="0">
                <a:solidFill>
                  <a:srgbClr val="CE9178"/>
                </a:solidFill>
                <a:effectLst/>
                <a:highlight>
                  <a:srgbClr val="000000"/>
                </a:highlight>
                <a:latin typeface="Courier New" panose="02070309020205020404" pitchFamily="49" charset="0"/>
              </a:rPr>
              <a:t>'"</a:t>
            </a:r>
            <a:r>
              <a:rPr lang="en-IN" b="1" dirty="0">
                <a:solidFill>
                  <a:srgbClr val="DCDCDC"/>
                </a:solidFill>
                <a:effectLst/>
                <a:highlight>
                  <a:srgbClr val="000000"/>
                </a:highlight>
                <a:latin typeface="Courier New" panose="02070309020205020404" pitchFamily="49" charset="0"/>
              </a:rPr>
              <a:t>)</a:t>
            </a:r>
            <a:endParaRPr lang="en-IN" b="1" dirty="0">
              <a:solidFill>
                <a:srgbClr val="D4D4D4"/>
              </a:solidFill>
              <a:effectLst/>
              <a:highlight>
                <a:srgbClr val="000000"/>
              </a:highlight>
              <a:latin typeface="Courier New" panose="02070309020205020404" pitchFamily="49" charset="0"/>
            </a:endParaRPr>
          </a:p>
          <a:p>
            <a:pPr>
              <a:lnSpc>
                <a:spcPts val="1425"/>
              </a:lnSpc>
              <a:buNone/>
            </a:pPr>
            <a:br>
              <a:rPr lang="en-IN" b="1" dirty="0">
                <a:solidFill>
                  <a:srgbClr val="D4D4D4"/>
                </a:solidFill>
                <a:effectLst/>
                <a:highlight>
                  <a:srgbClr val="000000"/>
                </a:highlight>
                <a:latin typeface="Courier New" panose="02070309020205020404" pitchFamily="49" charset="0"/>
              </a:rPr>
            </a:br>
            <a:endParaRPr lang="en-IN" b="1" dirty="0">
              <a:solidFill>
                <a:srgbClr val="D4D4D4"/>
              </a:solidFill>
              <a:effectLst/>
              <a:highlight>
                <a:srgbClr val="000000"/>
              </a:highlight>
              <a:latin typeface="Courier New" panose="02070309020205020404" pitchFamily="49" charset="0"/>
            </a:endParaRPr>
          </a:p>
        </p:txBody>
      </p:sp>
    </p:spTree>
    <p:extLst>
      <p:ext uri="{BB962C8B-B14F-4D97-AF65-F5344CB8AC3E}">
        <p14:creationId xmlns:p14="http://schemas.microsoft.com/office/powerpoint/2010/main" val="2760619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82463-D5F8-2825-0D1B-77E3D58E43ED}"/>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3ED2F8A3-0617-A279-2AF0-49ECD0A5D7B6}"/>
              </a:ext>
            </a:extLst>
          </p:cNvPr>
          <p:cNvSpPr>
            <a:spLocks noGrp="1"/>
          </p:cNvSpPr>
          <p:nvPr>
            <p:ph idx="1"/>
          </p:nvPr>
        </p:nvSpPr>
        <p:spPr>
          <a:xfrm>
            <a:off x="838200" y="1600518"/>
            <a:ext cx="10515600" cy="1931352"/>
          </a:xfrm>
        </p:spPr>
        <p:txBody>
          <a:bodyPr>
            <a:normAutofit/>
          </a:bodyPr>
          <a:lstStyle/>
          <a:p>
            <a:r>
              <a:rPr lang="en-US" dirty="0"/>
              <a:t>Now you have to convert .</a:t>
            </a:r>
            <a:r>
              <a:rPr lang="en-US" dirty="0" err="1"/>
              <a:t>tflite</a:t>
            </a:r>
            <a:r>
              <a:rPr lang="en-US" dirty="0"/>
              <a:t> file to .h (Header file) as we code using C/C++ in ESP32</a:t>
            </a:r>
          </a:p>
          <a:p>
            <a:r>
              <a:rPr lang="en-US" dirty="0"/>
              <a:t>You may use this command on </a:t>
            </a:r>
            <a:r>
              <a:rPr lang="en-US" dirty="0" err="1"/>
              <a:t>colab</a:t>
            </a:r>
            <a:r>
              <a:rPr lang="en-US" dirty="0"/>
              <a:t> (Remove the ! If executing on a </a:t>
            </a:r>
            <a:r>
              <a:rPr lang="en-US" dirty="0" err="1"/>
              <a:t>linux</a:t>
            </a:r>
            <a:r>
              <a:rPr lang="en-US" dirty="0"/>
              <a:t> terminal locally)</a:t>
            </a:r>
          </a:p>
          <a:p>
            <a:endParaRPr lang="en-US" dirty="0"/>
          </a:p>
          <a:p>
            <a:endParaRPr lang="en-IN" dirty="0"/>
          </a:p>
        </p:txBody>
      </p:sp>
      <p:sp>
        <p:nvSpPr>
          <p:cNvPr id="4" name="Slide Number Placeholder 3">
            <a:extLst>
              <a:ext uri="{FF2B5EF4-FFF2-40B4-BE49-F238E27FC236}">
                <a16:creationId xmlns:a16="http://schemas.microsoft.com/office/drawing/2014/main" id="{7AAD70C4-4F84-DC09-1D87-AB610E2CEF8C}"/>
              </a:ext>
            </a:extLst>
          </p:cNvPr>
          <p:cNvSpPr>
            <a:spLocks noGrp="1"/>
          </p:cNvSpPr>
          <p:nvPr>
            <p:ph type="sldNum" sz="quarter" idx="12"/>
          </p:nvPr>
        </p:nvSpPr>
        <p:spPr/>
        <p:txBody>
          <a:bodyPr/>
          <a:lstStyle/>
          <a:p>
            <a:fld id="{592B932E-453C-43E9-9683-166E224458DF}" type="slidenum">
              <a:rPr lang="en-IN" smtClean="0"/>
              <a:t>35</a:t>
            </a:fld>
            <a:endParaRPr lang="en-IN"/>
          </a:p>
        </p:txBody>
      </p:sp>
      <p:sp>
        <p:nvSpPr>
          <p:cNvPr id="6" name="TextBox 5">
            <a:extLst>
              <a:ext uri="{FF2B5EF4-FFF2-40B4-BE49-F238E27FC236}">
                <a16:creationId xmlns:a16="http://schemas.microsoft.com/office/drawing/2014/main" id="{513F1B84-D8DC-37FB-C049-DC7DA1DB676B}"/>
              </a:ext>
            </a:extLst>
          </p:cNvPr>
          <p:cNvSpPr txBox="1"/>
          <p:nvPr/>
        </p:nvSpPr>
        <p:spPr>
          <a:xfrm>
            <a:off x="3047048" y="3531870"/>
            <a:ext cx="6097904" cy="296235"/>
          </a:xfrm>
          <a:prstGeom prst="rect">
            <a:avLst/>
          </a:prstGeom>
          <a:noFill/>
        </p:spPr>
        <p:txBody>
          <a:bodyPr wrap="square">
            <a:spAutoFit/>
          </a:bodyPr>
          <a:lstStyle/>
          <a:p>
            <a:pPr>
              <a:lnSpc>
                <a:spcPts val="1425"/>
              </a:lnSpc>
              <a:buNone/>
            </a:pPr>
            <a:r>
              <a:rPr lang="en-IN" b="1" dirty="0">
                <a:solidFill>
                  <a:srgbClr val="82C6FF"/>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xxd</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i</a:t>
            </a:r>
            <a:r>
              <a:rPr lang="en-IN" b="1" dirty="0">
                <a:solidFill>
                  <a:srgbClr val="D4D4D4"/>
                </a:solidFill>
                <a:effectLst/>
                <a:highlight>
                  <a:srgbClr val="000000"/>
                </a:highlight>
                <a:latin typeface="Courier New" panose="02070309020205020404" pitchFamily="49" charset="0"/>
              </a:rPr>
              <a:t> </a:t>
            </a:r>
            <a:r>
              <a:rPr lang="en-IN" b="1" dirty="0" err="1">
                <a:solidFill>
                  <a:srgbClr val="D4D4D4"/>
                </a:solidFill>
                <a:effectLst/>
                <a:highlight>
                  <a:srgbClr val="000000"/>
                </a:highlight>
                <a:latin typeface="Courier New" panose="02070309020205020404" pitchFamily="49" charset="0"/>
              </a:rPr>
              <a:t>mlp_model</a:t>
            </a:r>
            <a:r>
              <a:rPr lang="en-IN" b="1" dirty="0" err="1">
                <a:solidFill>
                  <a:srgbClr val="DCDCDC"/>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tflite</a:t>
            </a:r>
            <a:r>
              <a:rPr lang="en-IN" b="1" dirty="0">
                <a:solidFill>
                  <a:srgbClr val="D4D4D4"/>
                </a:solidFill>
                <a:effectLst/>
                <a:highlight>
                  <a:srgbClr val="000000"/>
                </a:highlight>
                <a:latin typeface="Courier New" panose="02070309020205020404" pitchFamily="49" charset="0"/>
              </a:rPr>
              <a:t> &gt; </a:t>
            </a:r>
            <a:r>
              <a:rPr lang="en-IN" b="1" dirty="0" err="1">
                <a:solidFill>
                  <a:srgbClr val="D4D4D4"/>
                </a:solidFill>
                <a:effectLst/>
                <a:highlight>
                  <a:srgbClr val="000000"/>
                </a:highlight>
                <a:latin typeface="Courier New" panose="02070309020205020404" pitchFamily="49" charset="0"/>
              </a:rPr>
              <a:t>mlp_model</a:t>
            </a:r>
            <a:r>
              <a:rPr lang="en-IN" b="1" dirty="0" err="1">
                <a:solidFill>
                  <a:srgbClr val="DCDCDC"/>
                </a:solidFill>
                <a:effectLst/>
                <a:highlight>
                  <a:srgbClr val="000000"/>
                </a:highlight>
                <a:latin typeface="Courier New" panose="02070309020205020404" pitchFamily="49" charset="0"/>
              </a:rPr>
              <a:t>.</a:t>
            </a:r>
            <a:r>
              <a:rPr lang="en-IN" b="1" dirty="0" err="1">
                <a:solidFill>
                  <a:srgbClr val="D4D4D4"/>
                </a:solidFill>
                <a:effectLst/>
                <a:highlight>
                  <a:srgbClr val="000000"/>
                </a:highlight>
                <a:latin typeface="Courier New" panose="02070309020205020404" pitchFamily="49" charset="0"/>
              </a:rPr>
              <a:t>h</a:t>
            </a:r>
            <a:endParaRPr lang="en-IN" b="1" dirty="0">
              <a:solidFill>
                <a:srgbClr val="D4D4D4"/>
              </a:solidFill>
              <a:effectLst/>
              <a:highlight>
                <a:srgbClr val="000000"/>
              </a:highlight>
              <a:latin typeface="Courier New" panose="02070309020205020404" pitchFamily="49" charset="0"/>
            </a:endParaRPr>
          </a:p>
        </p:txBody>
      </p:sp>
      <p:sp>
        <p:nvSpPr>
          <p:cNvPr id="7" name="TextBox 6">
            <a:extLst>
              <a:ext uri="{FF2B5EF4-FFF2-40B4-BE49-F238E27FC236}">
                <a16:creationId xmlns:a16="http://schemas.microsoft.com/office/drawing/2014/main" id="{6CFBFBA5-A771-83E0-2AF2-370CB4BA5DC0}"/>
              </a:ext>
            </a:extLst>
          </p:cNvPr>
          <p:cNvSpPr txBox="1"/>
          <p:nvPr/>
        </p:nvSpPr>
        <p:spPr>
          <a:xfrm>
            <a:off x="838200" y="3842575"/>
            <a:ext cx="10515600" cy="954107"/>
          </a:xfrm>
          <a:prstGeom prst="rect">
            <a:avLst/>
          </a:prstGeom>
          <a:noFill/>
        </p:spPr>
        <p:txBody>
          <a:bodyPr wrap="square" rtlCol="0">
            <a:spAutoFit/>
          </a:bodyPr>
          <a:lstStyle/>
          <a:p>
            <a:r>
              <a:rPr lang="en-US" sz="2800" dirty="0"/>
              <a:t>If you have used Scaling of Data. Don’t forget to note you Scaler (Mean &amp; Scale)</a:t>
            </a:r>
            <a:endParaRPr lang="en-IN" sz="2800" dirty="0"/>
          </a:p>
        </p:txBody>
      </p:sp>
      <p:pic>
        <p:nvPicPr>
          <p:cNvPr id="9" name="Picture 8">
            <a:extLst>
              <a:ext uri="{FF2B5EF4-FFF2-40B4-BE49-F238E27FC236}">
                <a16:creationId xmlns:a16="http://schemas.microsoft.com/office/drawing/2014/main" id="{D7401678-B087-E854-552C-75170BA685DD}"/>
              </a:ext>
            </a:extLst>
          </p:cNvPr>
          <p:cNvPicPr>
            <a:picLocks noChangeAspect="1"/>
          </p:cNvPicPr>
          <p:nvPr/>
        </p:nvPicPr>
        <p:blipFill>
          <a:blip r:embed="rId2"/>
          <a:stretch>
            <a:fillRect/>
          </a:stretch>
        </p:blipFill>
        <p:spPr>
          <a:xfrm>
            <a:off x="2491739" y="4707763"/>
            <a:ext cx="7610201" cy="1923048"/>
          </a:xfrm>
          <a:prstGeom prst="rect">
            <a:avLst/>
          </a:prstGeom>
        </p:spPr>
      </p:pic>
    </p:spTree>
    <p:extLst>
      <p:ext uri="{BB962C8B-B14F-4D97-AF65-F5344CB8AC3E}">
        <p14:creationId xmlns:p14="http://schemas.microsoft.com/office/powerpoint/2010/main" val="631002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4C53-6F74-81B5-D23F-37CCA7046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96272-8165-0F10-C3DE-3E976A98F55F}"/>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7A2C2883-BD98-D5E6-029C-E645DECDECE5}"/>
              </a:ext>
            </a:extLst>
          </p:cNvPr>
          <p:cNvSpPr>
            <a:spLocks noGrp="1"/>
          </p:cNvSpPr>
          <p:nvPr>
            <p:ph idx="1"/>
          </p:nvPr>
        </p:nvSpPr>
        <p:spPr>
          <a:xfrm>
            <a:off x="838200" y="1600518"/>
            <a:ext cx="10515600" cy="845502"/>
          </a:xfrm>
        </p:spPr>
        <p:txBody>
          <a:bodyPr>
            <a:normAutofit lnSpcReduction="10000"/>
          </a:bodyPr>
          <a:lstStyle/>
          <a:p>
            <a:r>
              <a:rPr lang="en-US" dirty="0"/>
              <a:t>Now Download the .</a:t>
            </a:r>
            <a:r>
              <a:rPr lang="en-US" dirty="0" err="1"/>
              <a:t>tflite</a:t>
            </a:r>
            <a:r>
              <a:rPr lang="en-US" dirty="0"/>
              <a:t> (For Future Reference) and .h file to you PC Locally and keep them safe. Open the .h file it should like this : </a:t>
            </a:r>
          </a:p>
          <a:p>
            <a:endParaRPr lang="en-US" dirty="0"/>
          </a:p>
          <a:p>
            <a:endParaRPr lang="en-IN" dirty="0"/>
          </a:p>
        </p:txBody>
      </p:sp>
      <p:sp>
        <p:nvSpPr>
          <p:cNvPr id="4" name="Slide Number Placeholder 3">
            <a:extLst>
              <a:ext uri="{FF2B5EF4-FFF2-40B4-BE49-F238E27FC236}">
                <a16:creationId xmlns:a16="http://schemas.microsoft.com/office/drawing/2014/main" id="{E21F4528-1880-693C-6E5C-E3C44E30745F}"/>
              </a:ext>
            </a:extLst>
          </p:cNvPr>
          <p:cNvSpPr>
            <a:spLocks noGrp="1"/>
          </p:cNvSpPr>
          <p:nvPr>
            <p:ph type="sldNum" sz="quarter" idx="12"/>
          </p:nvPr>
        </p:nvSpPr>
        <p:spPr/>
        <p:txBody>
          <a:bodyPr/>
          <a:lstStyle/>
          <a:p>
            <a:fld id="{592B932E-453C-43E9-9683-166E224458DF}" type="slidenum">
              <a:rPr lang="en-IN" smtClean="0"/>
              <a:t>36</a:t>
            </a:fld>
            <a:endParaRPr lang="en-IN"/>
          </a:p>
        </p:txBody>
      </p:sp>
      <p:pic>
        <p:nvPicPr>
          <p:cNvPr id="8" name="Picture 7">
            <a:extLst>
              <a:ext uri="{FF2B5EF4-FFF2-40B4-BE49-F238E27FC236}">
                <a16:creationId xmlns:a16="http://schemas.microsoft.com/office/drawing/2014/main" id="{C50B2B4F-79AB-4CB7-075D-770BEEB55603}"/>
              </a:ext>
            </a:extLst>
          </p:cNvPr>
          <p:cNvPicPr>
            <a:picLocks noChangeAspect="1"/>
          </p:cNvPicPr>
          <p:nvPr/>
        </p:nvPicPr>
        <p:blipFill>
          <a:blip r:embed="rId2"/>
          <a:stretch>
            <a:fillRect/>
          </a:stretch>
        </p:blipFill>
        <p:spPr>
          <a:xfrm>
            <a:off x="1517667" y="2446020"/>
            <a:ext cx="8859486" cy="2486372"/>
          </a:xfrm>
          <a:prstGeom prst="rect">
            <a:avLst/>
          </a:prstGeom>
        </p:spPr>
      </p:pic>
      <p:pic>
        <p:nvPicPr>
          <p:cNvPr id="11" name="Picture 10">
            <a:extLst>
              <a:ext uri="{FF2B5EF4-FFF2-40B4-BE49-F238E27FC236}">
                <a16:creationId xmlns:a16="http://schemas.microsoft.com/office/drawing/2014/main" id="{3104A34A-13A6-DECC-59E0-D9D38FEEF679}"/>
              </a:ext>
            </a:extLst>
          </p:cNvPr>
          <p:cNvPicPr>
            <a:picLocks noChangeAspect="1"/>
          </p:cNvPicPr>
          <p:nvPr/>
        </p:nvPicPr>
        <p:blipFill>
          <a:blip r:embed="rId3"/>
          <a:stretch>
            <a:fillRect/>
          </a:stretch>
        </p:blipFill>
        <p:spPr>
          <a:xfrm>
            <a:off x="1517668" y="5302052"/>
            <a:ext cx="8859486" cy="1419423"/>
          </a:xfrm>
          <a:prstGeom prst="rect">
            <a:avLst/>
          </a:prstGeom>
        </p:spPr>
      </p:pic>
    </p:spTree>
    <p:extLst>
      <p:ext uri="{BB962C8B-B14F-4D97-AF65-F5344CB8AC3E}">
        <p14:creationId xmlns:p14="http://schemas.microsoft.com/office/powerpoint/2010/main" val="3808923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0E9C-C9EF-3065-AC4C-D9D341F963E8}"/>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D996C273-822D-EEF9-22BE-AFF97B75306E}"/>
              </a:ext>
            </a:extLst>
          </p:cNvPr>
          <p:cNvSpPr>
            <a:spLocks noGrp="1"/>
          </p:cNvSpPr>
          <p:nvPr>
            <p:ph idx="1"/>
          </p:nvPr>
        </p:nvSpPr>
        <p:spPr/>
        <p:txBody>
          <a:bodyPr/>
          <a:lstStyle/>
          <a:p>
            <a:r>
              <a:rPr lang="en-US" dirty="0"/>
              <a:t>If the .h file doesn’t look like the one in the previous slides. Feel free to add the words highlighted in blue to complete the model file. Once you are done open a new Arduino project.</a:t>
            </a:r>
          </a:p>
          <a:p>
            <a:r>
              <a:rPr lang="en-US" dirty="0"/>
              <a:t>Go to sketch&gt;Add File&gt; Now select the .h file that you just </a:t>
            </a:r>
            <a:r>
              <a:rPr lang="en-US" dirty="0" err="1"/>
              <a:t>madde</a:t>
            </a:r>
            <a:endParaRPr lang="en-US" dirty="0"/>
          </a:p>
          <a:p>
            <a:r>
              <a:rPr lang="en-US" dirty="0"/>
              <a:t>Well Done ! .h file is now integrated with your project. You may check this by going to the project folder the Arduino Sketch (*.</a:t>
            </a:r>
            <a:r>
              <a:rPr lang="en-US" dirty="0" err="1"/>
              <a:t>ino</a:t>
            </a:r>
            <a:r>
              <a:rPr lang="en-US" dirty="0"/>
              <a:t>) and the Header file (*.h) should be in the same directory.</a:t>
            </a:r>
            <a:endParaRPr lang="en-IN" dirty="0"/>
          </a:p>
        </p:txBody>
      </p:sp>
      <p:sp>
        <p:nvSpPr>
          <p:cNvPr id="4" name="Slide Number Placeholder 3">
            <a:extLst>
              <a:ext uri="{FF2B5EF4-FFF2-40B4-BE49-F238E27FC236}">
                <a16:creationId xmlns:a16="http://schemas.microsoft.com/office/drawing/2014/main" id="{282A4137-109A-5460-9054-117FBE82975D}"/>
              </a:ext>
            </a:extLst>
          </p:cNvPr>
          <p:cNvSpPr>
            <a:spLocks noGrp="1"/>
          </p:cNvSpPr>
          <p:nvPr>
            <p:ph type="sldNum" sz="quarter" idx="12"/>
          </p:nvPr>
        </p:nvSpPr>
        <p:spPr/>
        <p:txBody>
          <a:bodyPr/>
          <a:lstStyle/>
          <a:p>
            <a:fld id="{592B932E-453C-43E9-9683-166E224458DF}" type="slidenum">
              <a:rPr lang="en-IN" smtClean="0"/>
              <a:t>37</a:t>
            </a:fld>
            <a:endParaRPr lang="en-IN"/>
          </a:p>
        </p:txBody>
      </p:sp>
    </p:spTree>
    <p:extLst>
      <p:ext uri="{BB962C8B-B14F-4D97-AF65-F5344CB8AC3E}">
        <p14:creationId xmlns:p14="http://schemas.microsoft.com/office/powerpoint/2010/main" val="4214015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11D3F-FCC4-4A46-08AC-020837426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92BFC-BD38-7CA4-DFB5-B2D4A374ED7D}"/>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5361659C-60C3-14E2-43F5-40B8F359192D}"/>
              </a:ext>
            </a:extLst>
          </p:cNvPr>
          <p:cNvSpPr>
            <a:spLocks noGrp="1"/>
          </p:cNvSpPr>
          <p:nvPr>
            <p:ph idx="1"/>
          </p:nvPr>
        </p:nvSpPr>
        <p:spPr/>
        <p:txBody>
          <a:bodyPr/>
          <a:lstStyle/>
          <a:p>
            <a:r>
              <a:rPr lang="en-US" dirty="0"/>
              <a:t>Starting with headers of the Arduino Sketch. We need to import the libraries and that file.</a:t>
            </a:r>
          </a:p>
          <a:p>
            <a:r>
              <a:rPr lang="en-US" dirty="0"/>
              <a:t>#include "</a:t>
            </a:r>
            <a:r>
              <a:rPr lang="en-US" dirty="0" err="1"/>
              <a:t>mlp_model.h</a:t>
            </a:r>
            <a:r>
              <a:rPr lang="en-US" dirty="0"/>
              <a:t>"</a:t>
            </a:r>
          </a:p>
          <a:p>
            <a:r>
              <a:rPr lang="en-US" dirty="0"/>
              <a:t>#include &lt;tflm_esp32.h&gt;</a:t>
            </a:r>
          </a:p>
          <a:p>
            <a:r>
              <a:rPr lang="en-US" dirty="0"/>
              <a:t>#include &lt;</a:t>
            </a:r>
            <a:r>
              <a:rPr lang="en-US" dirty="0" err="1"/>
              <a:t>eloquent_tinyml.h</a:t>
            </a:r>
            <a:r>
              <a:rPr lang="en-US" dirty="0"/>
              <a:t>&gt;</a:t>
            </a:r>
          </a:p>
          <a:p>
            <a:r>
              <a:rPr lang="en-US" dirty="0"/>
              <a:t>&lt;xxx&gt; : Represent a Library</a:t>
            </a:r>
          </a:p>
          <a:p>
            <a:r>
              <a:rPr lang="en-US" dirty="0"/>
              <a:t>" xxx " : Represent a file</a:t>
            </a:r>
          </a:p>
          <a:p>
            <a:endParaRPr lang="en-IN" dirty="0"/>
          </a:p>
        </p:txBody>
      </p:sp>
      <p:sp>
        <p:nvSpPr>
          <p:cNvPr id="4" name="Slide Number Placeholder 3">
            <a:extLst>
              <a:ext uri="{FF2B5EF4-FFF2-40B4-BE49-F238E27FC236}">
                <a16:creationId xmlns:a16="http://schemas.microsoft.com/office/drawing/2014/main" id="{82FD9DEF-C481-6D82-1281-5953063C7EF0}"/>
              </a:ext>
            </a:extLst>
          </p:cNvPr>
          <p:cNvSpPr>
            <a:spLocks noGrp="1"/>
          </p:cNvSpPr>
          <p:nvPr>
            <p:ph type="sldNum" sz="quarter" idx="12"/>
          </p:nvPr>
        </p:nvSpPr>
        <p:spPr/>
        <p:txBody>
          <a:bodyPr/>
          <a:lstStyle/>
          <a:p>
            <a:fld id="{592B932E-453C-43E9-9683-166E224458DF}" type="slidenum">
              <a:rPr lang="en-IN" smtClean="0"/>
              <a:t>38</a:t>
            </a:fld>
            <a:endParaRPr lang="en-IN"/>
          </a:p>
        </p:txBody>
      </p:sp>
      <p:cxnSp>
        <p:nvCxnSpPr>
          <p:cNvPr id="6" name="Straight Arrow Connector 5">
            <a:extLst>
              <a:ext uri="{FF2B5EF4-FFF2-40B4-BE49-F238E27FC236}">
                <a16:creationId xmlns:a16="http://schemas.microsoft.com/office/drawing/2014/main" id="{08BF6E7D-7DAD-D009-4C42-5BF80D73B1AC}"/>
              </a:ext>
            </a:extLst>
          </p:cNvPr>
          <p:cNvCxnSpPr>
            <a:cxnSpLocks/>
          </p:cNvCxnSpPr>
          <p:nvPr/>
        </p:nvCxnSpPr>
        <p:spPr>
          <a:xfrm>
            <a:off x="5875020" y="2754630"/>
            <a:ext cx="0" cy="148590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2CA36695-C255-70F4-6825-497A33CDDE62}"/>
              </a:ext>
            </a:extLst>
          </p:cNvPr>
          <p:cNvSpPr txBox="1"/>
          <p:nvPr/>
        </p:nvSpPr>
        <p:spPr>
          <a:xfrm>
            <a:off x="6269219" y="3013501"/>
            <a:ext cx="5215980" cy="830997"/>
          </a:xfrm>
          <a:prstGeom prst="rect">
            <a:avLst/>
          </a:prstGeom>
          <a:noFill/>
        </p:spPr>
        <p:txBody>
          <a:bodyPr wrap="none" rtlCol="0">
            <a:spAutoFit/>
          </a:bodyPr>
          <a:lstStyle/>
          <a:p>
            <a:r>
              <a:rPr lang="en-US" sz="2400" dirty="0">
                <a:solidFill>
                  <a:srgbClr val="FF0000"/>
                </a:solidFill>
              </a:rPr>
              <a:t>Strict Order</a:t>
            </a:r>
            <a:br>
              <a:rPr lang="en-US" sz="2400" dirty="0">
                <a:solidFill>
                  <a:srgbClr val="FF0000"/>
                </a:solidFill>
              </a:rPr>
            </a:br>
            <a:r>
              <a:rPr lang="en-US" sz="2400" dirty="0">
                <a:solidFill>
                  <a:srgbClr val="FF0000"/>
                </a:solidFill>
              </a:rPr>
              <a:t>Otherwise, you will encounter an error</a:t>
            </a:r>
            <a:endParaRPr lang="en-IN" sz="2400" dirty="0">
              <a:solidFill>
                <a:srgbClr val="FF0000"/>
              </a:solidFill>
            </a:endParaRPr>
          </a:p>
        </p:txBody>
      </p:sp>
    </p:spTree>
    <p:extLst>
      <p:ext uri="{BB962C8B-B14F-4D97-AF65-F5344CB8AC3E}">
        <p14:creationId xmlns:p14="http://schemas.microsoft.com/office/powerpoint/2010/main" val="1858270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A6C5D-45F4-573E-A485-66F24B47D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3E401-236F-7D67-D4FC-F8B750D47606}"/>
              </a:ext>
            </a:extLst>
          </p:cNvPr>
          <p:cNvSpPr>
            <a:spLocks noGrp="1"/>
          </p:cNvSpPr>
          <p:nvPr>
            <p:ph type="title"/>
          </p:nvPr>
        </p:nvSpPr>
        <p:spPr/>
        <p:txBody>
          <a:bodyPr/>
          <a:lstStyle/>
          <a:p>
            <a:r>
              <a:rPr lang="en-US" dirty="0"/>
              <a:t>Implementing MLP on ESP-32 (Contd.)</a:t>
            </a:r>
            <a:endParaRPr lang="en-IN" dirty="0"/>
          </a:p>
        </p:txBody>
      </p:sp>
      <p:sp>
        <p:nvSpPr>
          <p:cNvPr id="3" name="Content Placeholder 2">
            <a:extLst>
              <a:ext uri="{FF2B5EF4-FFF2-40B4-BE49-F238E27FC236}">
                <a16:creationId xmlns:a16="http://schemas.microsoft.com/office/drawing/2014/main" id="{9EEBF0F7-3918-4DE0-4619-137280C08E93}"/>
              </a:ext>
            </a:extLst>
          </p:cNvPr>
          <p:cNvSpPr>
            <a:spLocks noGrp="1"/>
          </p:cNvSpPr>
          <p:nvPr>
            <p:ph idx="1"/>
          </p:nvPr>
        </p:nvSpPr>
        <p:spPr/>
        <p:txBody>
          <a:bodyPr/>
          <a:lstStyle/>
          <a:p>
            <a:r>
              <a:rPr lang="en-US" dirty="0"/>
              <a:t>Define the number of inputs, outputs and tensor arena size</a:t>
            </a:r>
          </a:p>
          <a:p>
            <a:r>
              <a:rPr lang="en-US" dirty="0"/>
              <a:t>Tensor arena size = memory reserved for running the </a:t>
            </a:r>
            <a:r>
              <a:rPr lang="en-US" dirty="0" err="1"/>
              <a:t>TinyML</a:t>
            </a:r>
            <a:r>
              <a:rPr lang="en-US" dirty="0"/>
              <a:t> model's tensors and intermediate data during inference. It’s okay to keep this value constant every time</a:t>
            </a:r>
          </a:p>
          <a:p>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DDEADC1C-E78B-AFE3-73E5-217EF49061CD}"/>
              </a:ext>
            </a:extLst>
          </p:cNvPr>
          <p:cNvSpPr>
            <a:spLocks noGrp="1"/>
          </p:cNvSpPr>
          <p:nvPr>
            <p:ph type="sldNum" sz="quarter" idx="12"/>
          </p:nvPr>
        </p:nvSpPr>
        <p:spPr/>
        <p:txBody>
          <a:bodyPr/>
          <a:lstStyle/>
          <a:p>
            <a:fld id="{592B932E-453C-43E9-9683-166E224458DF}" type="slidenum">
              <a:rPr lang="en-IN" smtClean="0"/>
              <a:t>39</a:t>
            </a:fld>
            <a:endParaRPr lang="en-IN"/>
          </a:p>
        </p:txBody>
      </p:sp>
      <p:pic>
        <p:nvPicPr>
          <p:cNvPr id="7" name="Picture 6">
            <a:extLst>
              <a:ext uri="{FF2B5EF4-FFF2-40B4-BE49-F238E27FC236}">
                <a16:creationId xmlns:a16="http://schemas.microsoft.com/office/drawing/2014/main" id="{B735809E-06FF-ADA9-9C99-7C40BFAF5D2B}"/>
              </a:ext>
            </a:extLst>
          </p:cNvPr>
          <p:cNvPicPr>
            <a:picLocks noChangeAspect="1"/>
          </p:cNvPicPr>
          <p:nvPr/>
        </p:nvPicPr>
        <p:blipFill>
          <a:blip r:embed="rId2"/>
          <a:stretch>
            <a:fillRect/>
          </a:stretch>
        </p:blipFill>
        <p:spPr>
          <a:xfrm>
            <a:off x="3857312" y="3669030"/>
            <a:ext cx="4477375" cy="1019317"/>
          </a:xfrm>
          <a:prstGeom prst="rect">
            <a:avLst/>
          </a:prstGeom>
        </p:spPr>
      </p:pic>
    </p:spTree>
    <p:extLst>
      <p:ext uri="{BB962C8B-B14F-4D97-AF65-F5344CB8AC3E}">
        <p14:creationId xmlns:p14="http://schemas.microsoft.com/office/powerpoint/2010/main" val="1112393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9E9D-A43E-6EF0-6DD6-3C0D9AF6E1A5}"/>
              </a:ext>
            </a:extLst>
          </p:cNvPr>
          <p:cNvSpPr>
            <a:spLocks noGrp="1"/>
          </p:cNvSpPr>
          <p:nvPr>
            <p:ph type="title"/>
          </p:nvPr>
        </p:nvSpPr>
        <p:spPr/>
        <p:txBody>
          <a:bodyPr/>
          <a:lstStyle/>
          <a:p>
            <a:r>
              <a:rPr lang="en-US" dirty="0"/>
              <a:t>Implementing MLP on ESP-32 (Contd.)</a:t>
            </a:r>
            <a:endParaRPr lang="en-IN" dirty="0"/>
          </a:p>
        </p:txBody>
      </p:sp>
      <p:sp>
        <p:nvSpPr>
          <p:cNvPr id="4" name="Slide Number Placeholder 3">
            <a:extLst>
              <a:ext uri="{FF2B5EF4-FFF2-40B4-BE49-F238E27FC236}">
                <a16:creationId xmlns:a16="http://schemas.microsoft.com/office/drawing/2014/main" id="{02E567C0-3C00-2DBA-877B-98BB9A69C26D}"/>
              </a:ext>
            </a:extLst>
          </p:cNvPr>
          <p:cNvSpPr>
            <a:spLocks noGrp="1"/>
          </p:cNvSpPr>
          <p:nvPr>
            <p:ph type="sldNum" sz="quarter" idx="12"/>
          </p:nvPr>
        </p:nvSpPr>
        <p:spPr/>
        <p:txBody>
          <a:bodyPr/>
          <a:lstStyle/>
          <a:p>
            <a:fld id="{592B932E-453C-43E9-9683-166E224458DF}" type="slidenum">
              <a:rPr lang="en-IN" smtClean="0"/>
              <a:t>40</a:t>
            </a:fld>
            <a:endParaRPr lang="en-IN"/>
          </a:p>
        </p:txBody>
      </p:sp>
      <p:pic>
        <p:nvPicPr>
          <p:cNvPr id="6" name="Picture 5">
            <a:extLst>
              <a:ext uri="{FF2B5EF4-FFF2-40B4-BE49-F238E27FC236}">
                <a16:creationId xmlns:a16="http://schemas.microsoft.com/office/drawing/2014/main" id="{2E51C4DD-B1F6-437E-C997-5888DB2212C6}"/>
              </a:ext>
            </a:extLst>
          </p:cNvPr>
          <p:cNvPicPr>
            <a:picLocks noChangeAspect="1"/>
          </p:cNvPicPr>
          <p:nvPr/>
        </p:nvPicPr>
        <p:blipFill>
          <a:blip r:embed="rId2"/>
          <a:stretch>
            <a:fillRect/>
          </a:stretch>
        </p:blipFill>
        <p:spPr>
          <a:xfrm>
            <a:off x="3222840" y="2471457"/>
            <a:ext cx="6020640" cy="2457793"/>
          </a:xfrm>
          <a:prstGeom prst="rect">
            <a:avLst/>
          </a:prstGeom>
        </p:spPr>
      </p:pic>
      <p:sp>
        <p:nvSpPr>
          <p:cNvPr id="7" name="TextBox 6">
            <a:extLst>
              <a:ext uri="{FF2B5EF4-FFF2-40B4-BE49-F238E27FC236}">
                <a16:creationId xmlns:a16="http://schemas.microsoft.com/office/drawing/2014/main" id="{1A1BA3E5-16C7-6519-4072-D77DD7E28F46}"/>
              </a:ext>
            </a:extLst>
          </p:cNvPr>
          <p:cNvSpPr txBox="1"/>
          <p:nvPr/>
        </p:nvSpPr>
        <p:spPr>
          <a:xfrm>
            <a:off x="952500" y="1690688"/>
            <a:ext cx="10286999" cy="646331"/>
          </a:xfrm>
          <a:prstGeom prst="rect">
            <a:avLst/>
          </a:prstGeom>
          <a:noFill/>
        </p:spPr>
        <p:txBody>
          <a:bodyPr wrap="square" rtlCol="0">
            <a:spAutoFit/>
          </a:bodyPr>
          <a:lstStyle/>
          <a:p>
            <a:r>
              <a:rPr lang="en-US" dirty="0"/>
              <a:t>Remember the scaling values we took in Slide 25. They come back here. You need to enter them in the code like this </a:t>
            </a:r>
            <a:endParaRPr lang="en-IN" dirty="0"/>
          </a:p>
        </p:txBody>
      </p:sp>
    </p:spTree>
    <p:extLst>
      <p:ext uri="{BB962C8B-B14F-4D97-AF65-F5344CB8AC3E}">
        <p14:creationId xmlns:p14="http://schemas.microsoft.com/office/powerpoint/2010/main" val="1925761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CFFE-58DD-FD4D-CFFB-2931C870C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4B107-3B73-BEB7-4C1E-1A39A11E301B}"/>
              </a:ext>
            </a:extLst>
          </p:cNvPr>
          <p:cNvSpPr>
            <a:spLocks noGrp="1"/>
          </p:cNvSpPr>
          <p:nvPr>
            <p:ph type="title"/>
          </p:nvPr>
        </p:nvSpPr>
        <p:spPr/>
        <p:txBody>
          <a:bodyPr/>
          <a:lstStyle/>
          <a:p>
            <a:r>
              <a:rPr lang="en-US" dirty="0"/>
              <a:t>Implementing MLP on ESP-32 (Contd.)</a:t>
            </a:r>
            <a:endParaRPr lang="en-IN" dirty="0"/>
          </a:p>
        </p:txBody>
      </p:sp>
      <p:sp>
        <p:nvSpPr>
          <p:cNvPr id="4" name="Slide Number Placeholder 3">
            <a:extLst>
              <a:ext uri="{FF2B5EF4-FFF2-40B4-BE49-F238E27FC236}">
                <a16:creationId xmlns:a16="http://schemas.microsoft.com/office/drawing/2014/main" id="{0F7D2E6B-04C5-8C83-B333-9EDDE8EE768C}"/>
              </a:ext>
            </a:extLst>
          </p:cNvPr>
          <p:cNvSpPr>
            <a:spLocks noGrp="1"/>
          </p:cNvSpPr>
          <p:nvPr>
            <p:ph type="sldNum" sz="quarter" idx="12"/>
          </p:nvPr>
        </p:nvSpPr>
        <p:spPr/>
        <p:txBody>
          <a:bodyPr/>
          <a:lstStyle/>
          <a:p>
            <a:fld id="{592B932E-453C-43E9-9683-166E224458DF}" type="slidenum">
              <a:rPr lang="en-IN" smtClean="0"/>
              <a:t>41</a:t>
            </a:fld>
            <a:endParaRPr lang="en-IN"/>
          </a:p>
        </p:txBody>
      </p:sp>
      <p:sp>
        <p:nvSpPr>
          <p:cNvPr id="7" name="TextBox 6">
            <a:extLst>
              <a:ext uri="{FF2B5EF4-FFF2-40B4-BE49-F238E27FC236}">
                <a16:creationId xmlns:a16="http://schemas.microsoft.com/office/drawing/2014/main" id="{37C33DFE-CFA3-BF60-93B1-3F13033CAE62}"/>
              </a:ext>
            </a:extLst>
          </p:cNvPr>
          <p:cNvSpPr txBox="1"/>
          <p:nvPr/>
        </p:nvSpPr>
        <p:spPr>
          <a:xfrm>
            <a:off x="838200" y="1383909"/>
            <a:ext cx="10286999" cy="369332"/>
          </a:xfrm>
          <a:prstGeom prst="rect">
            <a:avLst/>
          </a:prstGeom>
          <a:noFill/>
        </p:spPr>
        <p:txBody>
          <a:bodyPr wrap="square" rtlCol="0">
            <a:spAutoFit/>
          </a:bodyPr>
          <a:lstStyle/>
          <a:p>
            <a:r>
              <a:rPr lang="en-US" dirty="0"/>
              <a:t>Now initialize the layers in Setup Loop</a:t>
            </a:r>
            <a:endParaRPr lang="en-IN" dirty="0"/>
          </a:p>
        </p:txBody>
      </p:sp>
      <p:pic>
        <p:nvPicPr>
          <p:cNvPr id="5" name="Picture 4">
            <a:extLst>
              <a:ext uri="{FF2B5EF4-FFF2-40B4-BE49-F238E27FC236}">
                <a16:creationId xmlns:a16="http://schemas.microsoft.com/office/drawing/2014/main" id="{E000FCE7-A973-97FA-3C90-5A4E6D5D3D07}"/>
              </a:ext>
            </a:extLst>
          </p:cNvPr>
          <p:cNvPicPr>
            <a:picLocks noChangeAspect="1"/>
          </p:cNvPicPr>
          <p:nvPr/>
        </p:nvPicPr>
        <p:blipFill>
          <a:blip r:embed="rId2"/>
          <a:stretch>
            <a:fillRect/>
          </a:stretch>
        </p:blipFill>
        <p:spPr>
          <a:xfrm>
            <a:off x="838200" y="1797308"/>
            <a:ext cx="7075586" cy="3307452"/>
          </a:xfrm>
          <a:prstGeom prst="rect">
            <a:avLst/>
          </a:prstGeom>
        </p:spPr>
      </p:pic>
      <p:sp>
        <p:nvSpPr>
          <p:cNvPr id="9" name="Rectangle 1">
            <a:extLst>
              <a:ext uri="{FF2B5EF4-FFF2-40B4-BE49-F238E27FC236}">
                <a16:creationId xmlns:a16="http://schemas.microsoft.com/office/drawing/2014/main" id="{C13C869E-73C4-9FC3-5543-55008BDCC35F}"/>
              </a:ext>
            </a:extLst>
          </p:cNvPr>
          <p:cNvSpPr>
            <a:spLocks noChangeArrowheads="1"/>
          </p:cNvSpPr>
          <p:nvPr/>
        </p:nvSpPr>
        <p:spPr bwMode="auto">
          <a:xfrm>
            <a:off x="652267" y="5382646"/>
            <a:ext cx="1047293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Manually registers the ML operators that your model uses with the TensorFlow Lite Micro interpreter.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Without this, the interpreter won’t know how to execute these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Explicitly tells the model wrapper how many inputs and outputs to expect.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is mandatory to configure the input/output buffers correctly.</a:t>
            </a:r>
          </a:p>
        </p:txBody>
      </p:sp>
    </p:spTree>
    <p:extLst>
      <p:ext uri="{BB962C8B-B14F-4D97-AF65-F5344CB8AC3E}">
        <p14:creationId xmlns:p14="http://schemas.microsoft.com/office/powerpoint/2010/main" val="41498778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FB349-DEDC-B98F-F53F-BCF6F738AFAD}"/>
              </a:ext>
            </a:extLst>
          </p:cNvPr>
          <p:cNvSpPr>
            <a:spLocks noGrp="1"/>
          </p:cNvSpPr>
          <p:nvPr>
            <p:ph type="title"/>
          </p:nvPr>
        </p:nvSpPr>
        <p:spPr/>
        <p:txBody>
          <a:bodyPr/>
          <a:lstStyle/>
          <a:p>
            <a:r>
              <a:rPr lang="en-US" dirty="0"/>
              <a:t>Example Implementation</a:t>
            </a:r>
            <a:endParaRPr lang="en-IN" dirty="0"/>
          </a:p>
        </p:txBody>
      </p:sp>
      <p:sp>
        <p:nvSpPr>
          <p:cNvPr id="3" name="Content Placeholder 2">
            <a:extLst>
              <a:ext uri="{FF2B5EF4-FFF2-40B4-BE49-F238E27FC236}">
                <a16:creationId xmlns:a16="http://schemas.microsoft.com/office/drawing/2014/main" id="{BB281FC2-74AC-3948-3900-D24A554D6730}"/>
              </a:ext>
            </a:extLst>
          </p:cNvPr>
          <p:cNvSpPr>
            <a:spLocks noGrp="1"/>
          </p:cNvSpPr>
          <p:nvPr>
            <p:ph idx="1"/>
          </p:nvPr>
        </p:nvSpPr>
        <p:spPr/>
        <p:txBody>
          <a:bodyPr/>
          <a:lstStyle/>
          <a:p>
            <a:r>
              <a:rPr lang="en-US" dirty="0"/>
              <a:t>An Example Implementation is present on my </a:t>
            </a:r>
            <a:r>
              <a:rPr lang="en-US" dirty="0" err="1"/>
              <a:t>github</a:t>
            </a:r>
            <a:r>
              <a:rPr lang="en-US" dirty="0"/>
              <a:t> repo : </a:t>
            </a:r>
            <a:r>
              <a:rPr lang="en-US" sz="2400" dirty="0">
                <a:hlinkClick r:id="rId2"/>
              </a:rPr>
              <a:t>https://github.com/KushagraIsTaken/TinyML-ESPNow-WangBioelectronicLab-NTHU/tree/main/Example/ESP32_InferenceLogic</a:t>
            </a:r>
            <a:endParaRPr lang="en-IN" sz="2400" dirty="0"/>
          </a:p>
          <a:p>
            <a:r>
              <a:rPr lang="en-IN" sz="2400" dirty="0"/>
              <a:t>All the codes are easy to generate via LLMs like ChatGPT, Gemini. You may give the code written by me as context and ask it to modify it</a:t>
            </a:r>
          </a:p>
          <a:p>
            <a:endParaRPr lang="en-US" sz="2400" dirty="0"/>
          </a:p>
        </p:txBody>
      </p:sp>
      <p:sp>
        <p:nvSpPr>
          <p:cNvPr id="4" name="Slide Number Placeholder 3">
            <a:extLst>
              <a:ext uri="{FF2B5EF4-FFF2-40B4-BE49-F238E27FC236}">
                <a16:creationId xmlns:a16="http://schemas.microsoft.com/office/drawing/2014/main" id="{745AB580-5A51-8FF4-C019-22F56E79DFDB}"/>
              </a:ext>
            </a:extLst>
          </p:cNvPr>
          <p:cNvSpPr>
            <a:spLocks noGrp="1"/>
          </p:cNvSpPr>
          <p:nvPr>
            <p:ph type="sldNum" sz="quarter" idx="12"/>
          </p:nvPr>
        </p:nvSpPr>
        <p:spPr/>
        <p:txBody>
          <a:bodyPr/>
          <a:lstStyle/>
          <a:p>
            <a:fld id="{592B932E-453C-43E9-9683-166E224458DF}" type="slidenum">
              <a:rPr lang="en-IN" smtClean="0"/>
              <a:t>42</a:t>
            </a:fld>
            <a:endParaRPr lang="en-IN"/>
          </a:p>
        </p:txBody>
      </p:sp>
    </p:spTree>
    <p:extLst>
      <p:ext uri="{BB962C8B-B14F-4D97-AF65-F5344CB8AC3E}">
        <p14:creationId xmlns:p14="http://schemas.microsoft.com/office/powerpoint/2010/main" val="2210757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F75B-04E3-5A3E-70F6-E144D9A43AB1}"/>
              </a:ext>
            </a:extLst>
          </p:cNvPr>
          <p:cNvSpPr>
            <a:spLocks noGrp="1"/>
          </p:cNvSpPr>
          <p:nvPr>
            <p:ph type="title"/>
          </p:nvPr>
        </p:nvSpPr>
        <p:spPr/>
        <p:txBody>
          <a:bodyPr/>
          <a:lstStyle/>
          <a:p>
            <a:r>
              <a:rPr lang="en-US" dirty="0"/>
              <a:t>Example – ESP Now + ML Inference	</a:t>
            </a:r>
            <a:endParaRPr lang="en-IN" dirty="0"/>
          </a:p>
        </p:txBody>
      </p:sp>
      <p:sp>
        <p:nvSpPr>
          <p:cNvPr id="3" name="Content Placeholder 2">
            <a:extLst>
              <a:ext uri="{FF2B5EF4-FFF2-40B4-BE49-F238E27FC236}">
                <a16:creationId xmlns:a16="http://schemas.microsoft.com/office/drawing/2014/main" id="{FB624103-F999-53BF-EA3D-522006A27FB0}"/>
              </a:ext>
            </a:extLst>
          </p:cNvPr>
          <p:cNvSpPr>
            <a:spLocks noGrp="1"/>
          </p:cNvSpPr>
          <p:nvPr>
            <p:ph idx="1"/>
          </p:nvPr>
        </p:nvSpPr>
        <p:spPr/>
        <p:txBody>
          <a:bodyPr/>
          <a:lstStyle/>
          <a:p>
            <a:r>
              <a:rPr lang="en-US" dirty="0"/>
              <a:t>What does this code do ?</a:t>
            </a:r>
          </a:p>
          <a:p>
            <a:r>
              <a:rPr lang="en-US" dirty="0"/>
              <a:t>Takes input from Sender ESP-32 via “Serial Input” ( Can be substituted with analog input). Sends data via ESP-Now to  Receiver ESP-32. </a:t>
            </a:r>
            <a:r>
              <a:rPr lang="en-US" dirty="0" err="1"/>
              <a:t>Reciever</a:t>
            </a:r>
            <a:r>
              <a:rPr lang="en-US" dirty="0"/>
              <a:t> ESP-32 gets the data. Runs the inference on the ML Model and then Give the prediction and does the gesture</a:t>
            </a:r>
            <a:endParaRPr lang="en-IN" dirty="0"/>
          </a:p>
        </p:txBody>
      </p:sp>
      <p:sp>
        <p:nvSpPr>
          <p:cNvPr id="4" name="Slide Number Placeholder 3">
            <a:extLst>
              <a:ext uri="{FF2B5EF4-FFF2-40B4-BE49-F238E27FC236}">
                <a16:creationId xmlns:a16="http://schemas.microsoft.com/office/drawing/2014/main" id="{A7EB3018-5B4C-2E19-6F8A-FB73036D377A}"/>
              </a:ext>
            </a:extLst>
          </p:cNvPr>
          <p:cNvSpPr>
            <a:spLocks noGrp="1"/>
          </p:cNvSpPr>
          <p:nvPr>
            <p:ph type="sldNum" sz="quarter" idx="12"/>
          </p:nvPr>
        </p:nvSpPr>
        <p:spPr/>
        <p:txBody>
          <a:bodyPr/>
          <a:lstStyle/>
          <a:p>
            <a:fld id="{592B932E-453C-43E9-9683-166E224458DF}" type="slidenum">
              <a:rPr lang="en-IN" smtClean="0"/>
              <a:t>43</a:t>
            </a:fld>
            <a:endParaRPr lang="en-IN"/>
          </a:p>
        </p:txBody>
      </p:sp>
    </p:spTree>
    <p:extLst>
      <p:ext uri="{BB962C8B-B14F-4D97-AF65-F5344CB8AC3E}">
        <p14:creationId xmlns:p14="http://schemas.microsoft.com/office/powerpoint/2010/main" val="7509612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8CC3D-8E9C-5996-B975-442714C8CB74}"/>
              </a:ext>
            </a:extLst>
          </p:cNvPr>
          <p:cNvSpPr>
            <a:spLocks noGrp="1"/>
          </p:cNvSpPr>
          <p:nvPr>
            <p:ph type="title"/>
          </p:nvPr>
        </p:nvSpPr>
        <p:spPr/>
        <p:txBody>
          <a:bodyPr/>
          <a:lstStyle/>
          <a:p>
            <a:r>
              <a:rPr lang="en-US" dirty="0"/>
              <a:t>Sender Side Code</a:t>
            </a:r>
            <a:endParaRPr lang="en-IN" dirty="0"/>
          </a:p>
        </p:txBody>
      </p:sp>
      <p:pic>
        <p:nvPicPr>
          <p:cNvPr id="6" name="Content Placeholder 5">
            <a:extLst>
              <a:ext uri="{FF2B5EF4-FFF2-40B4-BE49-F238E27FC236}">
                <a16:creationId xmlns:a16="http://schemas.microsoft.com/office/drawing/2014/main" id="{19D029EA-3F72-095A-7795-3C2359B96BEC}"/>
              </a:ext>
            </a:extLst>
          </p:cNvPr>
          <p:cNvPicPr>
            <a:picLocks noGrp="1" noChangeAspect="1"/>
          </p:cNvPicPr>
          <p:nvPr>
            <p:ph idx="1"/>
          </p:nvPr>
        </p:nvPicPr>
        <p:blipFill>
          <a:blip r:embed="rId2"/>
          <a:stretch>
            <a:fillRect/>
          </a:stretch>
        </p:blipFill>
        <p:spPr>
          <a:xfrm>
            <a:off x="838200" y="1547531"/>
            <a:ext cx="3801005" cy="1752845"/>
          </a:xfrm>
          <a:prstGeom prst="rect">
            <a:avLst/>
          </a:prstGeom>
        </p:spPr>
      </p:pic>
      <p:sp>
        <p:nvSpPr>
          <p:cNvPr id="4" name="Slide Number Placeholder 3">
            <a:extLst>
              <a:ext uri="{FF2B5EF4-FFF2-40B4-BE49-F238E27FC236}">
                <a16:creationId xmlns:a16="http://schemas.microsoft.com/office/drawing/2014/main" id="{93561437-6DDB-3B7A-04CF-6EBBCB92B886}"/>
              </a:ext>
            </a:extLst>
          </p:cNvPr>
          <p:cNvSpPr>
            <a:spLocks noGrp="1"/>
          </p:cNvSpPr>
          <p:nvPr>
            <p:ph type="sldNum" sz="quarter" idx="12"/>
          </p:nvPr>
        </p:nvSpPr>
        <p:spPr/>
        <p:txBody>
          <a:bodyPr/>
          <a:lstStyle/>
          <a:p>
            <a:fld id="{592B932E-453C-43E9-9683-166E224458DF}" type="slidenum">
              <a:rPr lang="en-IN" smtClean="0"/>
              <a:t>44</a:t>
            </a:fld>
            <a:endParaRPr lang="en-IN"/>
          </a:p>
        </p:txBody>
      </p:sp>
      <p:sp>
        <p:nvSpPr>
          <p:cNvPr id="7" name="TextBox 6">
            <a:extLst>
              <a:ext uri="{FF2B5EF4-FFF2-40B4-BE49-F238E27FC236}">
                <a16:creationId xmlns:a16="http://schemas.microsoft.com/office/drawing/2014/main" id="{81665B06-F4B8-6B9D-1C45-919A378D7A51}"/>
              </a:ext>
            </a:extLst>
          </p:cNvPr>
          <p:cNvSpPr txBox="1"/>
          <p:nvPr/>
        </p:nvSpPr>
        <p:spPr>
          <a:xfrm>
            <a:off x="5055870" y="1657064"/>
            <a:ext cx="6297930" cy="1631216"/>
          </a:xfrm>
          <a:prstGeom prst="rect">
            <a:avLst/>
          </a:prstGeom>
          <a:noFill/>
        </p:spPr>
        <p:txBody>
          <a:bodyPr wrap="square" rtlCol="0">
            <a:spAutoFit/>
          </a:bodyPr>
          <a:lstStyle/>
          <a:p>
            <a:r>
              <a:rPr lang="en-US" sz="2000" dirty="0"/>
              <a:t>Including Necessary Libraries for sending the input</a:t>
            </a:r>
            <a:br>
              <a:rPr lang="en-US" sz="2000" dirty="0"/>
            </a:br>
            <a:br>
              <a:rPr lang="en-US" sz="2000" dirty="0"/>
            </a:br>
            <a:br>
              <a:rPr lang="en-US" sz="2000" dirty="0"/>
            </a:br>
            <a:r>
              <a:rPr lang="en-US" sz="2000" dirty="0"/>
              <a:t>Defining the shape and type of data needs to be sent. Float Array of Size 8 in our case (</a:t>
            </a:r>
            <a:r>
              <a:rPr lang="en-US" sz="2000" dirty="0" err="1"/>
              <a:t>B’coz</a:t>
            </a:r>
            <a:r>
              <a:rPr lang="en-US" sz="2000" dirty="0"/>
              <a:t> 8 EMG Signals)</a:t>
            </a:r>
            <a:endParaRPr lang="en-IN" sz="2000" dirty="0"/>
          </a:p>
        </p:txBody>
      </p:sp>
      <p:pic>
        <p:nvPicPr>
          <p:cNvPr id="9" name="Picture 8">
            <a:extLst>
              <a:ext uri="{FF2B5EF4-FFF2-40B4-BE49-F238E27FC236}">
                <a16:creationId xmlns:a16="http://schemas.microsoft.com/office/drawing/2014/main" id="{2F1605F3-3A51-6840-DECD-F893EEDC509E}"/>
              </a:ext>
            </a:extLst>
          </p:cNvPr>
          <p:cNvPicPr>
            <a:picLocks noChangeAspect="1"/>
          </p:cNvPicPr>
          <p:nvPr/>
        </p:nvPicPr>
        <p:blipFill>
          <a:blip r:embed="rId3"/>
          <a:stretch>
            <a:fillRect/>
          </a:stretch>
        </p:blipFill>
        <p:spPr>
          <a:xfrm>
            <a:off x="838200" y="3844518"/>
            <a:ext cx="10431331" cy="638264"/>
          </a:xfrm>
          <a:prstGeom prst="rect">
            <a:avLst/>
          </a:prstGeom>
        </p:spPr>
      </p:pic>
      <p:sp>
        <p:nvSpPr>
          <p:cNvPr id="10" name="TextBox 9">
            <a:extLst>
              <a:ext uri="{FF2B5EF4-FFF2-40B4-BE49-F238E27FC236}">
                <a16:creationId xmlns:a16="http://schemas.microsoft.com/office/drawing/2014/main" id="{51A8D5DD-2C89-F7A3-E7DF-AEB0501FD118}"/>
              </a:ext>
            </a:extLst>
          </p:cNvPr>
          <p:cNvSpPr txBox="1"/>
          <p:nvPr/>
        </p:nvSpPr>
        <p:spPr>
          <a:xfrm>
            <a:off x="3402330" y="4737230"/>
            <a:ext cx="6297930" cy="400110"/>
          </a:xfrm>
          <a:prstGeom prst="rect">
            <a:avLst/>
          </a:prstGeom>
          <a:noFill/>
        </p:spPr>
        <p:txBody>
          <a:bodyPr wrap="square" rtlCol="0">
            <a:spAutoFit/>
          </a:bodyPr>
          <a:lstStyle/>
          <a:p>
            <a:r>
              <a:rPr lang="en-US" sz="2000" dirty="0"/>
              <a:t>Adding </a:t>
            </a:r>
            <a:r>
              <a:rPr lang="en-US" sz="2000" dirty="0" err="1"/>
              <a:t>Reciever</a:t>
            </a:r>
            <a:r>
              <a:rPr lang="en-US" sz="2000" dirty="0"/>
              <a:t> Mac Address as explained in Slide 13</a:t>
            </a:r>
            <a:endParaRPr lang="en-IN" sz="2000" dirty="0"/>
          </a:p>
        </p:txBody>
      </p:sp>
    </p:spTree>
    <p:extLst>
      <p:ext uri="{BB962C8B-B14F-4D97-AF65-F5344CB8AC3E}">
        <p14:creationId xmlns:p14="http://schemas.microsoft.com/office/powerpoint/2010/main" val="3998281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32E64-55A7-E8B4-0450-2B476BAEF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CD463-9442-37FE-2881-3C897A188149}"/>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FA13C40B-691C-E513-0F70-E11116E2906E}"/>
              </a:ext>
            </a:extLst>
          </p:cNvPr>
          <p:cNvSpPr>
            <a:spLocks noGrp="1"/>
          </p:cNvSpPr>
          <p:nvPr>
            <p:ph type="sldNum" sz="quarter" idx="12"/>
          </p:nvPr>
        </p:nvSpPr>
        <p:spPr/>
        <p:txBody>
          <a:bodyPr/>
          <a:lstStyle/>
          <a:p>
            <a:fld id="{592B932E-453C-43E9-9683-166E224458DF}" type="slidenum">
              <a:rPr lang="en-IN" smtClean="0"/>
              <a:t>45</a:t>
            </a:fld>
            <a:endParaRPr lang="en-IN"/>
          </a:p>
        </p:txBody>
      </p:sp>
      <p:sp>
        <p:nvSpPr>
          <p:cNvPr id="7" name="TextBox 6">
            <a:extLst>
              <a:ext uri="{FF2B5EF4-FFF2-40B4-BE49-F238E27FC236}">
                <a16:creationId xmlns:a16="http://schemas.microsoft.com/office/drawing/2014/main" id="{84BCD9A3-C0E8-ABBF-D95C-2D1210FFA1DD}"/>
              </a:ext>
            </a:extLst>
          </p:cNvPr>
          <p:cNvSpPr txBox="1"/>
          <p:nvPr/>
        </p:nvSpPr>
        <p:spPr>
          <a:xfrm>
            <a:off x="5370195" y="3020889"/>
            <a:ext cx="6297930" cy="1631216"/>
          </a:xfrm>
          <a:prstGeom prst="rect">
            <a:avLst/>
          </a:prstGeom>
          <a:noFill/>
        </p:spPr>
        <p:txBody>
          <a:bodyPr wrap="square" rtlCol="0">
            <a:spAutoFit/>
          </a:bodyPr>
          <a:lstStyle/>
          <a:p>
            <a:r>
              <a:rPr lang="en-US" sz="2000" dirty="0"/>
              <a:t>Reading Serial Input from Serial Monitor and </a:t>
            </a:r>
            <a:r>
              <a:rPr lang="en-US" sz="2000" dirty="0" err="1"/>
              <a:t>Spliting</a:t>
            </a:r>
            <a:r>
              <a:rPr lang="en-US" sz="2000" dirty="0"/>
              <a:t> them into tokens by separating them with the delimiter</a:t>
            </a:r>
          </a:p>
          <a:p>
            <a:endParaRPr lang="en-US" sz="2000" dirty="0"/>
          </a:p>
          <a:p>
            <a:r>
              <a:rPr lang="en-US" sz="2000" dirty="0"/>
              <a:t>Again printing the data to serial monitor to ensure correct data is written</a:t>
            </a:r>
            <a:endParaRPr lang="en-IN" sz="2000" dirty="0"/>
          </a:p>
        </p:txBody>
      </p:sp>
      <p:pic>
        <p:nvPicPr>
          <p:cNvPr id="11" name="Picture 10">
            <a:extLst>
              <a:ext uri="{FF2B5EF4-FFF2-40B4-BE49-F238E27FC236}">
                <a16:creationId xmlns:a16="http://schemas.microsoft.com/office/drawing/2014/main" id="{C31083C7-3B46-AE8F-8628-ADA7C498AF26}"/>
              </a:ext>
            </a:extLst>
          </p:cNvPr>
          <p:cNvPicPr>
            <a:picLocks noChangeAspect="1"/>
          </p:cNvPicPr>
          <p:nvPr/>
        </p:nvPicPr>
        <p:blipFill>
          <a:blip r:embed="rId2"/>
          <a:stretch>
            <a:fillRect/>
          </a:stretch>
        </p:blipFill>
        <p:spPr>
          <a:xfrm>
            <a:off x="675533" y="1652838"/>
            <a:ext cx="4543005" cy="4329468"/>
          </a:xfrm>
          <a:prstGeom prst="rect">
            <a:avLst/>
          </a:prstGeom>
        </p:spPr>
      </p:pic>
    </p:spTree>
    <p:extLst>
      <p:ext uri="{BB962C8B-B14F-4D97-AF65-F5344CB8AC3E}">
        <p14:creationId xmlns:p14="http://schemas.microsoft.com/office/powerpoint/2010/main" val="1789834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80695-886A-FDC2-1638-D2D441E49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1BBE5-57CE-04C1-C033-1C6DF01557E7}"/>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8FD1B1F5-1669-C7B7-02C5-4BC1A7293F65}"/>
              </a:ext>
            </a:extLst>
          </p:cNvPr>
          <p:cNvSpPr>
            <a:spLocks noGrp="1"/>
          </p:cNvSpPr>
          <p:nvPr>
            <p:ph type="sldNum" sz="quarter" idx="12"/>
          </p:nvPr>
        </p:nvSpPr>
        <p:spPr/>
        <p:txBody>
          <a:bodyPr/>
          <a:lstStyle/>
          <a:p>
            <a:fld id="{592B932E-453C-43E9-9683-166E224458DF}" type="slidenum">
              <a:rPr lang="en-IN" smtClean="0"/>
              <a:t>46</a:t>
            </a:fld>
            <a:endParaRPr lang="en-IN"/>
          </a:p>
        </p:txBody>
      </p:sp>
      <p:sp>
        <p:nvSpPr>
          <p:cNvPr id="7" name="TextBox 6">
            <a:extLst>
              <a:ext uri="{FF2B5EF4-FFF2-40B4-BE49-F238E27FC236}">
                <a16:creationId xmlns:a16="http://schemas.microsoft.com/office/drawing/2014/main" id="{AD5DE9D9-BE9C-A6E0-1870-1F3A8E1949CE}"/>
              </a:ext>
            </a:extLst>
          </p:cNvPr>
          <p:cNvSpPr txBox="1"/>
          <p:nvPr/>
        </p:nvSpPr>
        <p:spPr>
          <a:xfrm>
            <a:off x="2949533" y="5006286"/>
            <a:ext cx="6494145" cy="400110"/>
          </a:xfrm>
          <a:prstGeom prst="rect">
            <a:avLst/>
          </a:prstGeom>
          <a:noFill/>
        </p:spPr>
        <p:txBody>
          <a:bodyPr wrap="square" rtlCol="0">
            <a:spAutoFit/>
          </a:bodyPr>
          <a:lstStyle/>
          <a:p>
            <a:r>
              <a:rPr lang="en-US" sz="2000" dirty="0"/>
              <a:t>Sending Data Code using ESP-Now as shown on Slide 16</a:t>
            </a:r>
            <a:endParaRPr lang="en-IN" sz="2000" dirty="0"/>
          </a:p>
        </p:txBody>
      </p:sp>
      <p:pic>
        <p:nvPicPr>
          <p:cNvPr id="5" name="Picture 4">
            <a:extLst>
              <a:ext uri="{FF2B5EF4-FFF2-40B4-BE49-F238E27FC236}">
                <a16:creationId xmlns:a16="http://schemas.microsoft.com/office/drawing/2014/main" id="{2EF9B47C-26D8-41D7-C7AA-91A4897D515B}"/>
              </a:ext>
            </a:extLst>
          </p:cNvPr>
          <p:cNvPicPr>
            <a:picLocks noChangeAspect="1"/>
          </p:cNvPicPr>
          <p:nvPr/>
        </p:nvPicPr>
        <p:blipFill>
          <a:blip r:embed="rId2"/>
          <a:stretch>
            <a:fillRect/>
          </a:stretch>
        </p:blipFill>
        <p:spPr>
          <a:xfrm>
            <a:off x="1354330" y="2229167"/>
            <a:ext cx="9912928" cy="2423160"/>
          </a:xfrm>
          <a:prstGeom prst="rect">
            <a:avLst/>
          </a:prstGeom>
        </p:spPr>
      </p:pic>
    </p:spTree>
    <p:extLst>
      <p:ext uri="{BB962C8B-B14F-4D97-AF65-F5344CB8AC3E}">
        <p14:creationId xmlns:p14="http://schemas.microsoft.com/office/powerpoint/2010/main" val="30927253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D609D-13B7-5153-75E2-9BDB75DDF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E8F1E-E9C2-9493-5CF6-BB8274FC29BD}"/>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3C0B72D4-6729-4461-C396-56DC72BB033C}"/>
              </a:ext>
            </a:extLst>
          </p:cNvPr>
          <p:cNvSpPr>
            <a:spLocks noGrp="1"/>
          </p:cNvSpPr>
          <p:nvPr>
            <p:ph type="sldNum" sz="quarter" idx="12"/>
          </p:nvPr>
        </p:nvSpPr>
        <p:spPr/>
        <p:txBody>
          <a:bodyPr/>
          <a:lstStyle/>
          <a:p>
            <a:fld id="{592B932E-453C-43E9-9683-166E224458DF}" type="slidenum">
              <a:rPr lang="en-IN" smtClean="0"/>
              <a:t>47</a:t>
            </a:fld>
            <a:endParaRPr lang="en-IN"/>
          </a:p>
        </p:txBody>
      </p:sp>
      <p:sp>
        <p:nvSpPr>
          <p:cNvPr id="7" name="TextBox 6">
            <a:extLst>
              <a:ext uri="{FF2B5EF4-FFF2-40B4-BE49-F238E27FC236}">
                <a16:creationId xmlns:a16="http://schemas.microsoft.com/office/drawing/2014/main" id="{8ACEB452-DC5D-ED76-C44B-648727914376}"/>
              </a:ext>
            </a:extLst>
          </p:cNvPr>
          <p:cNvSpPr txBox="1"/>
          <p:nvPr/>
        </p:nvSpPr>
        <p:spPr>
          <a:xfrm>
            <a:off x="5363527" y="2019450"/>
            <a:ext cx="6494145" cy="400110"/>
          </a:xfrm>
          <a:prstGeom prst="rect">
            <a:avLst/>
          </a:prstGeom>
          <a:noFill/>
        </p:spPr>
        <p:txBody>
          <a:bodyPr wrap="square" rtlCol="0">
            <a:spAutoFit/>
          </a:bodyPr>
          <a:lstStyle/>
          <a:p>
            <a:r>
              <a:rPr lang="en-US" sz="2000" dirty="0"/>
              <a:t>Setup Function </a:t>
            </a:r>
          </a:p>
        </p:txBody>
      </p:sp>
      <p:pic>
        <p:nvPicPr>
          <p:cNvPr id="8" name="Picture 7">
            <a:extLst>
              <a:ext uri="{FF2B5EF4-FFF2-40B4-BE49-F238E27FC236}">
                <a16:creationId xmlns:a16="http://schemas.microsoft.com/office/drawing/2014/main" id="{0CF6AA94-8E57-0CE1-B7F8-D2AB75D36EA4}"/>
              </a:ext>
            </a:extLst>
          </p:cNvPr>
          <p:cNvPicPr>
            <a:picLocks noChangeAspect="1"/>
          </p:cNvPicPr>
          <p:nvPr/>
        </p:nvPicPr>
        <p:blipFill>
          <a:blip r:embed="rId2"/>
          <a:srcRect b="56255"/>
          <a:stretch>
            <a:fillRect/>
          </a:stretch>
        </p:blipFill>
        <p:spPr>
          <a:xfrm>
            <a:off x="700168" y="1571146"/>
            <a:ext cx="4498730" cy="1977396"/>
          </a:xfrm>
          <a:prstGeom prst="rect">
            <a:avLst/>
          </a:prstGeom>
        </p:spPr>
      </p:pic>
      <p:pic>
        <p:nvPicPr>
          <p:cNvPr id="9" name="Picture 8">
            <a:extLst>
              <a:ext uri="{FF2B5EF4-FFF2-40B4-BE49-F238E27FC236}">
                <a16:creationId xmlns:a16="http://schemas.microsoft.com/office/drawing/2014/main" id="{83E3C6C7-B74E-EED0-BDD2-1F6432C6E904}"/>
              </a:ext>
            </a:extLst>
          </p:cNvPr>
          <p:cNvPicPr>
            <a:picLocks noChangeAspect="1"/>
          </p:cNvPicPr>
          <p:nvPr/>
        </p:nvPicPr>
        <p:blipFill>
          <a:blip r:embed="rId2"/>
          <a:srcRect t="43983"/>
          <a:stretch>
            <a:fillRect/>
          </a:stretch>
        </p:blipFill>
        <p:spPr>
          <a:xfrm>
            <a:off x="700168" y="4032022"/>
            <a:ext cx="4498730" cy="2121415"/>
          </a:xfrm>
          <a:prstGeom prst="rect">
            <a:avLst/>
          </a:prstGeom>
        </p:spPr>
      </p:pic>
      <p:sp>
        <p:nvSpPr>
          <p:cNvPr id="12" name="Rectangle 2">
            <a:extLst>
              <a:ext uri="{FF2B5EF4-FFF2-40B4-BE49-F238E27FC236}">
                <a16:creationId xmlns:a16="http://schemas.microsoft.com/office/drawing/2014/main" id="{65BAA72E-357A-8FB2-FC29-FE0F4AC118E1}"/>
              </a:ext>
            </a:extLst>
          </p:cNvPr>
          <p:cNvSpPr>
            <a:spLocks noChangeArrowheads="1"/>
          </p:cNvSpPr>
          <p:nvPr/>
        </p:nvSpPr>
        <p:spPr bwMode="auto">
          <a:xfrm>
            <a:off x="5363527" y="3130105"/>
            <a:ext cx="542925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This block sets up the peer (receiver) information for ESP-NOW.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First, a </a:t>
            </a:r>
            <a:r>
              <a:rPr kumimoji="0" lang="en-US" altLang="en-US" b="0" i="0" u="none" strike="noStrike" cap="none" normalizeH="0" baseline="0" dirty="0" err="1">
                <a:ln>
                  <a:noFill/>
                </a:ln>
                <a:solidFill>
                  <a:schemeClr val="tx1"/>
                </a:solidFill>
                <a:effectLst/>
                <a:latin typeface="Arial Unicode MS"/>
              </a:rPr>
              <a:t>peerInfo</a:t>
            </a:r>
            <a:r>
              <a:rPr kumimoji="0" lang="en-US" altLang="en-US" b="0" i="0" u="none" strike="noStrike" cap="none" normalizeH="0" baseline="0" dirty="0">
                <a:ln>
                  <a:noFill/>
                </a:ln>
                <a:solidFill>
                  <a:schemeClr val="tx1"/>
                </a:solidFill>
                <a:effectLst/>
              </a:rPr>
              <a:t> struct of type </a:t>
            </a:r>
            <a:r>
              <a:rPr kumimoji="0" lang="en-US" altLang="en-US" b="0" i="0" u="none" strike="noStrike" cap="none" normalizeH="0" baseline="0" dirty="0" err="1">
                <a:ln>
                  <a:noFill/>
                </a:ln>
                <a:solidFill>
                  <a:schemeClr val="tx1"/>
                </a:solidFill>
                <a:effectLst/>
                <a:latin typeface="Arial Unicode MS"/>
              </a:rPr>
              <a:t>esp_now_peer_info_t</a:t>
            </a:r>
            <a:r>
              <a:rPr kumimoji="0" lang="en-US" altLang="en-US" b="0" i="0" u="none" strike="noStrike" cap="none" normalizeH="0" baseline="0" dirty="0">
                <a:ln>
                  <a:noFill/>
                </a:ln>
                <a:solidFill>
                  <a:schemeClr val="tx1"/>
                </a:solidFill>
                <a:effectLst/>
              </a:rPr>
              <a:t> is created.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Then the receiver’s MAC address (6 bytes) is copied into </a:t>
            </a:r>
            <a:r>
              <a:rPr kumimoji="0" lang="en-US" altLang="en-US" b="0" i="0" u="none" strike="noStrike" cap="none" normalizeH="0" baseline="0" dirty="0" err="1">
                <a:ln>
                  <a:noFill/>
                </a:ln>
                <a:solidFill>
                  <a:schemeClr val="tx1"/>
                </a:solidFill>
                <a:effectLst/>
                <a:latin typeface="Arial Unicode MS"/>
              </a:rPr>
              <a:t>peerInfo.peer_addr</a:t>
            </a:r>
            <a:r>
              <a:rPr kumimoji="0" lang="en-US" altLang="en-US" b="0" i="0" u="none" strike="noStrike" cap="none" normalizeH="0" baseline="0" dirty="0">
                <a:ln>
                  <a:noFill/>
                </a:ln>
                <a:solidFill>
                  <a:schemeClr val="tx1"/>
                </a:solidFill>
                <a:effectLst/>
              </a:rPr>
              <a:t>, telling the ESP32 which device to talk to.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The communication channel is set to </a:t>
            </a:r>
            <a:r>
              <a:rPr kumimoji="0" lang="en-US" altLang="en-US" b="0" i="0" u="none" strike="noStrike" cap="none" normalizeH="0" baseline="0" dirty="0">
                <a:ln>
                  <a:noFill/>
                </a:ln>
                <a:solidFill>
                  <a:schemeClr val="tx1"/>
                </a:solidFill>
                <a:effectLst/>
                <a:latin typeface="Arial Unicode MS"/>
              </a:rPr>
              <a:t>0</a:t>
            </a:r>
            <a:r>
              <a:rPr kumimoji="0" lang="en-US" altLang="en-US" b="0" i="0" u="none" strike="noStrike" cap="none" normalizeH="0" baseline="0" dirty="0">
                <a:ln>
                  <a:noFill/>
                </a:ln>
                <a:solidFill>
                  <a:schemeClr val="tx1"/>
                </a:solidFill>
                <a:effectLst/>
              </a:rPr>
              <a:t>, meaning it will use the current </a:t>
            </a:r>
            <a:r>
              <a:rPr kumimoji="0" lang="en-US" altLang="en-US" b="0" i="0" u="none" strike="noStrike" cap="none" normalizeH="0" baseline="0" dirty="0" err="1">
                <a:ln>
                  <a:noFill/>
                </a:ln>
                <a:solidFill>
                  <a:schemeClr val="tx1"/>
                </a:solidFill>
                <a:effectLst/>
              </a:rPr>
              <a:t>WiFi</a:t>
            </a:r>
            <a:r>
              <a:rPr kumimoji="0" lang="en-US" altLang="en-US" b="0" i="0" u="none" strike="noStrike" cap="none" normalizeH="0" baseline="0" dirty="0">
                <a:ln>
                  <a:noFill/>
                </a:ln>
                <a:solidFill>
                  <a:schemeClr val="tx1"/>
                </a:solidFill>
                <a:effectLst/>
              </a:rPr>
              <a:t> channel by default.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 Finally, </a:t>
            </a:r>
            <a:r>
              <a:rPr kumimoji="0" lang="en-US" altLang="en-US" b="0" i="0" u="none" strike="noStrike" cap="none" normalizeH="0" baseline="0" dirty="0" err="1">
                <a:ln>
                  <a:noFill/>
                </a:ln>
                <a:solidFill>
                  <a:schemeClr val="tx1"/>
                </a:solidFill>
                <a:effectLst/>
                <a:latin typeface="Arial Unicode MS"/>
              </a:rPr>
              <a:t>peerInfo.encrypt</a:t>
            </a:r>
            <a:r>
              <a:rPr kumimoji="0" lang="en-US" altLang="en-US" b="0" i="0" u="none" strike="noStrike" cap="none" normalizeH="0" baseline="0" dirty="0">
                <a:ln>
                  <a:noFill/>
                </a:ln>
                <a:solidFill>
                  <a:schemeClr val="tx1"/>
                </a:solidFill>
                <a:effectLst/>
                <a:latin typeface="Arial Unicode MS"/>
              </a:rPr>
              <a:t> = false</a:t>
            </a:r>
            <a:r>
              <a:rPr kumimoji="0" lang="en-US" altLang="en-US" b="0" i="0" u="none" strike="noStrike" cap="none" normalizeH="0" baseline="0" dirty="0">
                <a:ln>
                  <a:noFill/>
                </a:ln>
                <a:solidFill>
                  <a:schemeClr val="tx1"/>
                </a:solidFill>
                <a:effectLst/>
              </a:rPr>
              <a:t> disables encryption, so the data is sent in plain text.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74769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A646-49D7-5DD3-A11B-F74CFE572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89B0F-50E9-736A-FDD3-3B5D376EC179}"/>
              </a:ext>
            </a:extLst>
          </p:cNvPr>
          <p:cNvSpPr>
            <a:spLocks noGrp="1"/>
          </p:cNvSpPr>
          <p:nvPr>
            <p:ph type="title"/>
          </p:nvPr>
        </p:nvSpPr>
        <p:spPr/>
        <p:txBody>
          <a:bodyPr/>
          <a:lstStyle/>
          <a:p>
            <a:r>
              <a:rPr lang="en-US" dirty="0"/>
              <a:t>Sender Side Code (Contd.)</a:t>
            </a:r>
            <a:endParaRPr lang="en-IN" dirty="0"/>
          </a:p>
        </p:txBody>
      </p:sp>
      <p:sp>
        <p:nvSpPr>
          <p:cNvPr id="4" name="Slide Number Placeholder 3">
            <a:extLst>
              <a:ext uri="{FF2B5EF4-FFF2-40B4-BE49-F238E27FC236}">
                <a16:creationId xmlns:a16="http://schemas.microsoft.com/office/drawing/2014/main" id="{C6DE5FE4-6357-ED12-348E-B0E30F432CDC}"/>
              </a:ext>
            </a:extLst>
          </p:cNvPr>
          <p:cNvSpPr>
            <a:spLocks noGrp="1"/>
          </p:cNvSpPr>
          <p:nvPr>
            <p:ph type="sldNum" sz="quarter" idx="12"/>
          </p:nvPr>
        </p:nvSpPr>
        <p:spPr/>
        <p:txBody>
          <a:bodyPr/>
          <a:lstStyle/>
          <a:p>
            <a:fld id="{592B932E-453C-43E9-9683-166E224458DF}" type="slidenum">
              <a:rPr lang="en-IN" smtClean="0"/>
              <a:t>48</a:t>
            </a:fld>
            <a:endParaRPr lang="en-IN"/>
          </a:p>
        </p:txBody>
      </p:sp>
      <p:sp>
        <p:nvSpPr>
          <p:cNvPr id="7" name="TextBox 6">
            <a:extLst>
              <a:ext uri="{FF2B5EF4-FFF2-40B4-BE49-F238E27FC236}">
                <a16:creationId xmlns:a16="http://schemas.microsoft.com/office/drawing/2014/main" id="{D0EFBDB4-4E1D-0676-0978-F05A52149F58}"/>
              </a:ext>
            </a:extLst>
          </p:cNvPr>
          <p:cNvSpPr txBox="1"/>
          <p:nvPr/>
        </p:nvSpPr>
        <p:spPr>
          <a:xfrm>
            <a:off x="4859655" y="5106910"/>
            <a:ext cx="6494145" cy="400110"/>
          </a:xfrm>
          <a:prstGeom prst="rect">
            <a:avLst/>
          </a:prstGeom>
          <a:noFill/>
        </p:spPr>
        <p:txBody>
          <a:bodyPr wrap="square" rtlCol="0">
            <a:spAutoFit/>
          </a:bodyPr>
          <a:lstStyle/>
          <a:p>
            <a:r>
              <a:rPr lang="en-US" sz="2000" dirty="0"/>
              <a:t>Loop Function</a:t>
            </a:r>
          </a:p>
        </p:txBody>
      </p:sp>
      <p:pic>
        <p:nvPicPr>
          <p:cNvPr id="5" name="Picture 4">
            <a:extLst>
              <a:ext uri="{FF2B5EF4-FFF2-40B4-BE49-F238E27FC236}">
                <a16:creationId xmlns:a16="http://schemas.microsoft.com/office/drawing/2014/main" id="{30D4A173-248B-84EF-6B2C-3D8BC232254C}"/>
              </a:ext>
            </a:extLst>
          </p:cNvPr>
          <p:cNvPicPr>
            <a:picLocks noChangeAspect="1"/>
          </p:cNvPicPr>
          <p:nvPr/>
        </p:nvPicPr>
        <p:blipFill>
          <a:blip r:embed="rId2"/>
          <a:stretch>
            <a:fillRect/>
          </a:stretch>
        </p:blipFill>
        <p:spPr>
          <a:xfrm>
            <a:off x="2050535" y="1690688"/>
            <a:ext cx="7577334" cy="3416222"/>
          </a:xfrm>
          <a:prstGeom prst="rect">
            <a:avLst/>
          </a:prstGeom>
        </p:spPr>
      </p:pic>
    </p:spTree>
    <p:extLst>
      <p:ext uri="{BB962C8B-B14F-4D97-AF65-F5344CB8AC3E}">
        <p14:creationId xmlns:p14="http://schemas.microsoft.com/office/powerpoint/2010/main" val="3397435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4F0F-AE3B-B2EC-DFD4-469C87FFB85C}"/>
              </a:ext>
            </a:extLst>
          </p:cNvPr>
          <p:cNvSpPr>
            <a:spLocks noGrp="1"/>
          </p:cNvSpPr>
          <p:nvPr>
            <p:ph type="title"/>
          </p:nvPr>
        </p:nvSpPr>
        <p:spPr/>
        <p:txBody>
          <a:bodyPr/>
          <a:lstStyle/>
          <a:p>
            <a:r>
              <a:rPr lang="en-US" dirty="0"/>
              <a:t>Receiver Side Code</a:t>
            </a:r>
            <a:endParaRPr lang="en-IN" dirty="0"/>
          </a:p>
        </p:txBody>
      </p:sp>
      <p:pic>
        <p:nvPicPr>
          <p:cNvPr id="6" name="Content Placeholder 5">
            <a:extLst>
              <a:ext uri="{FF2B5EF4-FFF2-40B4-BE49-F238E27FC236}">
                <a16:creationId xmlns:a16="http://schemas.microsoft.com/office/drawing/2014/main" id="{317C5ECE-BFB4-B194-2561-E27A93B97799}"/>
              </a:ext>
            </a:extLst>
          </p:cNvPr>
          <p:cNvPicPr>
            <a:picLocks noGrp="1" noChangeAspect="1"/>
          </p:cNvPicPr>
          <p:nvPr>
            <p:ph idx="1"/>
          </p:nvPr>
        </p:nvPicPr>
        <p:blipFill>
          <a:blip r:embed="rId2"/>
          <a:stretch>
            <a:fillRect/>
          </a:stretch>
        </p:blipFill>
        <p:spPr>
          <a:xfrm>
            <a:off x="234695" y="2079308"/>
            <a:ext cx="6817615" cy="3724795"/>
          </a:xfrm>
          <a:prstGeom prst="rect">
            <a:avLst/>
          </a:prstGeom>
        </p:spPr>
      </p:pic>
      <p:sp>
        <p:nvSpPr>
          <p:cNvPr id="4" name="Slide Number Placeholder 3">
            <a:extLst>
              <a:ext uri="{FF2B5EF4-FFF2-40B4-BE49-F238E27FC236}">
                <a16:creationId xmlns:a16="http://schemas.microsoft.com/office/drawing/2014/main" id="{82BDCEBB-C91D-06CE-5C80-602CE4A562AA}"/>
              </a:ext>
            </a:extLst>
          </p:cNvPr>
          <p:cNvSpPr>
            <a:spLocks noGrp="1"/>
          </p:cNvSpPr>
          <p:nvPr>
            <p:ph type="sldNum" sz="quarter" idx="12"/>
          </p:nvPr>
        </p:nvSpPr>
        <p:spPr/>
        <p:txBody>
          <a:bodyPr/>
          <a:lstStyle/>
          <a:p>
            <a:fld id="{592B932E-453C-43E9-9683-166E224458DF}" type="slidenum">
              <a:rPr lang="en-IN" smtClean="0"/>
              <a:t>49</a:t>
            </a:fld>
            <a:endParaRPr lang="en-IN"/>
          </a:p>
        </p:txBody>
      </p:sp>
      <p:sp>
        <p:nvSpPr>
          <p:cNvPr id="7" name="TextBox 6">
            <a:extLst>
              <a:ext uri="{FF2B5EF4-FFF2-40B4-BE49-F238E27FC236}">
                <a16:creationId xmlns:a16="http://schemas.microsoft.com/office/drawing/2014/main" id="{22D8175D-9C76-B3C8-6F3C-03EA94D6076A}"/>
              </a:ext>
            </a:extLst>
          </p:cNvPr>
          <p:cNvSpPr txBox="1"/>
          <p:nvPr/>
        </p:nvSpPr>
        <p:spPr>
          <a:xfrm>
            <a:off x="7338060" y="3046551"/>
            <a:ext cx="4366260" cy="1200329"/>
          </a:xfrm>
          <a:prstGeom prst="rect">
            <a:avLst/>
          </a:prstGeom>
          <a:noFill/>
        </p:spPr>
        <p:txBody>
          <a:bodyPr wrap="square" rtlCol="0">
            <a:spAutoFit/>
          </a:bodyPr>
          <a:lstStyle/>
          <a:p>
            <a:r>
              <a:rPr lang="en-US" dirty="0"/>
              <a:t>Including the MLP Header File, The necessary Libraries and defining the number of inputs, outputs and </a:t>
            </a:r>
            <a:r>
              <a:rPr lang="en-US" dirty="0" err="1"/>
              <a:t>tensor_arena_size</a:t>
            </a:r>
            <a:r>
              <a:rPr lang="en-US" dirty="0"/>
              <a:t> ?</a:t>
            </a:r>
            <a:endParaRPr lang="en-IN" dirty="0"/>
          </a:p>
        </p:txBody>
      </p:sp>
    </p:spTree>
    <p:extLst>
      <p:ext uri="{BB962C8B-B14F-4D97-AF65-F5344CB8AC3E}">
        <p14:creationId xmlns:p14="http://schemas.microsoft.com/office/powerpoint/2010/main" val="2603492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DDD76-51C2-6A5F-95F6-31A31C2CB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C518D-FFCF-35A2-8981-63F8B11DF855}"/>
              </a:ext>
            </a:extLst>
          </p:cNvPr>
          <p:cNvSpPr>
            <a:spLocks noGrp="1"/>
          </p:cNvSpPr>
          <p:nvPr>
            <p:ph type="title"/>
          </p:nvPr>
        </p:nvSpPr>
        <p:spPr/>
        <p:txBody>
          <a:bodyPr/>
          <a:lstStyle/>
          <a:p>
            <a:r>
              <a:rPr lang="en-US" dirty="0"/>
              <a:t>Receiver Side Code (Contd.)</a:t>
            </a:r>
            <a:endParaRPr lang="en-IN" dirty="0"/>
          </a:p>
        </p:txBody>
      </p:sp>
      <p:sp>
        <p:nvSpPr>
          <p:cNvPr id="4" name="Slide Number Placeholder 3">
            <a:extLst>
              <a:ext uri="{FF2B5EF4-FFF2-40B4-BE49-F238E27FC236}">
                <a16:creationId xmlns:a16="http://schemas.microsoft.com/office/drawing/2014/main" id="{FC7F0461-2807-593A-69C5-0A6659AA25DC}"/>
              </a:ext>
            </a:extLst>
          </p:cNvPr>
          <p:cNvSpPr>
            <a:spLocks noGrp="1"/>
          </p:cNvSpPr>
          <p:nvPr>
            <p:ph type="sldNum" sz="quarter" idx="12"/>
          </p:nvPr>
        </p:nvSpPr>
        <p:spPr/>
        <p:txBody>
          <a:bodyPr/>
          <a:lstStyle/>
          <a:p>
            <a:fld id="{592B932E-453C-43E9-9683-166E224458DF}" type="slidenum">
              <a:rPr lang="en-IN" smtClean="0"/>
              <a:t>50</a:t>
            </a:fld>
            <a:endParaRPr lang="en-IN"/>
          </a:p>
        </p:txBody>
      </p:sp>
      <p:sp>
        <p:nvSpPr>
          <p:cNvPr id="7" name="TextBox 6">
            <a:extLst>
              <a:ext uri="{FF2B5EF4-FFF2-40B4-BE49-F238E27FC236}">
                <a16:creationId xmlns:a16="http://schemas.microsoft.com/office/drawing/2014/main" id="{381EBAF9-921E-2D90-851A-82D6F5A8E0B8}"/>
              </a:ext>
            </a:extLst>
          </p:cNvPr>
          <p:cNvSpPr txBox="1"/>
          <p:nvPr/>
        </p:nvSpPr>
        <p:spPr>
          <a:xfrm>
            <a:off x="7799070" y="2989401"/>
            <a:ext cx="4366260" cy="923330"/>
          </a:xfrm>
          <a:prstGeom prst="rect">
            <a:avLst/>
          </a:prstGeom>
          <a:noFill/>
        </p:spPr>
        <p:txBody>
          <a:bodyPr wrap="square" rtlCol="0">
            <a:spAutoFit/>
          </a:bodyPr>
          <a:lstStyle/>
          <a:p>
            <a:r>
              <a:rPr lang="en-US" dirty="0"/>
              <a:t>Defining the </a:t>
            </a:r>
            <a:r>
              <a:rPr lang="en-US" dirty="0" err="1"/>
              <a:t>feature_mean</a:t>
            </a:r>
            <a:r>
              <a:rPr lang="en-US" dirty="0"/>
              <a:t> and </a:t>
            </a:r>
            <a:r>
              <a:rPr lang="en-US" dirty="0" err="1"/>
              <a:t>feature_scale</a:t>
            </a:r>
            <a:r>
              <a:rPr lang="en-US" dirty="0"/>
              <a:t> that we took from the training notebook as shown in Slide 25 </a:t>
            </a:r>
            <a:endParaRPr lang="en-IN" dirty="0"/>
          </a:p>
        </p:txBody>
      </p:sp>
      <p:pic>
        <p:nvPicPr>
          <p:cNvPr id="9" name="Picture 8">
            <a:extLst>
              <a:ext uri="{FF2B5EF4-FFF2-40B4-BE49-F238E27FC236}">
                <a16:creationId xmlns:a16="http://schemas.microsoft.com/office/drawing/2014/main" id="{33B275CC-6ACD-32EA-2646-28F31D909DDB}"/>
              </a:ext>
            </a:extLst>
          </p:cNvPr>
          <p:cNvPicPr>
            <a:picLocks noChangeAspect="1"/>
          </p:cNvPicPr>
          <p:nvPr/>
        </p:nvPicPr>
        <p:blipFill>
          <a:blip r:embed="rId2"/>
          <a:stretch>
            <a:fillRect/>
          </a:stretch>
        </p:blipFill>
        <p:spPr>
          <a:xfrm>
            <a:off x="128981" y="2148840"/>
            <a:ext cx="7501763" cy="3331140"/>
          </a:xfrm>
          <a:prstGeom prst="rect">
            <a:avLst/>
          </a:prstGeom>
        </p:spPr>
      </p:pic>
    </p:spTree>
    <p:extLst>
      <p:ext uri="{BB962C8B-B14F-4D97-AF65-F5344CB8AC3E}">
        <p14:creationId xmlns:p14="http://schemas.microsoft.com/office/powerpoint/2010/main" val="10888308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96733-4247-6896-DCA1-AD5F7D367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62421-688D-F874-7DBB-29B403544FFE}"/>
              </a:ext>
            </a:extLst>
          </p:cNvPr>
          <p:cNvSpPr>
            <a:spLocks noGrp="1"/>
          </p:cNvSpPr>
          <p:nvPr>
            <p:ph type="title"/>
          </p:nvPr>
        </p:nvSpPr>
        <p:spPr/>
        <p:txBody>
          <a:bodyPr/>
          <a:lstStyle/>
          <a:p>
            <a:r>
              <a:rPr lang="en-US" dirty="0"/>
              <a:t>Receiver Side Code (Contd.)</a:t>
            </a:r>
            <a:endParaRPr lang="en-IN" dirty="0"/>
          </a:p>
        </p:txBody>
      </p:sp>
      <p:sp>
        <p:nvSpPr>
          <p:cNvPr id="4" name="Slide Number Placeholder 3">
            <a:extLst>
              <a:ext uri="{FF2B5EF4-FFF2-40B4-BE49-F238E27FC236}">
                <a16:creationId xmlns:a16="http://schemas.microsoft.com/office/drawing/2014/main" id="{A966B6DF-CA4E-206A-F017-B299F5F6C488}"/>
              </a:ext>
            </a:extLst>
          </p:cNvPr>
          <p:cNvSpPr>
            <a:spLocks noGrp="1"/>
          </p:cNvSpPr>
          <p:nvPr>
            <p:ph type="sldNum" sz="quarter" idx="12"/>
          </p:nvPr>
        </p:nvSpPr>
        <p:spPr/>
        <p:txBody>
          <a:bodyPr/>
          <a:lstStyle/>
          <a:p>
            <a:fld id="{592B932E-453C-43E9-9683-166E224458DF}" type="slidenum">
              <a:rPr lang="en-IN" smtClean="0"/>
              <a:t>51</a:t>
            </a:fld>
            <a:endParaRPr lang="en-IN"/>
          </a:p>
        </p:txBody>
      </p:sp>
      <p:pic>
        <p:nvPicPr>
          <p:cNvPr id="5" name="Picture 4">
            <a:extLst>
              <a:ext uri="{FF2B5EF4-FFF2-40B4-BE49-F238E27FC236}">
                <a16:creationId xmlns:a16="http://schemas.microsoft.com/office/drawing/2014/main" id="{83275408-7696-A92A-710A-471E83F25D8F}"/>
              </a:ext>
            </a:extLst>
          </p:cNvPr>
          <p:cNvPicPr>
            <a:picLocks noChangeAspect="1"/>
          </p:cNvPicPr>
          <p:nvPr/>
        </p:nvPicPr>
        <p:blipFill>
          <a:blip r:embed="rId2"/>
          <a:stretch>
            <a:fillRect/>
          </a:stretch>
        </p:blipFill>
        <p:spPr>
          <a:xfrm>
            <a:off x="1119406" y="1795911"/>
            <a:ext cx="4366260" cy="4233640"/>
          </a:xfrm>
          <a:prstGeom prst="rect">
            <a:avLst/>
          </a:prstGeom>
        </p:spPr>
      </p:pic>
      <p:sp>
        <p:nvSpPr>
          <p:cNvPr id="6" name="Rectangle 1">
            <a:extLst>
              <a:ext uri="{FF2B5EF4-FFF2-40B4-BE49-F238E27FC236}">
                <a16:creationId xmlns:a16="http://schemas.microsoft.com/office/drawing/2014/main" id="{FE4EC69D-B7B0-52BC-B25A-9393EADABDE9}"/>
              </a:ext>
            </a:extLst>
          </p:cNvPr>
          <p:cNvSpPr>
            <a:spLocks noChangeArrowheads="1"/>
          </p:cNvSpPr>
          <p:nvPr/>
        </p:nvSpPr>
        <p:spPr bwMode="auto">
          <a:xfrm>
            <a:off x="5485666" y="2377534"/>
            <a:ext cx="6388768"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function </a:t>
            </a:r>
            <a:r>
              <a:rPr kumimoji="0" lang="en-US" altLang="en-US" sz="1600" b="0" i="0" u="none" strike="noStrike" cap="none" normalizeH="0" baseline="0" dirty="0" err="1">
                <a:ln>
                  <a:noFill/>
                </a:ln>
                <a:solidFill>
                  <a:schemeClr val="tx1"/>
                </a:solidFill>
                <a:effectLst/>
                <a:latin typeface="Arial Unicode MS"/>
              </a:rPr>
              <a:t>runInference</a:t>
            </a:r>
            <a:r>
              <a:rPr kumimoji="0" lang="en-US" altLang="en-US" sz="1600" b="0" i="0" u="none" strike="noStrike" cap="none" normalizeH="0" baseline="0" dirty="0">
                <a:ln>
                  <a:noFill/>
                </a:ln>
                <a:solidFill>
                  <a:schemeClr val="tx1"/>
                </a:solidFill>
                <a:effectLst/>
              </a:rPr>
              <a:t> takes in an array of 8 raw input values and prepares them for a machine learning model.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First, it normalizes each input using </a:t>
            </a:r>
            <a:r>
              <a:rPr kumimoji="0" lang="en-US" altLang="en-US" sz="1600" b="0" i="0" u="none" strike="noStrike" cap="none" normalizeH="0" baseline="0" dirty="0" err="1">
                <a:ln>
                  <a:noFill/>
                </a:ln>
                <a:solidFill>
                  <a:schemeClr val="tx1"/>
                </a:solidFill>
                <a:effectLst/>
                <a:latin typeface="Arial Unicode MS"/>
              </a:rPr>
              <a:t>feature_mean</a:t>
            </a:r>
            <a:r>
              <a:rPr kumimoji="0" lang="en-US" altLang="en-US" sz="1600" b="0" i="0" u="none" strike="noStrike" cap="none" normalizeH="0" baseline="0" dirty="0">
                <a:ln>
                  <a:noFill/>
                </a:ln>
                <a:solidFill>
                  <a:schemeClr val="tx1"/>
                </a:solidFill>
                <a:effectLst/>
              </a:rPr>
              <a:t> and </a:t>
            </a:r>
            <a:r>
              <a:rPr kumimoji="0" lang="en-US" altLang="en-US" sz="1600" b="0" i="0" u="none" strike="noStrike" cap="none" normalizeH="0" baseline="0" dirty="0" err="1">
                <a:ln>
                  <a:noFill/>
                </a:ln>
                <a:solidFill>
                  <a:schemeClr val="tx1"/>
                </a:solidFill>
                <a:effectLst/>
                <a:latin typeface="Arial Unicode MS"/>
              </a:rPr>
              <a:t>feature_scale</a:t>
            </a:r>
            <a:r>
              <a:rPr kumimoji="0" lang="en-US" altLang="en-US" sz="1600" b="0" i="0" u="none" strike="noStrike" cap="none" normalizeH="0" baseline="0" dirty="0">
                <a:ln>
                  <a:noFill/>
                </a:ln>
                <a:solidFill>
                  <a:schemeClr val="tx1"/>
                </a:solidFill>
                <a:effectLst/>
              </a:rPr>
              <a:t> so the data matches the model’s training conditions.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Then it calls </a:t>
            </a:r>
            <a:r>
              <a:rPr kumimoji="0" lang="en-US" altLang="en-US" sz="1600" b="0" i="0" u="none" strike="noStrike" cap="none" normalizeH="0" baseline="0" dirty="0" err="1">
                <a:ln>
                  <a:noFill/>
                </a:ln>
                <a:solidFill>
                  <a:schemeClr val="tx1"/>
                </a:solidFill>
                <a:effectLst/>
                <a:latin typeface="Arial Unicode MS"/>
              </a:rPr>
              <a:t>ml.predict</a:t>
            </a:r>
            <a:r>
              <a:rPr kumimoji="0" lang="en-US" altLang="en-US" sz="1600" b="0" i="0" u="none" strike="noStrike" cap="none" normalizeH="0" baseline="0" dirty="0">
                <a:ln>
                  <a:noFill/>
                </a:ln>
                <a:solidFill>
                  <a:schemeClr val="tx1"/>
                </a:solidFill>
                <a:effectLst/>
                <a:latin typeface="Arial Unicode MS"/>
              </a:rPr>
              <a:t>(input)</a:t>
            </a:r>
            <a:r>
              <a:rPr kumimoji="0" lang="en-US" altLang="en-US" sz="1600" b="0" i="0" u="none" strike="noStrike" cap="none" normalizeH="0" baseline="0" dirty="0">
                <a:ln>
                  <a:noFill/>
                </a:ln>
                <a:solidFill>
                  <a:schemeClr val="tx1"/>
                </a:solidFill>
                <a:effectLst/>
              </a:rPr>
              <a:t> to run inference;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if prediction fails, it prints the error and exits. If successful, it prints all model output values (looping through </a:t>
            </a:r>
            <a:r>
              <a:rPr kumimoji="0" lang="en-US" altLang="en-US" sz="1600" b="0" i="0" u="none" strike="noStrike" cap="none" normalizeH="0" baseline="0" dirty="0">
                <a:ln>
                  <a:noFill/>
                </a:ln>
                <a:solidFill>
                  <a:schemeClr val="tx1"/>
                </a:solidFill>
                <a:effectLst/>
                <a:latin typeface="Arial Unicode MS"/>
              </a:rPr>
              <a:t>NUMBER_OF_OUTPUTS</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Next, it gets the most likely class index from </a:t>
            </a:r>
            <a:r>
              <a:rPr kumimoji="0" lang="en-US" altLang="en-US" sz="1600" b="0" i="0" u="none" strike="noStrike" cap="none" normalizeH="0" baseline="0" dirty="0" err="1">
                <a:ln>
                  <a:noFill/>
                </a:ln>
                <a:solidFill>
                  <a:schemeClr val="tx1"/>
                </a:solidFill>
                <a:effectLst/>
                <a:latin typeface="Arial Unicode MS"/>
              </a:rPr>
              <a:t>ml.classification</a:t>
            </a:r>
            <a:r>
              <a:rPr kumimoji="0" lang="en-US" altLang="en-US" sz="1600" b="0" i="0" u="none" strike="noStrike" cap="none" normalizeH="0" baseline="0" dirty="0">
                <a:ln>
                  <a:noFill/>
                </a:ln>
                <a:solidFill>
                  <a:schemeClr val="tx1"/>
                </a:solidFill>
                <a:effectLst/>
              </a:rPr>
              <a:t>, maps it to a label using </a:t>
            </a:r>
            <a:r>
              <a:rPr kumimoji="0" lang="en-US" altLang="en-US" sz="1600" b="0" i="0" u="none" strike="noStrike" cap="none" normalizeH="0" baseline="0" dirty="0" err="1">
                <a:ln>
                  <a:noFill/>
                </a:ln>
                <a:solidFill>
                  <a:schemeClr val="tx1"/>
                </a:solidFill>
                <a:effectLst/>
                <a:latin typeface="Arial Unicode MS"/>
              </a:rPr>
              <a:t>label_mapping</a:t>
            </a:r>
            <a:r>
              <a:rPr kumimoji="0" lang="en-US" altLang="en-US" sz="1600" b="0" i="0" u="none" strike="noStrike" cap="none" normalizeH="0" baseline="0" dirty="0">
                <a:ln>
                  <a:noFill/>
                </a:ln>
                <a:solidFill>
                  <a:schemeClr val="tx1"/>
                </a:solidFill>
                <a:effectLst/>
              </a:rPr>
              <a:t>, and prints the predicted label.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Finally, it calls </a:t>
            </a:r>
            <a:r>
              <a:rPr kumimoji="0" lang="en-US" altLang="en-US" sz="1600" b="0" i="0" u="none" strike="noStrike" cap="none" normalizeH="0" baseline="0" dirty="0" err="1">
                <a:ln>
                  <a:noFill/>
                </a:ln>
                <a:solidFill>
                  <a:schemeClr val="tx1"/>
                </a:solidFill>
                <a:effectLst/>
                <a:latin typeface="Arial Unicode MS"/>
              </a:rPr>
              <a:t>performGesture</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predicted_label</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to trigger some action based on that prediction.</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7069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FD6A6-89B0-065E-4F8A-20E0B3B85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0E17B-A9D0-8ED8-46D4-0AC749938EAC}"/>
              </a:ext>
            </a:extLst>
          </p:cNvPr>
          <p:cNvSpPr>
            <a:spLocks noGrp="1"/>
          </p:cNvSpPr>
          <p:nvPr>
            <p:ph type="title"/>
          </p:nvPr>
        </p:nvSpPr>
        <p:spPr/>
        <p:txBody>
          <a:bodyPr/>
          <a:lstStyle/>
          <a:p>
            <a:r>
              <a:rPr lang="en-US" dirty="0"/>
              <a:t>Receiver Side Code (Contd.)</a:t>
            </a:r>
            <a:endParaRPr lang="en-IN" dirty="0"/>
          </a:p>
        </p:txBody>
      </p:sp>
      <p:sp>
        <p:nvSpPr>
          <p:cNvPr id="4" name="Slide Number Placeholder 3">
            <a:extLst>
              <a:ext uri="{FF2B5EF4-FFF2-40B4-BE49-F238E27FC236}">
                <a16:creationId xmlns:a16="http://schemas.microsoft.com/office/drawing/2014/main" id="{059C0F29-546A-4E7B-BD9E-D9EA50B7FE16}"/>
              </a:ext>
            </a:extLst>
          </p:cNvPr>
          <p:cNvSpPr>
            <a:spLocks noGrp="1"/>
          </p:cNvSpPr>
          <p:nvPr>
            <p:ph type="sldNum" sz="quarter" idx="12"/>
          </p:nvPr>
        </p:nvSpPr>
        <p:spPr/>
        <p:txBody>
          <a:bodyPr/>
          <a:lstStyle/>
          <a:p>
            <a:fld id="{592B932E-453C-43E9-9683-166E224458DF}" type="slidenum">
              <a:rPr lang="en-IN" smtClean="0"/>
              <a:t>52</a:t>
            </a:fld>
            <a:endParaRPr lang="en-IN"/>
          </a:p>
        </p:txBody>
      </p:sp>
      <p:pic>
        <p:nvPicPr>
          <p:cNvPr id="7" name="Picture 6">
            <a:extLst>
              <a:ext uri="{FF2B5EF4-FFF2-40B4-BE49-F238E27FC236}">
                <a16:creationId xmlns:a16="http://schemas.microsoft.com/office/drawing/2014/main" id="{27D30588-58A9-0E25-FC62-01EB2D82BD9D}"/>
              </a:ext>
            </a:extLst>
          </p:cNvPr>
          <p:cNvPicPr>
            <a:picLocks noChangeAspect="1"/>
          </p:cNvPicPr>
          <p:nvPr/>
        </p:nvPicPr>
        <p:blipFill>
          <a:blip r:embed="rId2"/>
          <a:stretch>
            <a:fillRect/>
          </a:stretch>
        </p:blipFill>
        <p:spPr>
          <a:xfrm>
            <a:off x="1194241" y="1834903"/>
            <a:ext cx="7901633" cy="2953958"/>
          </a:xfrm>
          <a:prstGeom prst="rect">
            <a:avLst/>
          </a:prstGeom>
        </p:spPr>
      </p:pic>
      <p:sp>
        <p:nvSpPr>
          <p:cNvPr id="8" name="TextBox 7">
            <a:extLst>
              <a:ext uri="{FF2B5EF4-FFF2-40B4-BE49-F238E27FC236}">
                <a16:creationId xmlns:a16="http://schemas.microsoft.com/office/drawing/2014/main" id="{4E1239E5-3577-F57D-22D4-421A64ACAD8D}"/>
              </a:ext>
            </a:extLst>
          </p:cNvPr>
          <p:cNvSpPr txBox="1"/>
          <p:nvPr/>
        </p:nvSpPr>
        <p:spPr>
          <a:xfrm>
            <a:off x="3344780" y="4933076"/>
            <a:ext cx="383290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Data Receiving Logic using ESP-Now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2338E39-5C0C-4680-673A-51FAE7789590}"/>
              </a:ext>
            </a:extLst>
          </p:cNvPr>
          <p:cNvSpPr txBox="1"/>
          <p:nvPr/>
        </p:nvSpPr>
        <p:spPr>
          <a:xfrm>
            <a:off x="3814011" y="5835316"/>
            <a:ext cx="8284447" cy="369332"/>
          </a:xfrm>
          <a:prstGeom prst="rect">
            <a:avLst/>
          </a:prstGeom>
          <a:noFill/>
        </p:spPr>
        <p:txBody>
          <a:bodyPr wrap="none" rtlCol="0">
            <a:spAutoFit/>
          </a:bodyPr>
          <a:lstStyle/>
          <a:p>
            <a:r>
              <a:rPr lang="en-US" dirty="0"/>
              <a:t>The rest of the code is the same as we would write for controlling the hand module</a:t>
            </a:r>
            <a:endParaRPr lang="en-IN" dirty="0"/>
          </a:p>
        </p:txBody>
      </p:sp>
    </p:spTree>
    <p:extLst>
      <p:ext uri="{BB962C8B-B14F-4D97-AF65-F5344CB8AC3E}">
        <p14:creationId xmlns:p14="http://schemas.microsoft.com/office/powerpoint/2010/main" val="35311634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03733A-4EAB-6F57-B7F2-AC6C9337A1DF}"/>
              </a:ext>
            </a:extLst>
          </p:cNvPr>
          <p:cNvSpPr>
            <a:spLocks noGrp="1"/>
          </p:cNvSpPr>
          <p:nvPr>
            <p:ph type="sldNum" sz="quarter" idx="12"/>
          </p:nvPr>
        </p:nvSpPr>
        <p:spPr/>
        <p:txBody>
          <a:bodyPr/>
          <a:lstStyle/>
          <a:p>
            <a:fld id="{592B932E-453C-43E9-9683-166E224458DF}" type="slidenum">
              <a:rPr lang="en-IN" smtClean="0"/>
              <a:t>53</a:t>
            </a:fld>
            <a:endParaRPr lang="en-IN" dirty="0"/>
          </a:p>
        </p:txBody>
      </p:sp>
      <p:sp>
        <p:nvSpPr>
          <p:cNvPr id="7" name="TextBox 6">
            <a:extLst>
              <a:ext uri="{FF2B5EF4-FFF2-40B4-BE49-F238E27FC236}">
                <a16:creationId xmlns:a16="http://schemas.microsoft.com/office/drawing/2014/main" id="{625005E7-EDFA-75EE-54E0-6F1A0019A6DC}"/>
              </a:ext>
            </a:extLst>
          </p:cNvPr>
          <p:cNvSpPr txBox="1"/>
          <p:nvPr/>
        </p:nvSpPr>
        <p:spPr>
          <a:xfrm>
            <a:off x="4657080" y="1908810"/>
            <a:ext cx="2877839" cy="707886"/>
          </a:xfrm>
          <a:prstGeom prst="rect">
            <a:avLst/>
          </a:prstGeom>
          <a:noFill/>
        </p:spPr>
        <p:txBody>
          <a:bodyPr wrap="none" rtlCol="0">
            <a:spAutoFit/>
          </a:bodyPr>
          <a:lstStyle/>
          <a:p>
            <a:r>
              <a:rPr lang="en-US" sz="4000" dirty="0">
                <a:latin typeface="Times New Roman" panose="02020603050405020304" pitchFamily="18" charset="0"/>
                <a:cs typeface="Times New Roman" panose="02020603050405020304" pitchFamily="18" charset="0"/>
              </a:rPr>
              <a:t>Thank You :)</a:t>
            </a:r>
            <a:endParaRPr lang="en-IN" sz="4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C0FBB64-199E-D15C-34D1-84A6642AB660}"/>
              </a:ext>
            </a:extLst>
          </p:cNvPr>
          <p:cNvSpPr txBox="1"/>
          <p:nvPr/>
        </p:nvSpPr>
        <p:spPr>
          <a:xfrm>
            <a:off x="2989539" y="2850416"/>
            <a:ext cx="6212918" cy="1631216"/>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Kushagra Agrawal</a:t>
            </a:r>
          </a:p>
          <a:p>
            <a:pPr algn="ctr"/>
            <a:r>
              <a:rPr lang="en-IN" sz="2000" dirty="0">
                <a:latin typeface="Times New Roman" panose="02020603050405020304" pitchFamily="18" charset="0"/>
                <a:cs typeface="Times New Roman" panose="02020603050405020304" pitchFamily="18" charset="0"/>
                <a:hlinkClick r:id="rId2"/>
              </a:rPr>
              <a:t>https://linktr.ee/kush4409</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hlinkClick r:id="rId3"/>
              </a:rPr>
              <a:t>kush4409@gmail.com</a:t>
            </a:r>
            <a:r>
              <a:rPr lang="en-US"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hlinkClick r:id="rId4"/>
              </a:rPr>
              <a:t>kushagra.agrawal@ieee.org</a:t>
            </a: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hlinkClick r:id="rId5"/>
              </a:rPr>
              <a:t>https://www.linkedin.com/in/kushagra-agrawal-51a3121ab</a:t>
            </a:r>
            <a:endParaRPr lang="en-US" sz="2000"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hlinkClick r:id="rId6" action="ppaction://hlinkfile"/>
              </a:rPr>
              <a:t>+91 87802 26117</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62E1702-EBDC-34D4-6E0C-7903C87B896B}"/>
              </a:ext>
            </a:extLst>
          </p:cNvPr>
          <p:cNvSpPr txBox="1"/>
          <p:nvPr/>
        </p:nvSpPr>
        <p:spPr>
          <a:xfrm>
            <a:off x="4038383" y="4530686"/>
            <a:ext cx="411522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Drop In for any queries (Or Just to say Hi)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4534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1269</TotalTime>
  <Words>3935</Words>
  <Application>Microsoft Office PowerPoint</Application>
  <PresentationFormat>Widescreen</PresentationFormat>
  <Paragraphs>457</Paragraphs>
  <Slides>53</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53</vt:i4>
      </vt:variant>
    </vt:vector>
  </HeadingPairs>
  <TitlesOfParts>
    <vt:vector size="65" baseType="lpstr">
      <vt:lpstr>Aptos</vt:lpstr>
      <vt:lpstr>Aptos Display</vt:lpstr>
      <vt:lpstr>Arial</vt:lpstr>
      <vt:lpstr>Arial Unicode MS</vt:lpstr>
      <vt:lpstr>Biome</vt:lpstr>
      <vt:lpstr>Calibri</vt:lpstr>
      <vt:lpstr>Consolas</vt:lpstr>
      <vt:lpstr>Courier New</vt:lpstr>
      <vt:lpstr>Menlo</vt:lpstr>
      <vt:lpstr>Times New Roman</vt:lpstr>
      <vt:lpstr>Wingdings</vt:lpstr>
      <vt:lpstr>Office Theme</vt:lpstr>
      <vt:lpstr>Weekly Progress Report 18-22 August 2025</vt:lpstr>
      <vt:lpstr>MATLAB + DAQ Data Acquisition</vt:lpstr>
      <vt:lpstr>MATLAB + DAQ Data Acquisition</vt:lpstr>
      <vt:lpstr>MATLAB Script Overview</vt:lpstr>
      <vt:lpstr>MATLAB Script Overview</vt:lpstr>
      <vt:lpstr>MATLAB Script Overview</vt:lpstr>
      <vt:lpstr>MATLAB Script Overview</vt:lpstr>
      <vt:lpstr>MATLAB Script Overview</vt:lpstr>
      <vt:lpstr>MATLAB Script Overview</vt:lpstr>
      <vt:lpstr>MATLAB Script Overview</vt:lpstr>
      <vt:lpstr>MATLAB Script Overview</vt:lpstr>
      <vt:lpstr>MATLAB Script Overview</vt:lpstr>
      <vt:lpstr>Saved Dataset</vt:lpstr>
      <vt:lpstr>MATLAB + DAQ Data Acquisition</vt:lpstr>
      <vt:lpstr>ESP-Now &amp; Tiny ML Tutorial</vt:lpstr>
      <vt:lpstr>Requirements</vt:lpstr>
      <vt:lpstr>Downloading ESP-32 Boards</vt:lpstr>
      <vt:lpstr>Downloading ESPTool</vt:lpstr>
      <vt:lpstr>Reading MAC Address of ESP-32 Device</vt:lpstr>
      <vt:lpstr>Debug Tip</vt:lpstr>
      <vt:lpstr>Coding 😵</vt:lpstr>
      <vt:lpstr>Some Useful Functions</vt:lpstr>
      <vt:lpstr>Simple Program Analysis – Sender Side</vt:lpstr>
      <vt:lpstr>Simple Program Analysis – Sender Side (Contd.)</vt:lpstr>
      <vt:lpstr>Simple Program Analysis – Sender Side (Contd.)</vt:lpstr>
      <vt:lpstr>Simple Program Analysis – Sender Side (Contd.)</vt:lpstr>
      <vt:lpstr>Simple Program Analysis – Sender Side (Contd.)</vt:lpstr>
      <vt:lpstr>Simple Program Analysis – Reciever Side</vt:lpstr>
      <vt:lpstr>TinyML and TFLite</vt:lpstr>
      <vt:lpstr>How to setup the modified libraries</vt:lpstr>
      <vt:lpstr>PowerPoint Presentation</vt:lpstr>
      <vt:lpstr>How to setup the modified libraries (Contd.)</vt:lpstr>
      <vt:lpstr>[IMP] Restrictions for TFLite</vt:lpstr>
      <vt:lpstr>Example : Implementing MLP on ESP-32</vt:lpstr>
      <vt:lpstr>Implementing MLP on ESP-32 (Contd.)</vt:lpstr>
      <vt:lpstr>Implementing MLP on ESP-32 (Contd.)</vt:lpstr>
      <vt:lpstr>Implementing MLP on ESP-32 (Contd.)</vt:lpstr>
      <vt:lpstr>Implementing MLP on ESP-32 (Contd.)</vt:lpstr>
      <vt:lpstr>Implementing MLP on ESP-32 (Contd.)</vt:lpstr>
      <vt:lpstr>Implementing MLP on ESP-32 (Contd.)</vt:lpstr>
      <vt:lpstr>Implementing MLP on ESP-32 (Contd.)</vt:lpstr>
      <vt:lpstr>Example Implementation</vt:lpstr>
      <vt:lpstr>Example – ESP Now + ML Inference </vt:lpstr>
      <vt:lpstr>Sender Side Code</vt:lpstr>
      <vt:lpstr>Sender Side Code (Contd.)</vt:lpstr>
      <vt:lpstr>Sender Side Code (Contd.)</vt:lpstr>
      <vt:lpstr>Sender Side Code (Contd.)</vt:lpstr>
      <vt:lpstr>Sender Side Code (Contd.)</vt:lpstr>
      <vt:lpstr>Receiver Side Code</vt:lpstr>
      <vt:lpstr>Receiver Side Code (Contd.)</vt:lpstr>
      <vt:lpstr>Receiver Side Code (Contd.)</vt:lpstr>
      <vt:lpstr>Receiver Side Code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Reviewer</dc:creator>
  <cp:lastModifiedBy>Reviewer</cp:lastModifiedBy>
  <cp:revision>11</cp:revision>
  <dcterms:created xsi:type="dcterms:W3CDTF">2025-08-08T03:02:42Z</dcterms:created>
  <dcterms:modified xsi:type="dcterms:W3CDTF">2025-08-25T16:25:09Z</dcterms:modified>
</cp:coreProperties>
</file>